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x Coveney" initials="MC" lastIdx="2" clrIdx="0">
    <p:extLst>
      <p:ext uri="{19B8F6BF-5375-455C-9EA6-DF929625EA0E}">
        <p15:presenceInfo xmlns:p15="http://schemas.microsoft.com/office/powerpoint/2012/main" userId="S::56237mco@eur.nl::e4ac744c-8a61-4574-8224-407fce1b6b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4-30T11:26:18.808" idx="1">
    <p:pos x="5397" y="1599"/>
    <p:text>Would be great if these rows could be revealed one block at a time.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4-30T11:26:40.533" idx="2">
    <p:pos x="4468" y="2095"/>
    <p:text>Would be great if these rows could be revealed one block at a time.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605B4-7D11-4A23-9EF1-7DD2CBF706AC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7BF57-BE9E-4E90-B31D-346D7AAFD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6172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7BF57-BE9E-4E90-B31D-346D7AAFDEC0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9923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7BF57-BE9E-4E90-B31D-346D7AAFDEC0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315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5C3D-DD3B-26EB-0198-9208FB196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6FBF2-9B3D-3156-B319-D600BFB9A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D40A9-1890-2F43-E206-8DFC5E48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39135-F0B2-24C4-3813-6048B78F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726E-93D8-0EA6-0015-6444E4E7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512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F1BB-0E9E-535F-2CF4-BE2BB7E5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6635F-7210-36E8-84D9-1B6F5EF15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A20B-D629-1A1E-548F-4514509A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8DDF8-87DF-0F2E-BBF9-24C76CA0C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432E3-E802-063A-6343-3F2AA8AD0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8767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A4AB-8A71-C629-3366-D063F5EFB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BF3D4-B0B1-3ED4-9F17-FD4B480EC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3E42E-5266-4591-A92A-022C5F306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3303D-B025-8AC5-4C72-5ECE12AE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F8E3-FAC7-8183-7BE8-84525086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789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2040-1BBE-F9A8-0A03-6D5B59C6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1001-7678-ED00-5286-902BC9212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1BDAF-AC77-474F-B950-9A45733FD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5DE77-6684-3F6B-BF75-FE132635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7E78A-7ACF-891C-CDC1-818A3D2D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A2649-402E-C2A2-7BB4-E01DEAAA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6718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D228-A8FF-E305-3F3B-50C68843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A1497-B11E-60DB-FF85-4FCFB1576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1C65C-19C7-B7AF-BEC3-B3781DBCB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3F43C3-0B3E-9F96-288C-4CBAA4E6C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EED11-19B1-2AF3-2F37-96776CF4E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DB701F-F622-2E80-1AE6-9C153ED0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133A9-0628-DB89-2CBD-F00BDACC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426B1-6A10-0B8A-7AD3-C8898440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672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1C593-FFB5-1A4B-B3B7-FD277C1D8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F321D-78BB-70B8-2974-8BF74490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DA8A3-F9B3-7571-7F54-7A5DC9555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6F562-CDBD-6F7D-3F6F-05646A18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285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DE665-ED7E-10F2-3C8A-A9CB6F4CE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4BC82-0869-5DEC-5592-F80158DB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66924-D27B-BCA8-97CF-9745DADE2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6191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5338A-0253-A48C-48EE-697F2E644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B27BE-82CE-1111-77E6-5E25BF35E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E177C-4C76-60BD-35A2-37C1AE1A2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11393-7D0D-CF6E-F06D-1C041DF9B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89B9A-62F4-8D63-7CDC-AE2BDC92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368CF-EE11-890B-1279-5C48826B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404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301A-EE12-E81B-F59C-D949A98B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E6406-2ED9-5CB7-6973-AE3E45FDA3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7638B-D745-B757-EE62-AD02F096E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3966A-4133-1012-FD08-FF3056E1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66E3B-6746-4C09-7D1B-B9C00B276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13E98-0F27-88EB-73AE-ED7658C9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954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ECC46-8185-B6B2-A97B-25FE4B019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6B4B0-C64D-D832-D06D-D1960D522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182BD-8C98-001E-3B7B-D30902E0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A3278-713A-6330-E78B-EF400040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E6AAA-2B25-6A23-FBED-A1F2BF54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1061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EB60B-7221-BB7B-5C4E-26FF2710D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F6956-0430-52A2-C093-8862AACB4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350FC-0DAF-D77C-7DE1-6484A407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3B4EF-0EB2-26C9-B670-76283212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1CA5-35FF-807F-5198-F68AD39E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764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0AE07-AF93-FD66-54B8-C11812CE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D6B12-A534-7F6B-1827-F054DB560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D505B-34AE-F6B6-A777-A097E84EC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65E6-5766-4FB5-BFCD-CF4C567FF418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A18B7-94C7-26C4-A244-3B4753C71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31070-9483-04CB-DA22-DEAFE78B7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FEDDE-6C7E-47E0-A184-5D360D4333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025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716F6-6311-2386-949A-DF56A19DA5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Principal-agent solutions and risk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740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2473-6934-2130-2FF9-A11213E0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 and risk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C0179-B5D0-6902-FFAC-005CB5DE8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don’t all jobs use performance-based incentives (PBIs)?</a:t>
            </a:r>
          </a:p>
          <a:p>
            <a:pPr lvl="1"/>
            <a:r>
              <a:rPr lang="en-US" dirty="0"/>
              <a:t>One barrier: risk</a:t>
            </a:r>
          </a:p>
          <a:p>
            <a:pPr lvl="1"/>
            <a:endParaRPr lang="en-US" dirty="0"/>
          </a:p>
          <a:p>
            <a:r>
              <a:rPr lang="en-US" dirty="0"/>
              <a:t>Attitudes towards risk</a:t>
            </a:r>
          </a:p>
          <a:p>
            <a:pPr lvl="1"/>
            <a:r>
              <a:rPr lang="en-US" dirty="0"/>
              <a:t>Individuals tend to be risk averse</a:t>
            </a:r>
          </a:p>
          <a:p>
            <a:pPr lvl="1"/>
            <a:r>
              <a:rPr lang="en-US" dirty="0"/>
              <a:t>Must be paid a “risk premium”</a:t>
            </a:r>
            <a:br>
              <a:rPr lang="en-US" dirty="0"/>
            </a:br>
            <a:endParaRPr lang="en-US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260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5911-F793-19D4-320F-D073E389B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 and risk</a:t>
            </a:r>
            <a:endParaRPr lang="nl-NL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FA0AA7-816E-3BD3-8F2A-E0323D3EE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244460"/>
              </p:ext>
            </p:extLst>
          </p:nvPr>
        </p:nvGraphicFramePr>
        <p:xfrm>
          <a:off x="1341189" y="1848564"/>
          <a:ext cx="8397615" cy="3963512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2671518">
                  <a:extLst>
                    <a:ext uri="{9D8B030D-6E8A-4147-A177-3AD203B41FA5}">
                      <a16:colId xmlns:a16="http://schemas.microsoft.com/office/drawing/2014/main" val="2728552529"/>
                    </a:ext>
                  </a:extLst>
                </a:gridCol>
                <a:gridCol w="1580269">
                  <a:extLst>
                    <a:ext uri="{9D8B030D-6E8A-4147-A177-3AD203B41FA5}">
                      <a16:colId xmlns:a16="http://schemas.microsoft.com/office/drawing/2014/main" val="1754360618"/>
                    </a:ext>
                  </a:extLst>
                </a:gridCol>
                <a:gridCol w="1731957">
                  <a:extLst>
                    <a:ext uri="{9D8B030D-6E8A-4147-A177-3AD203B41FA5}">
                      <a16:colId xmlns:a16="http://schemas.microsoft.com/office/drawing/2014/main" val="1877783005"/>
                    </a:ext>
                  </a:extLst>
                </a:gridCol>
                <a:gridCol w="2413871">
                  <a:extLst>
                    <a:ext uri="{9D8B030D-6E8A-4147-A177-3AD203B41FA5}">
                      <a16:colId xmlns:a16="http://schemas.microsoft.com/office/drawing/2014/main" val="1620798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b="1" u="none" strike="noStrike" dirty="0">
                          <a:effectLst/>
                        </a:rPr>
                        <a:t>Safe Job </a:t>
                      </a:r>
                      <a:r>
                        <a:rPr lang="nl-NL" sz="1400" b="1" u="none" strike="noStrike" dirty="0" err="1">
                          <a:effectLst/>
                        </a:rPr>
                        <a:t>Pays</a:t>
                      </a:r>
                      <a:endParaRPr lang="nl-NL" sz="1400" b="1" u="none" strike="noStrike" dirty="0">
                        <a:effectLst/>
                      </a:endParaRPr>
                    </a:p>
                    <a:p>
                      <a:pPr algn="ctr" fontAlgn="b"/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nl-NL" sz="1400" b="1" u="none" strike="noStrike" dirty="0" err="1">
                          <a:effectLst/>
                        </a:rPr>
                        <a:t>Risky</a:t>
                      </a:r>
                      <a:r>
                        <a:rPr lang="nl-NL" sz="1400" b="1" u="none" strike="noStrike" dirty="0">
                          <a:effectLst/>
                        </a:rPr>
                        <a:t> Job </a:t>
                      </a:r>
                      <a:r>
                        <a:rPr lang="nl-NL" sz="1400" b="1" u="none" strike="noStrike" dirty="0" err="1">
                          <a:effectLst/>
                        </a:rPr>
                        <a:t>Pays</a:t>
                      </a:r>
                      <a:endParaRPr lang="nl-NL" sz="1400" b="1" u="none" strike="noStrike" dirty="0">
                        <a:effectLst/>
                      </a:endParaRPr>
                    </a:p>
                    <a:p>
                      <a:pPr algn="ctr" fontAlgn="b"/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u="none" strike="noStrike" noProof="0" dirty="0">
                          <a:effectLst/>
                        </a:rPr>
                        <a:t>Graduate's</a:t>
                      </a:r>
                      <a:r>
                        <a:rPr lang="nl-NL" sz="1400" b="1" u="none" strike="noStrike" dirty="0">
                          <a:effectLst/>
                        </a:rPr>
                        <a:t> </a:t>
                      </a:r>
                      <a:r>
                        <a:rPr lang="en-AU" sz="1400" b="1" u="none" strike="noStrike" noProof="0" dirty="0">
                          <a:effectLst/>
                        </a:rPr>
                        <a:t>Preference</a:t>
                      </a:r>
                    </a:p>
                    <a:p>
                      <a:pPr algn="ctr" fontAlgn="b"/>
                      <a:endParaRPr lang="en-AU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10843683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€ 100,000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€ 40,000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 dirty="0" err="1">
                          <a:effectLst/>
                        </a:rPr>
                        <a:t>with</a:t>
                      </a:r>
                      <a:r>
                        <a:rPr lang="nl-NL" sz="1400" u="none" strike="noStrike" dirty="0">
                          <a:effectLst/>
                        </a:rPr>
                        <a:t> </a:t>
                      </a:r>
                      <a:r>
                        <a:rPr lang="nl-NL" sz="1400" u="none" strike="noStrike" dirty="0" err="1">
                          <a:effectLst/>
                        </a:rPr>
                        <a:t>probability</a:t>
                      </a:r>
                      <a:r>
                        <a:rPr lang="nl-NL" sz="1400" u="none" strike="noStrike" dirty="0">
                          <a:effectLst/>
                        </a:rPr>
                        <a:t> 1/2 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Safe job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8035623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€ 160,000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with probability 1/2 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22135619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776781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€ 99,000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€ 40,000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 dirty="0" err="1">
                          <a:effectLst/>
                        </a:rPr>
                        <a:t>with</a:t>
                      </a:r>
                      <a:r>
                        <a:rPr lang="nl-NL" sz="1400" u="none" strike="noStrike" dirty="0">
                          <a:effectLst/>
                        </a:rPr>
                        <a:t> </a:t>
                      </a:r>
                      <a:r>
                        <a:rPr lang="nl-NL" sz="1400" u="none" strike="noStrike" dirty="0" err="1">
                          <a:effectLst/>
                        </a:rPr>
                        <a:t>probability</a:t>
                      </a:r>
                      <a:r>
                        <a:rPr lang="nl-NL" sz="1400" u="none" strike="noStrike" dirty="0">
                          <a:effectLst/>
                        </a:rPr>
                        <a:t> 1/2 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Safe job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7954312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€ 160,000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with probability 1/2 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61882140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60361138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€ 90,000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€ 40,000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with probability 1/2 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Safe job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77226676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€ 160,000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 dirty="0" err="1">
                          <a:effectLst/>
                        </a:rPr>
                        <a:t>with</a:t>
                      </a:r>
                      <a:r>
                        <a:rPr lang="nl-NL" sz="1400" u="none" strike="noStrike" dirty="0">
                          <a:effectLst/>
                        </a:rPr>
                        <a:t> </a:t>
                      </a:r>
                      <a:r>
                        <a:rPr lang="nl-NL" sz="1400" u="none" strike="noStrike" dirty="0" err="1">
                          <a:effectLst/>
                        </a:rPr>
                        <a:t>probability</a:t>
                      </a:r>
                      <a:r>
                        <a:rPr lang="nl-NL" sz="1400" u="none" strike="noStrike" dirty="0">
                          <a:effectLst/>
                        </a:rPr>
                        <a:t> 1/2 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1803885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7516544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€ 80,000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€ 40,000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>
                          <a:effectLst/>
                        </a:rPr>
                        <a:t>with probability 1/2 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Indifference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0183873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€ 160,000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 dirty="0" err="1">
                          <a:effectLst/>
                        </a:rPr>
                        <a:t>with</a:t>
                      </a:r>
                      <a:r>
                        <a:rPr lang="nl-NL" sz="1400" u="none" strike="noStrike" dirty="0">
                          <a:effectLst/>
                        </a:rPr>
                        <a:t> </a:t>
                      </a:r>
                      <a:r>
                        <a:rPr lang="nl-NL" sz="1400" u="none" strike="noStrike" dirty="0" err="1">
                          <a:effectLst/>
                        </a:rPr>
                        <a:t>probability</a:t>
                      </a:r>
                      <a:r>
                        <a:rPr lang="nl-NL" sz="1400" u="none" strike="noStrike" dirty="0">
                          <a:effectLst/>
                        </a:rPr>
                        <a:t> 1/2 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4226642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20453250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€ 70,000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€ 40,000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 dirty="0" err="1">
                          <a:effectLst/>
                        </a:rPr>
                        <a:t>with</a:t>
                      </a:r>
                      <a:r>
                        <a:rPr lang="nl-NL" sz="1400" u="none" strike="noStrike" dirty="0">
                          <a:effectLst/>
                        </a:rPr>
                        <a:t> </a:t>
                      </a:r>
                      <a:r>
                        <a:rPr lang="nl-NL" sz="1400" u="none" strike="noStrike" dirty="0" err="1">
                          <a:effectLst/>
                        </a:rPr>
                        <a:t>probability</a:t>
                      </a:r>
                      <a:r>
                        <a:rPr lang="nl-NL" sz="1400" u="none" strike="noStrike" dirty="0">
                          <a:effectLst/>
                        </a:rPr>
                        <a:t> 1/2 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 err="1">
                          <a:effectLst/>
                        </a:rPr>
                        <a:t>Risky</a:t>
                      </a:r>
                      <a:r>
                        <a:rPr lang="nl-NL" sz="1400" u="none" strike="noStrike" dirty="0">
                          <a:effectLst/>
                        </a:rPr>
                        <a:t> job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2216202"/>
                  </a:ext>
                </a:extLst>
              </a:tr>
              <a:tr h="238064"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€ 160,000</a:t>
                      </a:r>
                    </a:p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400" u="none" strike="noStrike" dirty="0" err="1">
                          <a:effectLst/>
                        </a:rPr>
                        <a:t>with</a:t>
                      </a:r>
                      <a:r>
                        <a:rPr lang="nl-NL" sz="1400" u="none" strike="noStrike" dirty="0">
                          <a:effectLst/>
                        </a:rPr>
                        <a:t> </a:t>
                      </a:r>
                      <a:r>
                        <a:rPr lang="nl-NL" sz="1400" u="none" strike="noStrike" dirty="0" err="1">
                          <a:effectLst/>
                        </a:rPr>
                        <a:t>probability</a:t>
                      </a:r>
                      <a:r>
                        <a:rPr lang="nl-NL" sz="1400" u="none" strike="noStrike" dirty="0">
                          <a:effectLst/>
                        </a:rPr>
                        <a:t> 1/2 </a:t>
                      </a:r>
                    </a:p>
                    <a:p>
                      <a:pPr algn="l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62439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37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3DA6-DD46-B9B8-2E71-AC810363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 and risk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CE0A64-FDB7-C336-DE62-A1F26C8419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NL" dirty="0"/>
                  <a:t>Quantifying risk attitudes</a:t>
                </a:r>
              </a:p>
              <a:p>
                <a:pPr lvl="1"/>
                <a:r>
                  <a:rPr lang="en-AU" dirty="0"/>
                  <a:t>Certainty</a:t>
                </a:r>
                <a:r>
                  <a:rPr lang="nl-NL" dirty="0"/>
                  <a:t> equivalent (CE): </a:t>
                </a:r>
                <a:r>
                  <a:rPr lang="en-AU" dirty="0"/>
                  <a:t>certain</a:t>
                </a:r>
                <a:r>
                  <a:rPr lang="nl-NL" dirty="0"/>
                  <a:t> </a:t>
                </a:r>
                <a:r>
                  <a:rPr lang="nl-NL" dirty="0" err="1"/>
                  <a:t>amount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</a:t>
                </a:r>
                <a:r>
                  <a:rPr lang="nl-NL" dirty="0" err="1"/>
                  <a:t>makes</a:t>
                </a:r>
                <a:r>
                  <a:rPr lang="nl-NL" dirty="0"/>
                  <a:t> </a:t>
                </a:r>
                <a:r>
                  <a:rPr lang="nl-NL" dirty="0" err="1"/>
                  <a:t>individual</a:t>
                </a:r>
                <a:r>
                  <a:rPr lang="nl-NL" dirty="0"/>
                  <a:t> indifferent </a:t>
                </a:r>
                <a:r>
                  <a:rPr lang="nl-NL" dirty="0" err="1"/>
                  <a:t>between</a:t>
                </a:r>
                <a:r>
                  <a:rPr lang="nl-NL" dirty="0"/>
                  <a:t> </a:t>
                </a:r>
                <a:r>
                  <a:rPr lang="nl-NL" dirty="0" err="1"/>
                  <a:t>taking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risk and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certain</a:t>
                </a:r>
                <a:r>
                  <a:rPr lang="nl-NL" dirty="0"/>
                  <a:t> </a:t>
                </a:r>
                <a:r>
                  <a:rPr lang="nl-NL" dirty="0" err="1"/>
                  <a:t>amount</a:t>
                </a:r>
                <a:endParaRPr lang="nl-NL" dirty="0"/>
              </a:p>
              <a:p>
                <a:pPr lvl="2"/>
                <a:r>
                  <a:rPr lang="nl-NL" dirty="0" err="1"/>
                  <a:t>Previous</a:t>
                </a:r>
                <a:r>
                  <a:rPr lang="nl-NL" dirty="0"/>
                  <a:t> </a:t>
                </a:r>
                <a:r>
                  <a:rPr lang="nl-NL" dirty="0" err="1"/>
                  <a:t>example</a:t>
                </a:r>
                <a:r>
                  <a:rPr lang="nl-NL" dirty="0"/>
                  <a:t>: </a:t>
                </a:r>
                <a:r>
                  <a:rPr lang="nl-NL" sz="2000" u="none" strike="noStrike" dirty="0">
                    <a:effectLst/>
                  </a:rPr>
                  <a:t>€ 80,000</a:t>
                </a:r>
              </a:p>
              <a:p>
                <a:pPr marL="914400" lvl="2" indent="0">
                  <a:buNone/>
                </a:pPr>
                <a:endParaRPr lang="nl-NL" dirty="0"/>
              </a:p>
              <a:p>
                <a:pPr lvl="1"/>
                <a:r>
                  <a:rPr lang="nl-NL" dirty="0"/>
                  <a:t>Risk premium: </a:t>
                </a:r>
                <a:r>
                  <a:rPr lang="nl-NL" dirty="0" err="1"/>
                  <a:t>difference</a:t>
                </a:r>
                <a:r>
                  <a:rPr lang="nl-NL" dirty="0"/>
                  <a:t> </a:t>
                </a:r>
                <a:r>
                  <a:rPr lang="nl-NL" dirty="0" err="1"/>
                  <a:t>between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expected</a:t>
                </a:r>
                <a:r>
                  <a:rPr lang="nl-NL" dirty="0"/>
                  <a:t> </a:t>
                </a:r>
                <a:r>
                  <a:rPr lang="nl-NL" dirty="0" err="1"/>
                  <a:t>value</a:t>
                </a:r>
                <a:r>
                  <a:rPr lang="nl-NL" dirty="0"/>
                  <a:t> of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risky</a:t>
                </a:r>
                <a:r>
                  <a:rPr lang="nl-NL" dirty="0"/>
                  <a:t> prospect and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certainty</a:t>
                </a:r>
                <a:r>
                  <a:rPr lang="nl-NL" dirty="0"/>
                  <a:t> equivalent</a:t>
                </a:r>
              </a:p>
              <a:p>
                <a:pPr lvl="2"/>
                <a:r>
                  <a:rPr lang="nl-NL" dirty="0" err="1"/>
                  <a:t>Previous</a:t>
                </a:r>
                <a:r>
                  <a:rPr lang="nl-NL" dirty="0"/>
                  <a:t> </a:t>
                </a:r>
                <a:r>
                  <a:rPr lang="nl-NL" dirty="0" err="1"/>
                  <a:t>example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0.5∗160,000+0.5∗40,000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−80,000=</m:t>
                    </m:r>
                    <m:r>
                      <m:rPr>
                        <m:nor/>
                      </m:rPr>
                      <a:rPr lang="nl-NL" dirty="0"/>
                      <m:t>€ </m:t>
                    </m:r>
                    <m:r>
                      <m:rPr>
                        <m:nor/>
                      </m:rPr>
                      <a:rPr lang="en-US" b="0" i="0" dirty="0" smtClean="0"/>
                      <m:t>2</m:t>
                    </m:r>
                    <m:r>
                      <m:rPr>
                        <m:nor/>
                      </m:rPr>
                      <a:rPr lang="nl-NL" dirty="0"/>
                      <m:t>0,000</m:t>
                    </m:r>
                  </m:oMath>
                </a14:m>
                <a:endParaRPr lang="nl-NL" dirty="0"/>
              </a:p>
              <a:p>
                <a:pPr marL="914400" lvl="2" indent="0">
                  <a:buNone/>
                </a:pPr>
                <a:endParaRPr lang="en-US" b="0" dirty="0"/>
              </a:p>
              <a:p>
                <a:pPr lvl="2"/>
                <a:endParaRPr lang="nl-NL" dirty="0"/>
              </a:p>
              <a:p>
                <a:pPr lvl="1"/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CE0A64-FDB7-C336-DE62-A1F26C8419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04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339A-C0D6-6E66-DB99-98EAFB14C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 and risk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DF7EAF-0B19-1B6A-2B65-A27FADA5E8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nl-NL" dirty="0"/>
                  <a:t>How does model change </a:t>
                </a:r>
                <a:r>
                  <a:rPr lang="nl-NL" dirty="0" err="1"/>
                  <a:t>with</a:t>
                </a:r>
                <a:r>
                  <a:rPr lang="nl-NL" dirty="0"/>
                  <a:t> risk?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𝑠𝑎𝑙𝑒𝑠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dirty="0"/>
                      <m:t>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Intuition: sales depend on effort, but also luck</a:t>
                </a:r>
              </a:p>
              <a:p>
                <a:pPr lvl="2"/>
                <a:r>
                  <a:rPr lang="en-US" dirty="0"/>
                  <a:t>Weather, number of customers, etc.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𝑤𝑎𝑔𝑒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𝑠𝑎𝑙𝑒𝑠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Salesperson is risk averse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𝑤𝑎𝑔𝑒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𝑤𝑎𝑔𝑒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𝑤𝑎𝑔𝑒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: risk aversion parameter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The agent’s utility function is now: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𝑢𝑡𝑖𝑙𝑖𝑡𝑦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𝑤𝑎𝑔𝑒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−40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b="0" dirty="0">
                    <a:ea typeface="Cambria Math" panose="02040503050406030204" pitchFamily="18" charset="0"/>
                  </a:rPr>
                  <a:t>Risk premium: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endParaRPr lang="en-US" dirty="0"/>
              </a:p>
              <a:p>
                <a:pPr lvl="1"/>
                <a:endParaRPr lang="nl-NL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DF7EAF-0B19-1B6A-2B65-A27FADA5E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224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331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3DE2-E9F8-984A-1BA4-DC2EB6C6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 and risk</a:t>
            </a:r>
            <a:endParaRPr lang="nl-N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98AC53-3443-DA28-9448-5CD56F262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034608"/>
              </p:ext>
            </p:extLst>
          </p:nvPr>
        </p:nvGraphicFramePr>
        <p:xfrm>
          <a:off x="1406372" y="3242569"/>
          <a:ext cx="9379256" cy="2381992"/>
        </p:xfrm>
        <a:graphic>
          <a:graphicData uri="http://schemas.openxmlformats.org/drawingml/2006/table">
            <a:tbl>
              <a:tblPr>
                <a:tableStyleId>{85BE263C-DBD7-4A20-BB59-AAB30ACAA65A}</a:tableStyleId>
              </a:tblPr>
              <a:tblGrid>
                <a:gridCol w="1172407">
                  <a:extLst>
                    <a:ext uri="{9D8B030D-6E8A-4147-A177-3AD203B41FA5}">
                      <a16:colId xmlns:a16="http://schemas.microsoft.com/office/drawing/2014/main" val="1239041857"/>
                    </a:ext>
                  </a:extLst>
                </a:gridCol>
                <a:gridCol w="1172407">
                  <a:extLst>
                    <a:ext uri="{9D8B030D-6E8A-4147-A177-3AD203B41FA5}">
                      <a16:colId xmlns:a16="http://schemas.microsoft.com/office/drawing/2014/main" val="4002608910"/>
                    </a:ext>
                  </a:extLst>
                </a:gridCol>
                <a:gridCol w="1172407">
                  <a:extLst>
                    <a:ext uri="{9D8B030D-6E8A-4147-A177-3AD203B41FA5}">
                      <a16:colId xmlns:a16="http://schemas.microsoft.com/office/drawing/2014/main" val="3234719409"/>
                    </a:ext>
                  </a:extLst>
                </a:gridCol>
                <a:gridCol w="1172407">
                  <a:extLst>
                    <a:ext uri="{9D8B030D-6E8A-4147-A177-3AD203B41FA5}">
                      <a16:colId xmlns:a16="http://schemas.microsoft.com/office/drawing/2014/main" val="1969755404"/>
                    </a:ext>
                  </a:extLst>
                </a:gridCol>
                <a:gridCol w="1172407">
                  <a:extLst>
                    <a:ext uri="{9D8B030D-6E8A-4147-A177-3AD203B41FA5}">
                      <a16:colId xmlns:a16="http://schemas.microsoft.com/office/drawing/2014/main" val="4251803807"/>
                    </a:ext>
                  </a:extLst>
                </a:gridCol>
                <a:gridCol w="1172407">
                  <a:extLst>
                    <a:ext uri="{9D8B030D-6E8A-4147-A177-3AD203B41FA5}">
                      <a16:colId xmlns:a16="http://schemas.microsoft.com/office/drawing/2014/main" val="4286256764"/>
                    </a:ext>
                  </a:extLst>
                </a:gridCol>
                <a:gridCol w="1172407">
                  <a:extLst>
                    <a:ext uri="{9D8B030D-6E8A-4147-A177-3AD203B41FA5}">
                      <a16:colId xmlns:a16="http://schemas.microsoft.com/office/drawing/2014/main" val="3700673690"/>
                    </a:ext>
                  </a:extLst>
                </a:gridCol>
                <a:gridCol w="1172407">
                  <a:extLst>
                    <a:ext uri="{9D8B030D-6E8A-4147-A177-3AD203B41FA5}">
                      <a16:colId xmlns:a16="http://schemas.microsoft.com/office/drawing/2014/main" val="1035115758"/>
                    </a:ext>
                  </a:extLst>
                </a:gridCol>
              </a:tblGrid>
              <a:tr h="297749"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u="none" strike="noStrike" noProof="0" dirty="0">
                          <a:effectLst/>
                        </a:rPr>
                        <a:t>Commission</a:t>
                      </a:r>
                      <a:r>
                        <a:rPr lang="nl-NL" sz="1400" b="1" u="none" strike="noStrike" dirty="0">
                          <a:effectLst/>
                        </a:rPr>
                        <a:t> </a:t>
                      </a:r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b="1" u="none" strike="noStrike" dirty="0">
                          <a:effectLst/>
                        </a:rPr>
                        <a:t>Effort </a:t>
                      </a:r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b="1" u="none" strike="noStrike" dirty="0">
                          <a:effectLst/>
                        </a:rPr>
                        <a:t>Effort </a:t>
                      </a:r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b="1" u="none" strike="noStrike" dirty="0">
                          <a:effectLst/>
                        </a:rPr>
                        <a:t>Risk </a:t>
                      </a:r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u="none" strike="noStrike" noProof="0" dirty="0">
                          <a:effectLst/>
                        </a:rPr>
                        <a:t>Expected</a:t>
                      </a:r>
                      <a:r>
                        <a:rPr lang="nl-NL" sz="1400" b="1" u="none" strike="noStrike" dirty="0">
                          <a:effectLst/>
                        </a:rPr>
                        <a:t> </a:t>
                      </a:r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u="none" strike="noStrike" noProof="0" dirty="0">
                          <a:effectLst/>
                        </a:rPr>
                        <a:t>Salary</a:t>
                      </a:r>
                      <a:endParaRPr lang="en-AU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u="none" strike="noStrike" noProof="0" dirty="0">
                          <a:effectLst/>
                        </a:rPr>
                        <a:t>Revenue</a:t>
                      </a:r>
                      <a:endParaRPr lang="en-AU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b="1" u="none" strike="noStrike" dirty="0">
                          <a:effectLst/>
                        </a:rPr>
                        <a:t>Profit</a:t>
                      </a:r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91502357"/>
                  </a:ext>
                </a:extLst>
              </a:tr>
              <a:tr h="297749"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u="none" strike="noStrike" noProof="0" dirty="0">
                          <a:effectLst/>
                        </a:rPr>
                        <a:t>Rate</a:t>
                      </a:r>
                      <a:endParaRPr lang="en-AU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b="1" u="none" strike="noStrike" dirty="0">
                          <a:effectLst/>
                        </a:rPr>
                        <a:t>Level</a:t>
                      </a:r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u="none" strike="noStrike" noProof="0" dirty="0">
                          <a:effectLst/>
                        </a:rPr>
                        <a:t>Costs</a:t>
                      </a:r>
                      <a:endParaRPr lang="en-AU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b="1" u="none" strike="noStrike" dirty="0">
                          <a:effectLst/>
                        </a:rPr>
                        <a:t>Premium</a:t>
                      </a:r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u="none" strike="noStrike" noProof="0" dirty="0">
                          <a:effectLst/>
                        </a:rPr>
                        <a:t>Commission</a:t>
                      </a:r>
                      <a:endParaRPr lang="en-AU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81182633"/>
                  </a:ext>
                </a:extLst>
              </a:tr>
              <a:tr h="297749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0%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40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€ 1,000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€ 4,000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€ 3,000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3827295"/>
                  </a:ext>
                </a:extLst>
              </a:tr>
              <a:tr h="297749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10%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50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50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150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500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€ 700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€ 5,000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€ 3,800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6126448"/>
                  </a:ext>
                </a:extLst>
              </a:tr>
              <a:tr h="297749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20%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60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200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600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1,200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€ 600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€ 6,000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€ 4,200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03363845"/>
                  </a:ext>
                </a:extLst>
              </a:tr>
              <a:tr h="297749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25%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65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312.5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937.5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1,625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€ 625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€ 6,500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€ 4,250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60136492"/>
                  </a:ext>
                </a:extLst>
              </a:tr>
              <a:tr h="297749"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30%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70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450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1,350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2,100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€ 700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>
                          <a:effectLst/>
                        </a:rPr>
                        <a:t>€ 7,000</a:t>
                      </a:r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l-NL" sz="1400" u="none" strike="noStrike" dirty="0">
                          <a:effectLst/>
                        </a:rPr>
                        <a:t>€ 4,200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03342271"/>
                  </a:ext>
                </a:extLst>
              </a:tr>
              <a:tr h="297749"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64409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584105-EEBE-B21D-2451-4FDE6317D5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51303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What is optimal commission rate now?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/>
                      <m:t>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10,000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Reservation wage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/>
                      <m:t>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1,000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effort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, but costs &amp; risk premium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nl-NL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584105-EEBE-B21D-2451-4FDE6317D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513031"/>
              </a:xfrm>
              <a:prstGeom prst="rect">
                <a:avLst/>
              </a:prstGeom>
              <a:blipFill>
                <a:blip r:embed="rId3"/>
                <a:stretch>
                  <a:fillRect l="-1043" t="-2159" b="-54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2821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765AA-2CCA-B381-82AE-3DC1183F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 and risk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2443C-65F6-8640-F1BB-3AB90596D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Wrap</a:t>
            </a:r>
            <a:r>
              <a:rPr lang="nl-NL" dirty="0"/>
              <a:t> up</a:t>
            </a:r>
          </a:p>
          <a:p>
            <a:pPr lvl="1"/>
            <a:r>
              <a:rPr lang="nl-NL" dirty="0"/>
              <a:t>Risk </a:t>
            </a:r>
            <a:r>
              <a:rPr lang="nl-NL" dirty="0" err="1"/>
              <a:t>aversion</a:t>
            </a:r>
            <a:r>
              <a:rPr lang="nl-NL" dirty="0"/>
              <a:t> is a </a:t>
            </a:r>
            <a:r>
              <a:rPr lang="nl-NL" dirty="0" err="1"/>
              <a:t>barrier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PBIs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PBIs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improve</a:t>
            </a:r>
            <a:r>
              <a:rPr lang="nl-NL" dirty="0"/>
              <a:t> effort, but </a:t>
            </a:r>
            <a:r>
              <a:rPr lang="nl-NL" dirty="0" err="1"/>
              <a:t>agents</a:t>
            </a:r>
            <a:r>
              <a:rPr lang="nl-NL" dirty="0"/>
              <a:t> must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compensated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risk</a:t>
            </a:r>
          </a:p>
          <a:p>
            <a:pPr lvl="1"/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reason</a:t>
            </a:r>
            <a:r>
              <a:rPr lang="nl-NL" dirty="0"/>
              <a:t> </a:t>
            </a:r>
            <a:r>
              <a:rPr lang="nl-NL" dirty="0" err="1"/>
              <a:t>why</a:t>
            </a:r>
            <a:r>
              <a:rPr lang="nl-NL" dirty="0"/>
              <a:t> we </a:t>
            </a:r>
            <a:r>
              <a:rPr lang="nl-NL" dirty="0" err="1"/>
              <a:t>don’t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100% </a:t>
            </a:r>
            <a:r>
              <a:rPr lang="nl-NL" dirty="0" err="1"/>
              <a:t>PBIs</a:t>
            </a:r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1570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435</Words>
  <Application>Microsoft Office PowerPoint</Application>
  <PresentationFormat>Widescreen</PresentationFormat>
  <Paragraphs>147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Principal-agent solutions and risk</vt:lpstr>
      <vt:lpstr>Principal-agent solutions and risk</vt:lpstr>
      <vt:lpstr>Principal-agent solutions and risk</vt:lpstr>
      <vt:lpstr>Principal-agent solutions and risk</vt:lpstr>
      <vt:lpstr>Principal-agent solutions and risk</vt:lpstr>
      <vt:lpstr>Principal-agent solutions and risk</vt:lpstr>
      <vt:lpstr>Principal-agent solutions and risk</vt:lpstr>
    </vt:vector>
  </TitlesOfParts>
  <Company>Erasmus Universiteit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Principal-agent solutions and risk</dc:title>
  <dc:creator>Max Coveney</dc:creator>
  <cp:lastModifiedBy>Max Coveney</cp:lastModifiedBy>
  <cp:revision>9</cp:revision>
  <dcterms:created xsi:type="dcterms:W3CDTF">2024-04-29T17:14:19Z</dcterms:created>
  <dcterms:modified xsi:type="dcterms:W3CDTF">2026-03-10T08:56:49Z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772ba27-cab8-4042-a351-a31f6e4eacdc_Enabled">
    <vt:lpwstr>true</vt:lpwstr>
  </property>
  <property fmtid="{D5CDD505-2E9C-101B-9397-08002B2CF9AE}" pid="3" name="MSIP_Label_8772ba27-cab8-4042-a351-a31f6e4eacdc_SetDate">
    <vt:lpwstr>2024-04-29T17:21:43Z</vt:lpwstr>
  </property>
  <property fmtid="{D5CDD505-2E9C-101B-9397-08002B2CF9AE}" pid="4" name="MSIP_Label_8772ba27-cab8-4042-a351-a31f6e4eacdc_Method">
    <vt:lpwstr>Standard</vt:lpwstr>
  </property>
  <property fmtid="{D5CDD505-2E9C-101B-9397-08002B2CF9AE}" pid="5" name="MSIP_Label_8772ba27-cab8-4042-a351-a31f6e4eacdc_Name">
    <vt:lpwstr>Internal</vt:lpwstr>
  </property>
  <property fmtid="{D5CDD505-2E9C-101B-9397-08002B2CF9AE}" pid="6" name="MSIP_Label_8772ba27-cab8-4042-a351-a31f6e4eacdc_SiteId">
    <vt:lpwstr>715902d6-f63e-4b8d-929b-4bb170bad492</vt:lpwstr>
  </property>
  <property fmtid="{D5CDD505-2E9C-101B-9397-08002B2CF9AE}" pid="7" name="MSIP_Label_8772ba27-cab8-4042-a351-a31f6e4eacdc_ActionId">
    <vt:lpwstr>d8e47b58-97dd-4884-bca5-79e1d5fa2a8c</vt:lpwstr>
  </property>
  <property fmtid="{D5CDD505-2E9C-101B-9397-08002B2CF9AE}" pid="8" name="MSIP_Label_8772ba27-cab8-4042-a351-a31f6e4eacdc_ContentBits">
    <vt:lpwstr>0</vt:lpwstr>
  </property>
</Properties>
</file>