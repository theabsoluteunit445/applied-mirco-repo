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335D-1746-96AD-7C57-29A0DA367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D920F-1847-7827-ACD3-4E97F4EF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672E0-47EE-6139-E31A-31503CC8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4890-320D-2C34-9005-DEF48D80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EFCAE-AC71-7DC8-D831-28E65C4E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49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0CF5-87B7-8457-3444-36E6FD23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F417-8514-E557-91DA-9FF7566FA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A444-DBC0-073B-3629-957F07EE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BA35-E1E5-2C0F-4242-93A3A645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9D998-D994-935B-1D79-41CF1579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830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7783-F214-7BFA-B60E-B68AF026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1C433-C849-B943-D5C9-DA8CB7F83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AE477-204E-0220-DF65-442511CD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F0638-3DFE-5F39-1FBD-9EECB0F1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17E3A-0B5A-89D8-E28A-B5369E84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596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5556-74EE-4064-3C62-4EAE053A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D54D-9973-5434-39AF-C0FA4177E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4B3F1-4F6D-14ED-2AD6-75DE1D7CD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4F3E5-662A-742E-0CD2-CCDDC2D1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E5782-EC50-955F-A7B2-4C4240B6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B5A1C-0B36-3389-88F0-CD365D90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926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8008-0287-F4BF-1DAF-E7CA1941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D5F6F-CE2B-1610-6392-2AB858B23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CA778-EACA-7166-8E70-87A0DC1ED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75628-6E81-EEDE-12B1-4A36DE4AE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7C1CE-C0E4-8AA3-7A09-1E2ECA9EB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5BFD36-DE6A-9AAA-2264-D1F6EB4A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0D562-3655-8355-20D1-F449C70E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5D7D-9BEC-54DE-1409-7F893F0B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403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F41E-7343-EE57-5E9F-5401C89A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B6E36-17DE-FDF8-5950-9760D1EB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E2EB4-5AAD-EC1B-35D6-59CAC2D0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D2867-8000-2EAB-059E-1BC4905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47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95141-87AD-8F9D-F26D-18D3E875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EE585-4694-4492-D6EF-A842F30B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45F56-7D57-4843-ACC7-6B77C885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34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2BB0-6164-1164-43A4-85089C19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644D-32A2-4B33-7B10-571A6074E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FEA65-F81C-8559-A7E3-DDEE8A565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EE35D-61CD-F3A5-65C1-06E3F98E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5637-451D-ACEF-5F8B-E5F87AF3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96675-6750-7D22-3DD9-1C120B6B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19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1ECB-776B-0870-463E-95B8EC5D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7D66-31EB-4022-B17F-09B7362EE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C4F3A-4FDC-85A6-76AF-003948654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52E85-D0DD-1CEC-132F-60A9DA1E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594F2-BEF3-8B7B-908B-4CE11C05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EA6C-3B69-E50D-9DDB-5FCB6667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63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035-48C2-9C61-A96E-0B0EF268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EE67B-6021-7696-981B-AFC4AB421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9C555-B20F-B40E-6E0A-C438B5B9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9C38A-D8BF-B7F7-9245-01F6C652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42445-D370-DE91-16BA-D0AD2375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292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33BF7-A718-EF36-C0BA-F346460C9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DEE31-53E2-F08A-5C34-A3127713D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B4BE-A223-1158-EE66-F8271680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664B-38C5-A98A-A406-C5534EC6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B0FDC-2D33-E124-BBD1-841BB567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968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1584D-789C-387D-5952-ED5DD401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C5B68-22D9-7107-D29B-4FBE01FA8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49E8-BC1F-A83D-E6FE-40F644D0A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3011D-DAC4-44E5-945D-5CB19DC7AFE7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0B07-F34B-0049-E437-EFF1A8FB8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7D3C7-262B-C05D-6BF1-DB0EE61F0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D9FF5-4116-4765-8E73-652A3DA039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659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45A0-F137-01BE-4730-BAE9B4C34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053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851A-83A2-EC7C-6706-B3E6C34B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2E95-C961-C6DA-2305-F31A46CB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Definitions</a:t>
            </a:r>
            <a:r>
              <a:rPr lang="nl-NL" dirty="0"/>
              <a:t>:</a:t>
            </a:r>
          </a:p>
          <a:p>
            <a:pPr lvl="1"/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 hire or contract you to take some action or make decisions on my behalf, then I am the </a:t>
            </a:r>
            <a:r>
              <a:rPr lang="en-A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</a:t>
            </a: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you are the </a:t>
            </a:r>
            <a:r>
              <a:rPr lang="en-A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agent</a:t>
            </a: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AU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A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rincipal agent relationship occurs when a principal hires or contracts an agent to take actions or make decisions that affect the principal</a:t>
            </a:r>
          </a:p>
          <a:p>
            <a:pPr lvl="1"/>
            <a:r>
              <a:rPr lang="en-AU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Example: shareholders (principals) hire a CEO (agent) to run their firm</a:t>
            </a: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462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851A-83A2-EC7C-6706-B3E6C34B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2E95-C961-C6DA-2305-F31A46CB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Why important?</a:t>
            </a:r>
          </a:p>
          <a:p>
            <a:pPr lvl="1"/>
            <a:r>
              <a:rPr lang="en-A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revalent in the economy and within firms </a:t>
            </a:r>
          </a:p>
          <a:p>
            <a:pPr lvl="1"/>
            <a:r>
              <a:rPr lang="en-US" sz="1800" dirty="0"/>
              <a:t>Can lead to economic inefficiencies/problems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Principal-agent problems:</a:t>
            </a:r>
          </a:p>
          <a:p>
            <a:pPr lvl="1"/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objectives of the principal and agent differ</a:t>
            </a:r>
          </a:p>
          <a:p>
            <a:pPr lvl="1"/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 actions taken by the agent (shirking) or information possessed by the agent are hard to observe (asymmetric information)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8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9A6F-2EEA-2330-BA76-65F2EC11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8C30-0F58-5742-BAEF-CC6EA215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Example</a:t>
            </a:r>
            <a:r>
              <a:rPr lang="nl-NL" dirty="0"/>
              <a:t> 1: </a:t>
            </a:r>
            <a:r>
              <a:rPr lang="nl-NL" dirty="0" err="1"/>
              <a:t>Shareholder</a:t>
            </a:r>
            <a:r>
              <a:rPr lang="nl-NL" dirty="0"/>
              <a:t> &amp; CEO</a:t>
            </a:r>
          </a:p>
          <a:p>
            <a:pPr lvl="1"/>
            <a:r>
              <a:rPr lang="nl-NL" dirty="0" err="1"/>
              <a:t>Principal</a:t>
            </a:r>
            <a:r>
              <a:rPr lang="nl-NL" dirty="0"/>
              <a:t>: </a:t>
            </a:r>
            <a:r>
              <a:rPr lang="nl-NL" dirty="0" err="1"/>
              <a:t>Shareholders</a:t>
            </a:r>
            <a:endParaRPr lang="nl-NL" dirty="0"/>
          </a:p>
          <a:p>
            <a:pPr lvl="1"/>
            <a:r>
              <a:rPr lang="nl-NL" dirty="0"/>
              <a:t>Agent: CEO</a:t>
            </a:r>
          </a:p>
          <a:p>
            <a:pPr lvl="1"/>
            <a:r>
              <a:rPr lang="nl-NL" dirty="0" err="1"/>
              <a:t>Differing</a:t>
            </a:r>
            <a:r>
              <a:rPr lang="nl-NL" dirty="0"/>
              <a:t> </a:t>
            </a:r>
            <a:r>
              <a:rPr lang="nl-NL" dirty="0" err="1"/>
              <a:t>objectives</a:t>
            </a:r>
            <a:r>
              <a:rPr lang="nl-NL" dirty="0"/>
              <a:t>?</a:t>
            </a:r>
          </a:p>
          <a:p>
            <a:pPr lvl="2"/>
            <a:r>
              <a:rPr lang="nl-NL" dirty="0" err="1"/>
              <a:t>Shareholders</a:t>
            </a:r>
            <a:r>
              <a:rPr lang="nl-NL" dirty="0"/>
              <a:t>: </a:t>
            </a:r>
            <a:r>
              <a:rPr lang="nl-NL" dirty="0" err="1"/>
              <a:t>Maximize</a:t>
            </a:r>
            <a:r>
              <a:rPr lang="nl-NL" dirty="0"/>
              <a:t> </a:t>
            </a:r>
            <a:r>
              <a:rPr lang="nl-NL" dirty="0" err="1"/>
              <a:t>profit</a:t>
            </a:r>
            <a:endParaRPr lang="nl-NL" dirty="0"/>
          </a:p>
          <a:p>
            <a:pPr lvl="2"/>
            <a:r>
              <a:rPr lang="nl-NL" dirty="0" err="1"/>
              <a:t>CEOs</a:t>
            </a:r>
            <a:r>
              <a:rPr lang="nl-NL" dirty="0"/>
              <a:t>: </a:t>
            </a:r>
            <a:r>
              <a:rPr lang="nl-NL" dirty="0" err="1"/>
              <a:t>Maximize</a:t>
            </a:r>
            <a:r>
              <a:rPr lang="nl-NL" dirty="0"/>
              <a:t> personal </a:t>
            </a:r>
            <a:r>
              <a:rPr lang="nl-NL" dirty="0" err="1"/>
              <a:t>wealth</a:t>
            </a:r>
            <a:r>
              <a:rPr lang="nl-NL" dirty="0"/>
              <a:t>/</a:t>
            </a:r>
            <a:r>
              <a:rPr lang="nl-NL" dirty="0" err="1"/>
              <a:t>profit</a:t>
            </a:r>
            <a:r>
              <a:rPr lang="nl-NL" dirty="0"/>
              <a:t>/</a:t>
            </a:r>
            <a:r>
              <a:rPr lang="nl-NL" dirty="0" err="1"/>
              <a:t>career</a:t>
            </a:r>
            <a:endParaRPr lang="nl-NL" dirty="0"/>
          </a:p>
          <a:p>
            <a:pPr lvl="1"/>
            <a:r>
              <a:rPr lang="nl-NL" dirty="0" err="1"/>
              <a:t>Shirking</a:t>
            </a:r>
            <a:r>
              <a:rPr lang="nl-NL" dirty="0"/>
              <a:t>/information </a:t>
            </a:r>
            <a:r>
              <a:rPr lang="nl-NL" dirty="0" err="1"/>
              <a:t>asymmetries</a:t>
            </a:r>
            <a:r>
              <a:rPr lang="nl-NL" dirty="0"/>
              <a:t>?</a:t>
            </a:r>
          </a:p>
          <a:p>
            <a:pPr lvl="2"/>
            <a:r>
              <a:rPr lang="nl-NL" dirty="0" err="1"/>
              <a:t>Shareholders</a:t>
            </a:r>
            <a:r>
              <a:rPr lang="nl-NL" dirty="0"/>
              <a:t> </a:t>
            </a:r>
            <a:r>
              <a:rPr lang="nl-NL" dirty="0" err="1"/>
              <a:t>unable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observe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actions and </a:t>
            </a:r>
            <a:r>
              <a:rPr lang="nl-NL" dirty="0" err="1"/>
              <a:t>behaviour</a:t>
            </a:r>
            <a:r>
              <a:rPr lang="nl-NL" dirty="0"/>
              <a:t> of CEO</a:t>
            </a:r>
          </a:p>
          <a:p>
            <a:pPr marL="457200" lvl="1" indent="0">
              <a:buNone/>
            </a:pP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695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9A6F-2EEA-2330-BA76-65F2EC11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8C30-0F58-5742-BAEF-CC6EA215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2: Voter &amp; Politician</a:t>
            </a:r>
          </a:p>
          <a:p>
            <a:pPr lvl="1"/>
            <a:r>
              <a:rPr lang="en-US" dirty="0"/>
              <a:t>Principal: Voters</a:t>
            </a:r>
          </a:p>
          <a:p>
            <a:pPr lvl="1"/>
            <a:r>
              <a:rPr lang="en-US" dirty="0"/>
              <a:t>Agent: Politician</a:t>
            </a:r>
          </a:p>
          <a:p>
            <a:pPr lvl="1"/>
            <a:r>
              <a:rPr lang="en-US" dirty="0"/>
              <a:t>Differing objectives?</a:t>
            </a:r>
          </a:p>
          <a:p>
            <a:pPr lvl="2"/>
            <a:r>
              <a:rPr lang="en-US" dirty="0"/>
              <a:t>Voters : Certain policy goals/interests</a:t>
            </a:r>
          </a:p>
          <a:p>
            <a:pPr lvl="2"/>
            <a:r>
              <a:rPr lang="en-US" dirty="0"/>
              <a:t>Politician : Career/re-election/wealth…</a:t>
            </a:r>
          </a:p>
          <a:p>
            <a:pPr lvl="1"/>
            <a:r>
              <a:rPr lang="en-US" dirty="0"/>
              <a:t>Shirking/information asymmetries?</a:t>
            </a:r>
          </a:p>
          <a:p>
            <a:pPr lvl="2"/>
            <a:r>
              <a:rPr lang="en-US" dirty="0"/>
              <a:t>Effort and behavior behind doors hard for voters to observe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6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7570-B8E6-B188-8EE9-B8F38485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relationships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3A45-7AD2-EBDA-BDB8-3A2AD31A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Wrap</a:t>
            </a:r>
            <a:r>
              <a:rPr lang="nl-NL" dirty="0"/>
              <a:t>-up</a:t>
            </a:r>
          </a:p>
          <a:p>
            <a:pPr lvl="1"/>
            <a:r>
              <a:rPr lang="nl-NL" dirty="0" err="1"/>
              <a:t>Principal</a:t>
            </a:r>
            <a:r>
              <a:rPr lang="nl-NL" dirty="0"/>
              <a:t>-agent </a:t>
            </a:r>
            <a:r>
              <a:rPr lang="nl-NL" dirty="0" err="1"/>
              <a:t>relationships</a:t>
            </a:r>
            <a:endParaRPr lang="nl-NL" dirty="0"/>
          </a:p>
          <a:p>
            <a:pPr lvl="1"/>
            <a:r>
              <a:rPr lang="nl-NL" dirty="0" err="1"/>
              <a:t>Principal</a:t>
            </a:r>
            <a:r>
              <a:rPr lang="nl-NL" dirty="0"/>
              <a:t>-agent </a:t>
            </a:r>
            <a:r>
              <a:rPr lang="nl-NL" dirty="0" err="1"/>
              <a:t>problems</a:t>
            </a:r>
            <a:endParaRPr lang="nl-NL" dirty="0"/>
          </a:p>
          <a:p>
            <a:pPr lvl="1"/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examples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730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228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Principal-agent relationships</vt:lpstr>
      <vt:lpstr>Principal-agent relationships</vt:lpstr>
      <vt:lpstr>Principal-agent relationships</vt:lpstr>
      <vt:lpstr>Principal-agent relationships</vt:lpstr>
      <vt:lpstr>Principal-agent relationships</vt:lpstr>
      <vt:lpstr>Principal-agent relationships</vt:lpstr>
    </vt:vector>
  </TitlesOfParts>
  <Company>Erasmus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Principal-agent problems</dc:title>
  <dc:creator>Max Coveney</dc:creator>
  <cp:lastModifiedBy>Max Coveney</cp:lastModifiedBy>
  <cp:revision>4</cp:revision>
  <dcterms:created xsi:type="dcterms:W3CDTF">2023-12-20T10:54:09Z</dcterms:created>
  <dcterms:modified xsi:type="dcterms:W3CDTF">2024-04-29T17:20:06Z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2023-12-20T15:28:55Z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a3d46090-c122-4392-a8a0-132aadce8581</vt:lpwstr>
  </property>
  <property fmtid="{D5CDD505-2E9C-101B-9397-08002B2CF9AE}" pid="8" name="MSIP_Label_8772ba27-cab8-4042-a351-a31f6e4eacdc_ContentBits">
    <vt:lpwstr>0</vt:lpwstr>
  </property>
</Properties>
</file>