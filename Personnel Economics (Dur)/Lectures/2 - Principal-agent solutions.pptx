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7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44DF4-4924-42FE-9BDA-A4CE9864D20B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27783-BB55-4E1C-A0E0-BEADE0C54745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00284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27783-BB55-4E1C-A0E0-BEADE0C54745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69087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27783-BB55-4E1C-A0E0-BEADE0C54745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292966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27783-BB55-4E1C-A0E0-BEADE0C54745}" type="slidenum">
              <a:rPr lang="nl-NL" smtClean="0"/>
              <a:t>11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26367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40B07-6313-8AB0-C151-529B7FB36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C1BB2-C450-EC2A-EE9D-4BD67E0750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81D61-5CA9-D130-3981-A81C10EB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3012B-B64B-E745-1155-D8A12C70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B712FC-46C2-D7C4-7628-1F71C19A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762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C8D05-0459-65A8-E872-75F910A4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5FA19-C6BD-8B77-327B-64BB04FA5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2BA1-AE13-9BD5-F4E6-2A4F00D08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A30C7B-0843-FBA9-6D82-3D233DADD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5FAA5-F7CA-5D0C-B2F7-2E3D64044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6061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20B02-0DBD-FCC1-8C88-6A0312CD1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55DA4B-2927-4DB9-3EF2-F8F914F7E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B3FD8-821D-1106-75DD-AD2D6EA83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C50E1-DE55-993A-3EB5-73EA906C4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5031F-01B0-80DA-96C3-A547DA899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7989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93F57-065C-0A2F-197A-5E96B5DC5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0B6B2-C9B4-3D4D-557B-C56D27BFD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C1675-F0CD-F696-67AC-E4298A997F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E16732-6688-35CD-933C-575E2387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BC7472-A9AD-0E2B-A421-E00127F49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84799-9C3C-0A44-AE29-A47895647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71841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087DB-14A4-E9FD-88E6-94941384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D871C-B8F5-3DAF-2D5C-4DDF0B1DD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7308C-E4E7-6E3A-8569-9EBD716F4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0D7C7-D67D-C463-5B68-5B505E30B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59677A-8791-1867-69DA-C67995BBA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E3D0A-561E-E446-618B-DF8B7DF1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CDE306-7353-1065-C225-17E0C5FD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6C2476-3E81-3C95-901F-9CBD0EED2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52698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CC3A2-D27F-7848-48A7-4BEC3E2B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91A6AF-3F42-BC56-015E-689A5A3D9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459FCA-4D72-848B-0855-25864BC6A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0D7DFC-C2F8-25F0-A6C2-C5092693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58946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61C3D-D297-E906-BB09-5CF60CBC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DF4B5-A249-985C-99EE-19860D8EE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9CF8E-95FE-11E5-28AF-E0873A6F7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351656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0683D-564F-C5EF-C4C1-26258F01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4ED57-E7C4-4E6C-29B5-3C3A5F049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3C239B-29E4-17FC-4C48-5A19BC3A95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B801A-5472-18F7-A659-5BAB1A264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68D168-2FBA-2932-7F07-E96DB8A2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3C7FB-B847-A9FB-D400-C6C7454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3548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25651-33C1-8848-8522-48479F6BF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912E0B-DDC5-2D24-DD1E-0294F747C7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93D3B-F63E-EF68-051C-7A13945041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039C82-91CB-E82E-60E7-E39710C02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642851-AAE7-49BC-26C5-01DD6238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420745-0614-52D2-D951-BA3CE1C5B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8157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9642E-1C29-366C-67EE-E8D117A31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7F9E7D-D153-FD1A-C5BD-1FC4C0DB6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E5B30-54D3-DE58-AFFA-2EDF73768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5CF3C-01A3-EDBA-C701-EC838F711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C84D9-E442-4214-11B0-E19B61EE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6650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E53A30-B699-EF50-CCEF-A5B9A70D96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3D1C91-D841-C34D-8AED-FE6943C34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E6DA9-097B-561B-5D5F-2A4134E7F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672D6-7EF9-F1FE-D2CE-7EE686F41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328D2-9D4E-769B-B2B2-6922B5BC7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50575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F7BDAD-F096-028C-CFAC-25F2526E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011FF-D97C-EBFD-CF3D-E5E5F0606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85C46-9B44-9877-64FD-F10791D9D0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32FC2-2C2E-4AF1-8629-BACB6C511189}" type="datetimeFigureOut">
              <a:rPr lang="nl-NL" smtClean="0"/>
              <a:t>29-4-2024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E93DA-6572-2C3E-B1FB-1FAC5256D1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7FE8-D09E-BB0F-C174-011E28AB30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2EA90-3A0F-4FF1-A668-F3918FCE44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5519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36DD7-8765-70FE-8738-FAFCDA626E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Principal-agent solutions I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23418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7F431-82E1-8CA0-BA48-389949BE9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A95AB-26E8-EC4F-01C1-A8A1E27FE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Conditions for principal-agent problems:</a:t>
            </a:r>
          </a:p>
          <a:p>
            <a:pPr lvl="1"/>
            <a:r>
              <a:rPr lang="en-US" dirty="0"/>
              <a:t>(1) Objectives of principals and agents differ</a:t>
            </a:r>
          </a:p>
          <a:p>
            <a:pPr lvl="1"/>
            <a:r>
              <a:rPr lang="en-US" dirty="0"/>
              <a:t>(2) Actions or information possessed by agent are hard to observe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54333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C3203-1EF2-444A-1BEC-F6A21F389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83976-45C8-E8E7-F919-07B19D2AB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 1:</a:t>
            </a:r>
            <a:r>
              <a:rPr lang="nl-NL" dirty="0"/>
              <a:t> </a:t>
            </a:r>
            <a:r>
              <a:rPr lang="en-US" dirty="0"/>
              <a:t>Bureaucracy</a:t>
            </a:r>
          </a:p>
          <a:p>
            <a:pPr lvl="1"/>
            <a:r>
              <a:rPr lang="en-US" dirty="0"/>
              <a:t>Monitor employees and gather information to reduce gap</a:t>
            </a:r>
          </a:p>
          <a:p>
            <a:pPr lvl="1"/>
            <a:r>
              <a:rPr lang="en-US" dirty="0"/>
              <a:t>Example: corporate boards of directors monitor decisions of firm’s CEO and gather financial statements, reports, etc.</a:t>
            </a:r>
          </a:p>
          <a:p>
            <a:pPr lvl="1"/>
            <a:r>
              <a:rPr lang="en-US" dirty="0"/>
              <a:t>Problems: imperfect, costly, and may induce more P-A relationships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08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B6B1-6DE8-B2A7-8936-E83665A7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Solution 2: Performance-Based Incentives</a:t>
                </a:r>
              </a:p>
              <a:p>
                <a:pPr lvl="1"/>
                <a:r>
                  <a:rPr lang="en-US" dirty="0"/>
                  <a:t>Try to align objectives of principals and agents</a:t>
                </a:r>
              </a:p>
              <a:p>
                <a:pPr lvl="1"/>
                <a:r>
                  <a:rPr lang="en-US" dirty="0"/>
                  <a:t>“Pay for performance”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Example:</a:t>
                </a:r>
              </a:p>
              <a:p>
                <a:pPr lvl="1"/>
                <a:r>
                  <a:rPr lang="en-US" dirty="0"/>
                  <a:t>Cost of employee effort (</a:t>
                </a:r>
                <a:r>
                  <a:rPr lang="en-US" i="1" dirty="0"/>
                  <a:t>e</a:t>
                </a:r>
                <a:r>
                  <a:rPr lang="en-US" dirty="0"/>
                  <a:t>) represented by:</a:t>
                </a:r>
              </a:p>
              <a:p>
                <a:pPr marL="457200" lvl="1" indent="0">
                  <a:buNone/>
                </a:pPr>
                <a:r>
                  <a:rPr lang="en-US" b="0" dirty="0"/>
                  <a:t>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(1/2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−40)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≤40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&gt;40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1543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B74A-9B45-3EA5-947E-F828EF75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pic>
        <p:nvPicPr>
          <p:cNvPr id="4" name="Picture 3" descr="Output image">
            <a:extLst>
              <a:ext uri="{FF2B5EF4-FFF2-40B4-BE49-F238E27FC236}">
                <a16:creationId xmlns:a16="http://schemas.microsoft.com/office/drawing/2014/main" id="{649AA4BE-33A9-4964-4F30-C684154BEA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83" y="1799926"/>
            <a:ext cx="7949034" cy="435666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526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EB74A-9B45-3EA5-947E-F828EF75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pic>
        <p:nvPicPr>
          <p:cNvPr id="4" name="Picture 3" descr="Output image">
            <a:extLst>
              <a:ext uri="{FF2B5EF4-FFF2-40B4-BE49-F238E27FC236}">
                <a16:creationId xmlns:a16="http://schemas.microsoft.com/office/drawing/2014/main" id="{649AA4BE-33A9-4964-4F30-C684154BEA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483" y="1799926"/>
            <a:ext cx="7949034" cy="4356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Output image">
            <a:extLst>
              <a:ext uri="{FF2B5EF4-FFF2-40B4-BE49-F238E27FC236}">
                <a16:creationId xmlns:a16="http://schemas.microsoft.com/office/drawing/2014/main" id="{F404AEBB-AF69-A589-DC51-7A0B258F300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41" y="1855798"/>
            <a:ext cx="7860676" cy="43082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4939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B6B1-6DE8-B2A7-8936-E83665A7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Cost of employee effort (</a:t>
                </a:r>
                <a:r>
                  <a:rPr lang="en-US" i="1" dirty="0"/>
                  <a:t>e</a:t>
                </a:r>
                <a:r>
                  <a:rPr lang="en-US" dirty="0"/>
                  <a:t>) represented by:</a:t>
                </a:r>
              </a:p>
              <a:p>
                <a:pPr lvl="1"/>
                <a:endParaRPr lang="en-US" dirty="0"/>
              </a:p>
              <a:p>
                <a:pPr marL="457200" lvl="1" indent="0">
                  <a:buNone/>
                </a:pPr>
                <a:r>
                  <a:rPr lang="en-US" b="0" dirty="0"/>
                  <a:t>			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(1/2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−40)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eqArr>
                        <m:f>
                          <m:fPr>
                            <m:type m:val="noBar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≤40</m:t>
                            </m:r>
                          </m:num>
                          <m:den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if</m:t>
                            </m:r>
                            <m:r>
                              <m:rPr>
                                <m:nor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&gt;40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Sales represented by: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𝑠𝑎𝑙𝑒𝑠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dirty="0" smtClean="0"/>
                        <m:t>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100∗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US" dirty="0"/>
              </a:p>
              <a:p>
                <a:endParaRPr lang="nl-NL" dirty="0"/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4747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4444-F087-4644-FF94-01E8C97A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68DA2-9AC4-2208-8E20-CB1DE1F6DF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1"/>
                <a:r>
                  <a:rPr lang="en-US" dirty="0"/>
                  <a:t>Baseline case: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€1,000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40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𝑎𝑙𝑒𝑠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€4,000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Profit of €3,000</a:t>
                </a:r>
              </a:p>
              <a:p>
                <a:pPr lvl="2"/>
                <a:endParaRPr lang="en-US" dirty="0"/>
              </a:p>
              <a:p>
                <a:pPr lvl="1"/>
                <a:r>
                  <a:rPr lang="en-US" dirty="0"/>
                  <a:t>However: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dirty="0"/>
                  <a:t>1</a:t>
                </a:r>
                <a:r>
                  <a:rPr lang="en-US" i="1" dirty="0"/>
                  <a:t>e</a:t>
                </a:r>
                <a:r>
                  <a:rPr lang="en-US" dirty="0"/>
                  <a:t> → €100 firm sales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</m:oMath>
                </a14:m>
                <a:r>
                  <a:rPr lang="en-US" dirty="0"/>
                  <a:t>1</a:t>
                </a:r>
                <a:r>
                  <a:rPr lang="en-US" i="1" dirty="0"/>
                  <a:t>e</a:t>
                </a:r>
                <a:r>
                  <a:rPr lang="en-US" dirty="0"/>
                  <a:t> →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40</m:t>
                        </m:r>
                      </m:e>
                    </m:d>
                  </m:oMath>
                </a14:m>
                <a:r>
                  <a:rPr lang="en-US" dirty="0"/>
                  <a:t>) €0.50 worker cost</a:t>
                </a:r>
              </a:p>
              <a:p>
                <a:pPr lvl="2"/>
                <a:r>
                  <a:rPr lang="en-US" dirty="0"/>
                  <a:t>Potential €99.50 net surplus </a:t>
                </a:r>
              </a:p>
              <a:p>
                <a:endParaRPr lang="nl-NL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468DA2-9AC4-2208-8E20-CB1DE1F6D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9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836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B6B1-6DE8-B2A7-8936-E83665A7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/>
                <a:r>
                  <a:rPr lang="en-US" dirty="0"/>
                  <a:t>Solution? Pay-for-performance incentives: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=€1,000+(0.10)∗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𝑠𝑎𝑙𝑒𝑠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𝑢𝑡𝑖𝑙𝑖𝑡𝑦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𝑤𝑎𝑔𝑒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𝑢𝑡𝑖𝑙𝑖𝑡𝑦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=€1,000+(0.10)∗(</m:t>
                    </m:r>
                    <m:r>
                      <m:rPr>
                        <m:nor/>
                      </m:rPr>
                      <a:rPr lang="en-US" dirty="0" smtClean="0"/>
                      <m:t>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)−(1/2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−40)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𝑢𝑡𝑖𝑙𝑖𝑡𝑦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=200−50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914400" lvl="2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What effort will workers now chose?</a:t>
                </a:r>
              </a:p>
              <a:p>
                <a:pPr lvl="2"/>
                <a:r>
                  <a:rPr lang="en-US" dirty="0"/>
                  <a:t>Take FOC w.r.t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𝑎𝑔𝑒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€1,500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𝑎𝑙𝑒𝑠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€5,000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Profit of €3,500</a:t>
                </a:r>
              </a:p>
              <a:p>
                <a:endParaRPr lang="nl-NL" dirty="0"/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74D355D-9B76-D9A6-E4E7-E07C1DFB18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t="-1961" b="-1961"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28844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94D9-7EF6-036C-30C3-D3BC3FA10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pic>
        <p:nvPicPr>
          <p:cNvPr id="4" name="Content Placeholder 3" descr="Output image">
            <a:extLst>
              <a:ext uri="{FF2B5EF4-FFF2-40B4-BE49-F238E27FC236}">
                <a16:creationId xmlns:a16="http://schemas.microsoft.com/office/drawing/2014/main" id="{82501BD6-EF1E-876A-1751-2973E51323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912" y="1825625"/>
            <a:ext cx="560417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10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07570-B8E6-B188-8EE9-B8F384856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Principal-agent solutions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03A45-7AD2-EBDA-BDB8-3A2AD31A9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Wrap</a:t>
            </a:r>
            <a:r>
              <a:rPr lang="nl-NL" dirty="0"/>
              <a:t>-up</a:t>
            </a:r>
          </a:p>
          <a:p>
            <a:pPr lvl="1"/>
            <a:r>
              <a:rPr lang="nl-NL" dirty="0" err="1"/>
              <a:t>Bureaucracy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Pay</a:t>
            </a:r>
            <a:r>
              <a:rPr lang="nl-NL" dirty="0"/>
              <a:t>-</a:t>
            </a:r>
            <a:r>
              <a:rPr lang="nl-NL" dirty="0" err="1"/>
              <a:t>for</a:t>
            </a:r>
            <a:r>
              <a:rPr lang="nl-NL" dirty="0"/>
              <a:t>-performance</a:t>
            </a:r>
          </a:p>
          <a:p>
            <a:pPr lvl="1"/>
            <a:r>
              <a:rPr lang="nl-NL" dirty="0"/>
              <a:t>Small model</a:t>
            </a:r>
          </a:p>
        </p:txBody>
      </p:sp>
    </p:spTree>
    <p:extLst>
      <p:ext uri="{BB962C8B-B14F-4D97-AF65-F5344CB8AC3E}">
        <p14:creationId xmlns:p14="http://schemas.microsoft.com/office/powerpoint/2010/main" val="129730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293</Words>
  <Application>Microsoft Office PowerPoint</Application>
  <PresentationFormat>Widescreen</PresentationFormat>
  <Paragraphs>68</Paragraphs>
  <Slides>11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Principal-agent solutions I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  <vt:lpstr>Principal-agent solutions</vt:lpstr>
    </vt:vector>
  </TitlesOfParts>
  <Company>Erasmus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Principal-agent solutions I</dc:title>
  <dc:creator>Max Coveney</dc:creator>
  <cp:lastModifiedBy>Max Coveney</cp:lastModifiedBy>
  <cp:revision>4</cp:revision>
  <dcterms:created xsi:type="dcterms:W3CDTF">2024-04-29T12:02:43Z</dcterms:created>
  <dcterms:modified xsi:type="dcterms:W3CDTF">2024-04-29T20:47:12Z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772ba27-cab8-4042-a351-a31f6e4eacdc_Enabled">
    <vt:lpwstr>true</vt:lpwstr>
  </property>
  <property fmtid="{D5CDD505-2E9C-101B-9397-08002B2CF9AE}" pid="3" name="MSIP_Label_8772ba27-cab8-4042-a351-a31f6e4eacdc_SetDate">
    <vt:lpwstr>2024-04-29T12:36:50Z</vt:lpwstr>
  </property>
  <property fmtid="{D5CDD505-2E9C-101B-9397-08002B2CF9AE}" pid="4" name="MSIP_Label_8772ba27-cab8-4042-a351-a31f6e4eacdc_Method">
    <vt:lpwstr>Standard</vt:lpwstr>
  </property>
  <property fmtid="{D5CDD505-2E9C-101B-9397-08002B2CF9AE}" pid="5" name="MSIP_Label_8772ba27-cab8-4042-a351-a31f6e4eacdc_Name">
    <vt:lpwstr>Internal</vt:lpwstr>
  </property>
  <property fmtid="{D5CDD505-2E9C-101B-9397-08002B2CF9AE}" pid="6" name="MSIP_Label_8772ba27-cab8-4042-a351-a31f6e4eacdc_SiteId">
    <vt:lpwstr>715902d6-f63e-4b8d-929b-4bb170bad492</vt:lpwstr>
  </property>
  <property fmtid="{D5CDD505-2E9C-101B-9397-08002B2CF9AE}" pid="7" name="MSIP_Label_8772ba27-cab8-4042-a351-a31f6e4eacdc_ActionId">
    <vt:lpwstr>ffbd974d-ce32-46b3-9c88-7b554722e47c</vt:lpwstr>
  </property>
  <property fmtid="{D5CDD505-2E9C-101B-9397-08002B2CF9AE}" pid="8" name="MSIP_Label_8772ba27-cab8-4042-a351-a31f6e4eacdc_ContentBits">
    <vt:lpwstr>0</vt:lpwstr>
  </property>
</Properties>
</file>