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5" r:id="rId2"/>
  </p:sldMasterIdLst>
  <p:notesMasterIdLst>
    <p:notesMasterId r:id="rId58"/>
  </p:notesMasterIdLst>
  <p:handoutMasterIdLst>
    <p:handoutMasterId r:id="rId59"/>
  </p:handoutMasterIdLst>
  <p:sldIdLst>
    <p:sldId id="417" r:id="rId3"/>
    <p:sldId id="256" r:id="rId4"/>
    <p:sldId id="376" r:id="rId5"/>
    <p:sldId id="421" r:id="rId6"/>
    <p:sldId id="422" r:id="rId7"/>
    <p:sldId id="433" r:id="rId8"/>
    <p:sldId id="423" r:id="rId9"/>
    <p:sldId id="424" r:id="rId10"/>
    <p:sldId id="425" r:id="rId11"/>
    <p:sldId id="377" r:id="rId12"/>
    <p:sldId id="427" r:id="rId13"/>
    <p:sldId id="418" r:id="rId14"/>
    <p:sldId id="434" r:id="rId15"/>
    <p:sldId id="381" r:id="rId16"/>
    <p:sldId id="419" r:id="rId17"/>
    <p:sldId id="420" r:id="rId18"/>
    <p:sldId id="385" r:id="rId19"/>
    <p:sldId id="389" r:id="rId20"/>
    <p:sldId id="386" r:id="rId21"/>
    <p:sldId id="387" r:id="rId22"/>
    <p:sldId id="428" r:id="rId23"/>
    <p:sldId id="388" r:id="rId24"/>
    <p:sldId id="347" r:id="rId25"/>
    <p:sldId id="348" r:id="rId26"/>
    <p:sldId id="392" r:id="rId27"/>
    <p:sldId id="402" r:id="rId28"/>
    <p:sldId id="346" r:id="rId29"/>
    <p:sldId id="431" r:id="rId30"/>
    <p:sldId id="390" r:id="rId31"/>
    <p:sldId id="429" r:id="rId32"/>
    <p:sldId id="391" r:id="rId33"/>
    <p:sldId id="399" r:id="rId34"/>
    <p:sldId id="400" r:id="rId35"/>
    <p:sldId id="396" r:id="rId36"/>
    <p:sldId id="395" r:id="rId37"/>
    <p:sldId id="432" r:id="rId38"/>
    <p:sldId id="397" r:id="rId39"/>
    <p:sldId id="398" r:id="rId40"/>
    <p:sldId id="430" r:id="rId41"/>
    <p:sldId id="401" r:id="rId42"/>
    <p:sldId id="403" r:id="rId43"/>
    <p:sldId id="404" r:id="rId44"/>
    <p:sldId id="408" r:id="rId45"/>
    <p:sldId id="406" r:id="rId46"/>
    <p:sldId id="407" r:id="rId47"/>
    <p:sldId id="405" r:id="rId48"/>
    <p:sldId id="409" r:id="rId49"/>
    <p:sldId id="410" r:id="rId50"/>
    <p:sldId id="412" r:id="rId51"/>
    <p:sldId id="413" r:id="rId52"/>
    <p:sldId id="411" r:id="rId53"/>
    <p:sldId id="416" r:id="rId54"/>
    <p:sldId id="371" r:id="rId55"/>
    <p:sldId id="426" r:id="rId56"/>
    <p:sldId id="372" r:id="rId57"/>
  </p:sldIdLst>
  <p:sldSz cx="9144000" cy="6858000" type="screen4x3"/>
  <p:notesSz cx="6781800" cy="9880600"/>
  <p:defaultTextStyle>
    <a:defPPr>
      <a:defRPr lang="en-GB"/>
    </a:defPPr>
    <a:lvl1pPr algn="l" rtl="0" fontAlgn="base">
      <a:spcBef>
        <a:spcPct val="20000"/>
      </a:spcBef>
      <a:spcAft>
        <a:spcPct val="0"/>
      </a:spcAft>
      <a:buChar char="•"/>
      <a:defRPr sz="2000" kern="1200">
        <a:solidFill>
          <a:schemeClr val="tx1"/>
        </a:solidFill>
        <a:latin typeface="Times New Roman" pitchFamily="18" charset="0"/>
        <a:ea typeface="+mn-ea"/>
        <a:cs typeface="+mn-cs"/>
      </a:defRPr>
    </a:lvl1pPr>
    <a:lvl2pPr marL="457200" algn="l" rtl="0" fontAlgn="base">
      <a:spcBef>
        <a:spcPct val="20000"/>
      </a:spcBef>
      <a:spcAft>
        <a:spcPct val="0"/>
      </a:spcAft>
      <a:buChar char="•"/>
      <a:defRPr sz="2000" kern="1200">
        <a:solidFill>
          <a:schemeClr val="tx1"/>
        </a:solidFill>
        <a:latin typeface="Times New Roman" pitchFamily="18" charset="0"/>
        <a:ea typeface="+mn-ea"/>
        <a:cs typeface="+mn-cs"/>
      </a:defRPr>
    </a:lvl2pPr>
    <a:lvl3pPr marL="914400" algn="l" rtl="0" fontAlgn="base">
      <a:spcBef>
        <a:spcPct val="20000"/>
      </a:spcBef>
      <a:spcAft>
        <a:spcPct val="0"/>
      </a:spcAft>
      <a:buChar char="•"/>
      <a:defRPr sz="2000" kern="1200">
        <a:solidFill>
          <a:schemeClr val="tx1"/>
        </a:solidFill>
        <a:latin typeface="Times New Roman" pitchFamily="18" charset="0"/>
        <a:ea typeface="+mn-ea"/>
        <a:cs typeface="+mn-cs"/>
      </a:defRPr>
    </a:lvl3pPr>
    <a:lvl4pPr marL="1371600" algn="l" rtl="0" fontAlgn="base">
      <a:spcBef>
        <a:spcPct val="20000"/>
      </a:spcBef>
      <a:spcAft>
        <a:spcPct val="0"/>
      </a:spcAft>
      <a:buChar char="•"/>
      <a:defRPr sz="2000" kern="1200">
        <a:solidFill>
          <a:schemeClr val="tx1"/>
        </a:solidFill>
        <a:latin typeface="Times New Roman" pitchFamily="18" charset="0"/>
        <a:ea typeface="+mn-ea"/>
        <a:cs typeface="+mn-cs"/>
      </a:defRPr>
    </a:lvl4pPr>
    <a:lvl5pPr marL="1828800" algn="l" rtl="0" fontAlgn="base">
      <a:spcBef>
        <a:spcPct val="20000"/>
      </a:spcBef>
      <a:spcAft>
        <a:spcPct val="0"/>
      </a:spcAft>
      <a:buChar char="•"/>
      <a:defRPr sz="2000" kern="1200">
        <a:solidFill>
          <a:schemeClr val="tx1"/>
        </a:solidFill>
        <a:latin typeface="Times New Roman" pitchFamily="18" charset="0"/>
        <a:ea typeface="+mn-ea"/>
        <a:cs typeface="+mn-cs"/>
      </a:defRPr>
    </a:lvl5pPr>
    <a:lvl6pPr marL="2286000" algn="l" defTabSz="914400" rtl="0" eaLnBrk="1" latinLnBrk="0" hangingPunct="1">
      <a:defRPr sz="2000" kern="1200">
        <a:solidFill>
          <a:schemeClr val="tx1"/>
        </a:solidFill>
        <a:latin typeface="Times New Roman" pitchFamily="18" charset="0"/>
        <a:ea typeface="+mn-ea"/>
        <a:cs typeface="+mn-cs"/>
      </a:defRPr>
    </a:lvl6pPr>
    <a:lvl7pPr marL="2743200" algn="l" defTabSz="914400" rtl="0" eaLnBrk="1" latinLnBrk="0" hangingPunct="1">
      <a:defRPr sz="2000" kern="1200">
        <a:solidFill>
          <a:schemeClr val="tx1"/>
        </a:solidFill>
        <a:latin typeface="Times New Roman" pitchFamily="18" charset="0"/>
        <a:ea typeface="+mn-ea"/>
        <a:cs typeface="+mn-cs"/>
      </a:defRPr>
    </a:lvl7pPr>
    <a:lvl8pPr marL="3200400" algn="l" defTabSz="914400" rtl="0" eaLnBrk="1" latinLnBrk="0" hangingPunct="1">
      <a:defRPr sz="2000" kern="1200">
        <a:solidFill>
          <a:schemeClr val="tx1"/>
        </a:solidFill>
        <a:latin typeface="Times New Roman" pitchFamily="18" charset="0"/>
        <a:ea typeface="+mn-ea"/>
        <a:cs typeface="+mn-cs"/>
      </a:defRPr>
    </a:lvl8pPr>
    <a:lvl9pPr marL="3657600" algn="l" defTabSz="914400" rtl="0" eaLnBrk="1" latinLnBrk="0" hangingPunct="1">
      <a:defRPr sz="2000" kern="1200">
        <a:solidFill>
          <a:schemeClr val="tx1"/>
        </a:solidFill>
        <a:latin typeface="Times New Roman" pitchFamily="18" charset="0"/>
        <a:ea typeface="+mn-ea"/>
        <a:cs typeface="+mn-cs"/>
      </a:defRPr>
    </a:lvl9pPr>
  </p:defaultTextStyle>
  <p:extLst>
    <p:ext uri="{521415D9-36F7-43E2-AB2F-B90AF26B5E84}">
      <p14:sectionLst xmlns:p14="http://schemas.microsoft.com/office/powerpoint/2010/main">
        <p14:section name="Default Section" id="{F2F857E6-31D9-4ADC-8C17-40D213A82773}">
          <p14:sldIdLst>
            <p14:sldId id="417"/>
            <p14:sldId id="256"/>
            <p14:sldId id="376"/>
            <p14:sldId id="421"/>
            <p14:sldId id="422"/>
            <p14:sldId id="433"/>
            <p14:sldId id="423"/>
            <p14:sldId id="424"/>
            <p14:sldId id="425"/>
            <p14:sldId id="377"/>
            <p14:sldId id="427"/>
            <p14:sldId id="418"/>
            <p14:sldId id="434"/>
            <p14:sldId id="381"/>
            <p14:sldId id="419"/>
            <p14:sldId id="420"/>
            <p14:sldId id="385"/>
            <p14:sldId id="389"/>
            <p14:sldId id="386"/>
            <p14:sldId id="387"/>
            <p14:sldId id="428"/>
            <p14:sldId id="388"/>
            <p14:sldId id="347"/>
            <p14:sldId id="348"/>
            <p14:sldId id="392"/>
            <p14:sldId id="402"/>
            <p14:sldId id="346"/>
            <p14:sldId id="431"/>
            <p14:sldId id="390"/>
            <p14:sldId id="429"/>
            <p14:sldId id="391"/>
            <p14:sldId id="399"/>
            <p14:sldId id="400"/>
            <p14:sldId id="396"/>
            <p14:sldId id="395"/>
            <p14:sldId id="432"/>
            <p14:sldId id="397"/>
            <p14:sldId id="398"/>
            <p14:sldId id="430"/>
            <p14:sldId id="401"/>
            <p14:sldId id="403"/>
            <p14:sldId id="404"/>
            <p14:sldId id="408"/>
            <p14:sldId id="406"/>
            <p14:sldId id="407"/>
            <p14:sldId id="405"/>
            <p14:sldId id="409"/>
            <p14:sldId id="410"/>
            <p14:sldId id="412"/>
            <p14:sldId id="413"/>
            <p14:sldId id="411"/>
            <p14:sldId id="416"/>
          </p14:sldIdLst>
        </p14:section>
        <p14:section name="Untitled Section" id="{30428B32-0BF4-4719-99B1-6BFE77BBFA11}">
          <p14:sldIdLst>
            <p14:sldId id="371"/>
            <p14:sldId id="426"/>
            <p14:sldId id="37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33"/>
    <a:srgbClr val="FF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8E79F4-B9E4-4950-BE80-602773A91BC4}" v="99" dt="2024-09-23T10:50:02.2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99" autoAdjust="0"/>
    <p:restoredTop sz="94672" autoAdjust="0"/>
  </p:normalViewPr>
  <p:slideViewPr>
    <p:cSldViewPr>
      <p:cViewPr varScale="1">
        <p:scale>
          <a:sx n="118" d="100"/>
          <a:sy n="118" d="100"/>
        </p:scale>
        <p:origin x="173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se Delfgaauw" userId="fd3d8aa1-499c-4f5d-a891-5d47932236d0" providerId="ADAL" clId="{00BF0AA5-7CF0-4C61-8B69-3DFF6CCD116C}"/>
    <pc:docChg chg="undo redo custSel addSld delSld modSld modSection">
      <pc:chgData name="Josse Delfgaauw" userId="fd3d8aa1-499c-4f5d-a891-5d47932236d0" providerId="ADAL" clId="{00BF0AA5-7CF0-4C61-8B69-3DFF6CCD116C}" dt="2022-09-19T12:38:23.384" v="133" actId="20577"/>
      <pc:docMkLst>
        <pc:docMk/>
      </pc:docMkLst>
      <pc:sldChg chg="modSp mod">
        <pc:chgData name="Josse Delfgaauw" userId="fd3d8aa1-499c-4f5d-a891-5d47932236d0" providerId="ADAL" clId="{00BF0AA5-7CF0-4C61-8B69-3DFF6CCD116C}" dt="2022-09-19T07:15:04.581" v="105" actId="14100"/>
        <pc:sldMkLst>
          <pc:docMk/>
          <pc:sldMk cId="0" sldId="376"/>
        </pc:sldMkLst>
        <pc:spChg chg="mod">
          <ac:chgData name="Josse Delfgaauw" userId="fd3d8aa1-499c-4f5d-a891-5d47932236d0" providerId="ADAL" clId="{00BF0AA5-7CF0-4C61-8B69-3DFF6CCD116C}" dt="2022-09-19T07:15:04.581" v="105" actId="14100"/>
          <ac:spMkLst>
            <pc:docMk/>
            <pc:sldMk cId="0" sldId="376"/>
            <ac:spMk id="198659" creationId="{00000000-0000-0000-0000-000000000000}"/>
          </ac:spMkLst>
        </pc:spChg>
      </pc:sldChg>
      <pc:sldChg chg="modSp modAnim">
        <pc:chgData name="Josse Delfgaauw" userId="fd3d8aa1-499c-4f5d-a891-5d47932236d0" providerId="ADAL" clId="{00BF0AA5-7CF0-4C61-8B69-3DFF6CCD116C}" dt="2022-09-16T10:19:50.273" v="16"/>
        <pc:sldMkLst>
          <pc:docMk/>
          <pc:sldMk cId="0" sldId="385"/>
        </pc:sldMkLst>
        <pc:spChg chg="mod">
          <ac:chgData name="Josse Delfgaauw" userId="fd3d8aa1-499c-4f5d-a891-5d47932236d0" providerId="ADAL" clId="{00BF0AA5-7CF0-4C61-8B69-3DFF6CCD116C}" dt="2022-09-16T10:18:23.319" v="11" actId="404"/>
          <ac:spMkLst>
            <pc:docMk/>
            <pc:sldMk cId="0" sldId="385"/>
            <ac:spMk id="207875" creationId="{00000000-0000-0000-0000-000000000000}"/>
          </ac:spMkLst>
        </pc:spChg>
      </pc:sldChg>
      <pc:sldChg chg="modSp">
        <pc:chgData name="Josse Delfgaauw" userId="fd3d8aa1-499c-4f5d-a891-5d47932236d0" providerId="ADAL" clId="{00BF0AA5-7CF0-4C61-8B69-3DFF6CCD116C}" dt="2022-09-19T12:27:13.370" v="119" actId="20577"/>
        <pc:sldMkLst>
          <pc:docMk/>
          <pc:sldMk cId="0" sldId="390"/>
        </pc:sldMkLst>
        <pc:spChg chg="mod">
          <ac:chgData name="Josse Delfgaauw" userId="fd3d8aa1-499c-4f5d-a891-5d47932236d0" providerId="ADAL" clId="{00BF0AA5-7CF0-4C61-8B69-3DFF6CCD116C}" dt="2022-09-19T12:27:13.370" v="119" actId="20577"/>
          <ac:spMkLst>
            <pc:docMk/>
            <pc:sldMk cId="0" sldId="390"/>
            <ac:spMk id="219139" creationId="{00000000-0000-0000-0000-000000000000}"/>
          </ac:spMkLst>
        </pc:spChg>
      </pc:sldChg>
      <pc:sldChg chg="modSp mod">
        <pc:chgData name="Josse Delfgaauw" userId="fd3d8aa1-499c-4f5d-a891-5d47932236d0" providerId="ADAL" clId="{00BF0AA5-7CF0-4C61-8B69-3DFF6CCD116C}" dt="2022-09-16T12:16:08.531" v="67" actId="20577"/>
        <pc:sldMkLst>
          <pc:docMk/>
          <pc:sldMk cId="0" sldId="401"/>
        </pc:sldMkLst>
        <pc:spChg chg="mod">
          <ac:chgData name="Josse Delfgaauw" userId="fd3d8aa1-499c-4f5d-a891-5d47932236d0" providerId="ADAL" clId="{00BF0AA5-7CF0-4C61-8B69-3DFF6CCD116C}" dt="2022-09-16T12:16:08.531" v="67" actId="20577"/>
          <ac:spMkLst>
            <pc:docMk/>
            <pc:sldMk cId="0" sldId="401"/>
            <ac:spMk id="236546" creationId="{00000000-0000-0000-0000-000000000000}"/>
          </ac:spMkLst>
        </pc:spChg>
        <pc:spChg chg="mod">
          <ac:chgData name="Josse Delfgaauw" userId="fd3d8aa1-499c-4f5d-a891-5d47932236d0" providerId="ADAL" clId="{00BF0AA5-7CF0-4C61-8B69-3DFF6CCD116C}" dt="2022-09-16T12:15:48.620" v="51" actId="14100"/>
          <ac:spMkLst>
            <pc:docMk/>
            <pc:sldMk cId="0" sldId="401"/>
            <ac:spMk id="236547" creationId="{00000000-0000-0000-0000-000000000000}"/>
          </ac:spMkLst>
        </pc:spChg>
      </pc:sldChg>
      <pc:sldChg chg="modSp mod">
        <pc:chgData name="Josse Delfgaauw" userId="fd3d8aa1-499c-4f5d-a891-5d47932236d0" providerId="ADAL" clId="{00BF0AA5-7CF0-4C61-8B69-3DFF6CCD116C}" dt="2022-09-16T12:12:34.154" v="22"/>
        <pc:sldMkLst>
          <pc:docMk/>
          <pc:sldMk cId="0" sldId="402"/>
        </pc:sldMkLst>
        <pc:spChg chg="mod">
          <ac:chgData name="Josse Delfgaauw" userId="fd3d8aa1-499c-4f5d-a891-5d47932236d0" providerId="ADAL" clId="{00BF0AA5-7CF0-4C61-8B69-3DFF6CCD116C}" dt="2022-09-16T12:12:34.154" v="22"/>
          <ac:spMkLst>
            <pc:docMk/>
            <pc:sldMk cId="0" sldId="402"/>
            <ac:spMk id="237570" creationId="{00000000-0000-0000-0000-000000000000}"/>
          </ac:spMkLst>
        </pc:spChg>
      </pc:sldChg>
      <pc:sldChg chg="modSp mod">
        <pc:chgData name="Josse Delfgaauw" userId="fd3d8aa1-499c-4f5d-a891-5d47932236d0" providerId="ADAL" clId="{00BF0AA5-7CF0-4C61-8B69-3DFF6CCD116C}" dt="2022-09-19T12:38:23.384" v="133" actId="20577"/>
        <pc:sldMkLst>
          <pc:docMk/>
          <pc:sldMk cId="1485312021" sldId="426"/>
        </pc:sldMkLst>
        <pc:spChg chg="mod">
          <ac:chgData name="Josse Delfgaauw" userId="fd3d8aa1-499c-4f5d-a891-5d47932236d0" providerId="ADAL" clId="{00BF0AA5-7CF0-4C61-8B69-3DFF6CCD116C}" dt="2022-09-19T12:38:23.384" v="133" actId="20577"/>
          <ac:spMkLst>
            <pc:docMk/>
            <pc:sldMk cId="1485312021" sldId="426"/>
            <ac:spMk id="191490" creationId="{00000000-0000-0000-0000-000000000000}"/>
          </ac:spMkLst>
        </pc:spChg>
      </pc:sldChg>
      <pc:sldChg chg="modSp">
        <pc:chgData name="Josse Delfgaauw" userId="fd3d8aa1-499c-4f5d-a891-5d47932236d0" providerId="ADAL" clId="{00BF0AA5-7CF0-4C61-8B69-3DFF6CCD116C}" dt="2022-09-19T12:27:05.895" v="112" actId="20577"/>
        <pc:sldMkLst>
          <pc:docMk/>
          <pc:sldMk cId="2283318088" sldId="431"/>
        </pc:sldMkLst>
        <pc:spChg chg="mod">
          <ac:chgData name="Josse Delfgaauw" userId="fd3d8aa1-499c-4f5d-a891-5d47932236d0" providerId="ADAL" clId="{00BF0AA5-7CF0-4C61-8B69-3DFF6CCD116C}" dt="2022-09-19T12:27:05.895" v="112" actId="20577"/>
          <ac:spMkLst>
            <pc:docMk/>
            <pc:sldMk cId="2283318088" sldId="431"/>
            <ac:spMk id="160771" creationId="{00000000-0000-0000-0000-000000000000}"/>
          </ac:spMkLst>
        </pc:spChg>
      </pc:sldChg>
      <pc:sldChg chg="modSp add del modAnim">
        <pc:chgData name="Josse Delfgaauw" userId="fd3d8aa1-499c-4f5d-a891-5d47932236d0" providerId="ADAL" clId="{00BF0AA5-7CF0-4C61-8B69-3DFF6CCD116C}" dt="2022-09-16T10:20:00.318" v="19" actId="2890"/>
        <pc:sldMkLst>
          <pc:docMk/>
          <pc:sldMk cId="1260571684" sldId="433"/>
        </pc:sldMkLst>
        <pc:spChg chg="mod">
          <ac:chgData name="Josse Delfgaauw" userId="fd3d8aa1-499c-4f5d-a891-5d47932236d0" providerId="ADAL" clId="{00BF0AA5-7CF0-4C61-8B69-3DFF6CCD116C}" dt="2022-09-16T10:18:51.582" v="13" actId="6549"/>
          <ac:spMkLst>
            <pc:docMk/>
            <pc:sldMk cId="1260571684" sldId="433"/>
            <ac:spMk id="207875" creationId="{00000000-0000-0000-0000-000000000000}"/>
          </ac:spMkLst>
        </pc:spChg>
      </pc:sldChg>
    </pc:docChg>
  </pc:docChgLst>
  <pc:docChgLst>
    <pc:chgData name="Josse Delfgaauw" userId="fd3d8aa1-499c-4f5d-a891-5d47932236d0" providerId="ADAL" clId="{0D61627D-40BA-42E5-8FA3-C3DA17F7C914}"/>
    <pc:docChg chg="modSld">
      <pc:chgData name="Josse Delfgaauw" userId="fd3d8aa1-499c-4f5d-a891-5d47932236d0" providerId="ADAL" clId="{0D61627D-40BA-42E5-8FA3-C3DA17F7C914}" dt="2023-09-26T10:54:11.160" v="0" actId="1076"/>
      <pc:docMkLst>
        <pc:docMk/>
      </pc:docMkLst>
      <pc:sldChg chg="modSp mod">
        <pc:chgData name="Josse Delfgaauw" userId="fd3d8aa1-499c-4f5d-a891-5d47932236d0" providerId="ADAL" clId="{0D61627D-40BA-42E5-8FA3-C3DA17F7C914}" dt="2023-09-26T10:54:11.160" v="0" actId="1076"/>
        <pc:sldMkLst>
          <pc:docMk/>
          <pc:sldMk cId="0" sldId="417"/>
        </pc:sldMkLst>
        <pc:spChg chg="mod">
          <ac:chgData name="Josse Delfgaauw" userId="fd3d8aa1-499c-4f5d-a891-5d47932236d0" providerId="ADAL" clId="{0D61627D-40BA-42E5-8FA3-C3DA17F7C914}" dt="2023-09-26T10:54:11.160" v="0" actId="1076"/>
          <ac:spMkLst>
            <pc:docMk/>
            <pc:sldMk cId="0" sldId="417"/>
            <ac:spMk id="5" creationId="{00000000-0000-0000-0000-000000000000}"/>
          </ac:spMkLst>
        </pc:spChg>
      </pc:sldChg>
    </pc:docChg>
  </pc:docChgLst>
  <pc:docChgLst>
    <pc:chgData name="Josse Delfgaauw" userId="fd3d8aa1-499c-4f5d-a891-5d47932236d0" providerId="ADAL" clId="{E88E79F4-B9E4-4950-BE80-602773A91BC4}"/>
    <pc:docChg chg="undo custSel addSld delSld modSld sldOrd modSection">
      <pc:chgData name="Josse Delfgaauw" userId="fd3d8aa1-499c-4f5d-a891-5d47932236d0" providerId="ADAL" clId="{E88E79F4-B9E4-4950-BE80-602773A91BC4}" dt="2024-09-23T10:49:50.134" v="474" actId="20577"/>
      <pc:docMkLst>
        <pc:docMk/>
      </pc:docMkLst>
      <pc:sldChg chg="modSp mod">
        <pc:chgData name="Josse Delfgaauw" userId="fd3d8aa1-499c-4f5d-a891-5d47932236d0" providerId="ADAL" clId="{E88E79F4-B9E4-4950-BE80-602773A91BC4}" dt="2024-09-23T10:36:40.352" v="396" actId="6549"/>
        <pc:sldMkLst>
          <pc:docMk/>
          <pc:sldMk cId="0" sldId="346"/>
        </pc:sldMkLst>
        <pc:spChg chg="mod">
          <ac:chgData name="Josse Delfgaauw" userId="fd3d8aa1-499c-4f5d-a891-5d47932236d0" providerId="ADAL" clId="{E88E79F4-B9E4-4950-BE80-602773A91BC4}" dt="2024-09-23T10:36:40.352" v="396" actId="6549"/>
          <ac:spMkLst>
            <pc:docMk/>
            <pc:sldMk cId="0" sldId="346"/>
            <ac:spMk id="160771" creationId="{00000000-0000-0000-0000-000000000000}"/>
          </ac:spMkLst>
        </pc:spChg>
      </pc:sldChg>
      <pc:sldChg chg="modSp">
        <pc:chgData name="Josse Delfgaauw" userId="fd3d8aa1-499c-4f5d-a891-5d47932236d0" providerId="ADAL" clId="{E88E79F4-B9E4-4950-BE80-602773A91BC4}" dt="2024-09-23T08:48:06.238" v="158" actId="20577"/>
        <pc:sldMkLst>
          <pc:docMk/>
          <pc:sldMk cId="0" sldId="348"/>
        </pc:sldMkLst>
        <pc:spChg chg="mod">
          <ac:chgData name="Josse Delfgaauw" userId="fd3d8aa1-499c-4f5d-a891-5d47932236d0" providerId="ADAL" clId="{E88E79F4-B9E4-4950-BE80-602773A91BC4}" dt="2024-09-23T08:48:06.238" v="158" actId="20577"/>
          <ac:spMkLst>
            <pc:docMk/>
            <pc:sldMk cId="0" sldId="348"/>
            <ac:spMk id="162819" creationId="{00000000-0000-0000-0000-000000000000}"/>
          </ac:spMkLst>
        </pc:spChg>
      </pc:sldChg>
      <pc:sldChg chg="modSp modAnim">
        <pc:chgData name="Josse Delfgaauw" userId="fd3d8aa1-499c-4f5d-a891-5d47932236d0" providerId="ADAL" clId="{E88E79F4-B9E4-4950-BE80-602773A91BC4}" dt="2024-09-23T09:35:43.796" v="276" actId="20577"/>
        <pc:sldMkLst>
          <pc:docMk/>
          <pc:sldMk cId="0" sldId="377"/>
        </pc:sldMkLst>
        <pc:spChg chg="mod">
          <ac:chgData name="Josse Delfgaauw" userId="fd3d8aa1-499c-4f5d-a891-5d47932236d0" providerId="ADAL" clId="{E88E79F4-B9E4-4950-BE80-602773A91BC4}" dt="2024-09-23T09:35:43.796" v="276" actId="20577"/>
          <ac:spMkLst>
            <pc:docMk/>
            <pc:sldMk cId="0" sldId="377"/>
            <ac:spMk id="199683" creationId="{00000000-0000-0000-0000-000000000000}"/>
          </ac:spMkLst>
        </pc:spChg>
      </pc:sldChg>
      <pc:sldChg chg="modSp">
        <pc:chgData name="Josse Delfgaauw" userId="fd3d8aa1-499c-4f5d-a891-5d47932236d0" providerId="ADAL" clId="{E88E79F4-B9E4-4950-BE80-602773A91BC4}" dt="2024-09-23T10:36:55.064" v="404" actId="20577"/>
        <pc:sldMkLst>
          <pc:docMk/>
          <pc:sldMk cId="0" sldId="390"/>
        </pc:sldMkLst>
        <pc:spChg chg="mod">
          <ac:chgData name="Josse Delfgaauw" userId="fd3d8aa1-499c-4f5d-a891-5d47932236d0" providerId="ADAL" clId="{E88E79F4-B9E4-4950-BE80-602773A91BC4}" dt="2024-09-23T10:36:55.064" v="404" actId="20577"/>
          <ac:spMkLst>
            <pc:docMk/>
            <pc:sldMk cId="0" sldId="390"/>
            <ac:spMk id="219139" creationId="{00000000-0000-0000-0000-000000000000}"/>
          </ac:spMkLst>
        </pc:spChg>
      </pc:sldChg>
      <pc:sldChg chg="modSp">
        <pc:chgData name="Josse Delfgaauw" userId="fd3d8aa1-499c-4f5d-a891-5d47932236d0" providerId="ADAL" clId="{E88E79F4-B9E4-4950-BE80-602773A91BC4}" dt="2024-09-23T08:59:42.458" v="162" actId="20577"/>
        <pc:sldMkLst>
          <pc:docMk/>
          <pc:sldMk cId="0" sldId="392"/>
        </pc:sldMkLst>
        <pc:spChg chg="mod">
          <ac:chgData name="Josse Delfgaauw" userId="fd3d8aa1-499c-4f5d-a891-5d47932236d0" providerId="ADAL" clId="{E88E79F4-B9E4-4950-BE80-602773A91BC4}" dt="2024-09-23T08:59:42.458" v="162" actId="20577"/>
          <ac:spMkLst>
            <pc:docMk/>
            <pc:sldMk cId="0" sldId="392"/>
            <ac:spMk id="221186" creationId="{00000000-0000-0000-0000-000000000000}"/>
          </ac:spMkLst>
        </pc:spChg>
      </pc:sldChg>
      <pc:sldChg chg="modSp">
        <pc:chgData name="Josse Delfgaauw" userId="fd3d8aa1-499c-4f5d-a891-5d47932236d0" providerId="ADAL" clId="{E88E79F4-B9E4-4950-BE80-602773A91BC4}" dt="2024-09-23T08:45:37.868" v="137" actId="20577"/>
        <pc:sldMkLst>
          <pc:docMk/>
          <pc:sldMk cId="0" sldId="401"/>
        </pc:sldMkLst>
        <pc:spChg chg="mod">
          <ac:chgData name="Josse Delfgaauw" userId="fd3d8aa1-499c-4f5d-a891-5d47932236d0" providerId="ADAL" clId="{E88E79F4-B9E4-4950-BE80-602773A91BC4}" dt="2024-09-23T08:45:37.868" v="137" actId="20577"/>
          <ac:spMkLst>
            <pc:docMk/>
            <pc:sldMk cId="0" sldId="401"/>
            <ac:spMk id="236546" creationId="{00000000-0000-0000-0000-000000000000}"/>
          </ac:spMkLst>
        </pc:spChg>
      </pc:sldChg>
      <pc:sldChg chg="modSp mod">
        <pc:chgData name="Josse Delfgaauw" userId="fd3d8aa1-499c-4f5d-a891-5d47932236d0" providerId="ADAL" clId="{E88E79F4-B9E4-4950-BE80-602773A91BC4}" dt="2024-09-19T07:33:29.097" v="126" actId="20577"/>
        <pc:sldMkLst>
          <pc:docMk/>
          <pc:sldMk cId="0" sldId="402"/>
        </pc:sldMkLst>
        <pc:spChg chg="mod">
          <ac:chgData name="Josse Delfgaauw" userId="fd3d8aa1-499c-4f5d-a891-5d47932236d0" providerId="ADAL" clId="{E88E79F4-B9E4-4950-BE80-602773A91BC4}" dt="2024-09-19T07:33:29.097" v="126" actId="20577"/>
          <ac:spMkLst>
            <pc:docMk/>
            <pc:sldMk cId="0" sldId="402"/>
            <ac:spMk id="237570" creationId="{00000000-0000-0000-0000-000000000000}"/>
          </ac:spMkLst>
        </pc:spChg>
      </pc:sldChg>
      <pc:sldChg chg="ord">
        <pc:chgData name="Josse Delfgaauw" userId="fd3d8aa1-499c-4f5d-a891-5d47932236d0" providerId="ADAL" clId="{E88E79F4-B9E4-4950-BE80-602773A91BC4}" dt="2024-09-23T09:32:40" v="207"/>
        <pc:sldMkLst>
          <pc:docMk/>
          <pc:sldMk cId="0" sldId="418"/>
        </pc:sldMkLst>
      </pc:sldChg>
      <pc:sldChg chg="addSp delSp modSp mod">
        <pc:chgData name="Josse Delfgaauw" userId="fd3d8aa1-499c-4f5d-a891-5d47932236d0" providerId="ADAL" clId="{E88E79F4-B9E4-4950-BE80-602773A91BC4}" dt="2024-09-23T10:30:17.414" v="390" actId="5793"/>
        <pc:sldMkLst>
          <pc:docMk/>
          <pc:sldMk cId="2386104084" sldId="424"/>
        </pc:sldMkLst>
        <pc:spChg chg="mod">
          <ac:chgData name="Josse Delfgaauw" userId="fd3d8aa1-499c-4f5d-a891-5d47932236d0" providerId="ADAL" clId="{E88E79F4-B9E4-4950-BE80-602773A91BC4}" dt="2024-09-23T10:30:17.414" v="390" actId="5793"/>
          <ac:spMkLst>
            <pc:docMk/>
            <pc:sldMk cId="2386104084" sldId="424"/>
            <ac:spMk id="198659" creationId="{00000000-0000-0000-0000-000000000000}"/>
          </ac:spMkLst>
        </pc:spChg>
        <pc:picChg chg="del">
          <ac:chgData name="Josse Delfgaauw" userId="fd3d8aa1-499c-4f5d-a891-5d47932236d0" providerId="ADAL" clId="{E88E79F4-B9E4-4950-BE80-602773A91BC4}" dt="2024-09-23T10:23:16.560" v="277" actId="478"/>
          <ac:picMkLst>
            <pc:docMk/>
            <pc:sldMk cId="2386104084" sldId="424"/>
            <ac:picMk id="2" creationId="{00000000-0000-0000-0000-000000000000}"/>
          </ac:picMkLst>
        </pc:picChg>
        <pc:picChg chg="add mod">
          <ac:chgData name="Josse Delfgaauw" userId="fd3d8aa1-499c-4f5d-a891-5d47932236d0" providerId="ADAL" clId="{E88E79F4-B9E4-4950-BE80-602773A91BC4}" dt="2024-09-23T10:23:28.059" v="281" actId="1076"/>
          <ac:picMkLst>
            <pc:docMk/>
            <pc:sldMk cId="2386104084" sldId="424"/>
            <ac:picMk id="3" creationId="{F98329EF-FFBD-6DAD-E7DE-54584A711D19}"/>
          </ac:picMkLst>
        </pc:picChg>
      </pc:sldChg>
      <pc:sldChg chg="addSp delSp modSp mod">
        <pc:chgData name="Josse Delfgaauw" userId="fd3d8aa1-499c-4f5d-a891-5d47932236d0" providerId="ADAL" clId="{E88E79F4-B9E4-4950-BE80-602773A91BC4}" dt="2024-09-23T10:30:32.745" v="392" actId="1076"/>
        <pc:sldMkLst>
          <pc:docMk/>
          <pc:sldMk cId="3624295518" sldId="425"/>
        </pc:sldMkLst>
        <pc:spChg chg="mod">
          <ac:chgData name="Josse Delfgaauw" userId="fd3d8aa1-499c-4f5d-a891-5d47932236d0" providerId="ADAL" clId="{E88E79F4-B9E4-4950-BE80-602773A91BC4}" dt="2024-09-23T10:29:45.899" v="385" actId="20577"/>
          <ac:spMkLst>
            <pc:docMk/>
            <pc:sldMk cId="3624295518" sldId="425"/>
            <ac:spMk id="198659" creationId="{00000000-0000-0000-0000-000000000000}"/>
          </ac:spMkLst>
        </pc:spChg>
        <pc:picChg chg="add mod">
          <ac:chgData name="Josse Delfgaauw" userId="fd3d8aa1-499c-4f5d-a891-5d47932236d0" providerId="ADAL" clId="{E88E79F4-B9E4-4950-BE80-602773A91BC4}" dt="2024-09-23T10:30:32.745" v="392" actId="1076"/>
          <ac:picMkLst>
            <pc:docMk/>
            <pc:sldMk cId="3624295518" sldId="425"/>
            <ac:picMk id="2" creationId="{795C7924-B416-FD83-C1B6-14667D4FC3B0}"/>
          </ac:picMkLst>
        </pc:picChg>
        <pc:picChg chg="del">
          <ac:chgData name="Josse Delfgaauw" userId="fd3d8aa1-499c-4f5d-a891-5d47932236d0" providerId="ADAL" clId="{E88E79F4-B9E4-4950-BE80-602773A91BC4}" dt="2024-09-23T10:27:29.339" v="284" actId="478"/>
          <ac:picMkLst>
            <pc:docMk/>
            <pc:sldMk cId="3624295518" sldId="425"/>
            <ac:picMk id="3" creationId="{00000000-0000-0000-0000-000000000000}"/>
          </ac:picMkLst>
        </pc:picChg>
      </pc:sldChg>
      <pc:sldChg chg="addSp delSp modSp mod">
        <pc:chgData name="Josse Delfgaauw" userId="fd3d8aa1-499c-4f5d-a891-5d47932236d0" providerId="ADAL" clId="{E88E79F4-B9E4-4950-BE80-602773A91BC4}" dt="2024-09-23T09:27:20.939" v="177" actId="478"/>
        <pc:sldMkLst>
          <pc:docMk/>
          <pc:sldMk cId="3483770220" sldId="427"/>
        </pc:sldMkLst>
        <pc:spChg chg="add del mod">
          <ac:chgData name="Josse Delfgaauw" userId="fd3d8aa1-499c-4f5d-a891-5d47932236d0" providerId="ADAL" clId="{E88E79F4-B9E4-4950-BE80-602773A91BC4}" dt="2024-09-23T09:27:20.939" v="177" actId="478"/>
          <ac:spMkLst>
            <pc:docMk/>
            <pc:sldMk cId="3483770220" sldId="427"/>
            <ac:spMk id="2" creationId="{B59C3A4D-E381-5838-2717-A602B42D0175}"/>
          </ac:spMkLst>
        </pc:spChg>
        <pc:picChg chg="mod">
          <ac:chgData name="Josse Delfgaauw" userId="fd3d8aa1-499c-4f5d-a891-5d47932236d0" providerId="ADAL" clId="{E88E79F4-B9E4-4950-BE80-602773A91BC4}" dt="2024-09-23T09:27:10.926" v="175" actId="1076"/>
          <ac:picMkLst>
            <pc:docMk/>
            <pc:sldMk cId="3483770220" sldId="427"/>
            <ac:picMk id="8" creationId="{C57B6249-9199-AF3A-D67B-16FD199FA62F}"/>
          </ac:picMkLst>
        </pc:picChg>
      </pc:sldChg>
      <pc:sldChg chg="modSp mod">
        <pc:chgData name="Josse Delfgaauw" userId="fd3d8aa1-499c-4f5d-a891-5d47932236d0" providerId="ADAL" clId="{E88E79F4-B9E4-4950-BE80-602773A91BC4}" dt="2024-09-23T10:37:34.250" v="436" actId="6549"/>
        <pc:sldMkLst>
          <pc:docMk/>
          <pc:sldMk cId="3555982878" sldId="429"/>
        </pc:sldMkLst>
        <pc:spChg chg="mod">
          <ac:chgData name="Josse Delfgaauw" userId="fd3d8aa1-499c-4f5d-a891-5d47932236d0" providerId="ADAL" clId="{E88E79F4-B9E4-4950-BE80-602773A91BC4}" dt="2024-09-23T10:37:34.250" v="436" actId="6549"/>
          <ac:spMkLst>
            <pc:docMk/>
            <pc:sldMk cId="3555982878" sldId="429"/>
            <ac:spMk id="220163" creationId="{00000000-0000-0000-0000-000000000000}"/>
          </ac:spMkLst>
        </pc:spChg>
      </pc:sldChg>
      <pc:sldChg chg="modSp">
        <pc:chgData name="Josse Delfgaauw" userId="fd3d8aa1-499c-4f5d-a891-5d47932236d0" providerId="ADAL" clId="{E88E79F4-B9E4-4950-BE80-602773A91BC4}" dt="2024-09-23T10:37:20.962" v="408" actId="20577"/>
        <pc:sldMkLst>
          <pc:docMk/>
          <pc:sldMk cId="2283318088" sldId="431"/>
        </pc:sldMkLst>
        <pc:spChg chg="mod">
          <ac:chgData name="Josse Delfgaauw" userId="fd3d8aa1-499c-4f5d-a891-5d47932236d0" providerId="ADAL" clId="{E88E79F4-B9E4-4950-BE80-602773A91BC4}" dt="2024-09-23T10:37:20.962" v="408" actId="20577"/>
          <ac:spMkLst>
            <pc:docMk/>
            <pc:sldMk cId="2283318088" sldId="431"/>
            <ac:spMk id="160771" creationId="{00000000-0000-0000-0000-000000000000}"/>
          </ac:spMkLst>
        </pc:spChg>
      </pc:sldChg>
      <pc:sldChg chg="modSp mod">
        <pc:chgData name="Josse Delfgaauw" userId="fd3d8aa1-499c-4f5d-a891-5d47932236d0" providerId="ADAL" clId="{E88E79F4-B9E4-4950-BE80-602773A91BC4}" dt="2024-09-23T10:49:50.134" v="474" actId="20577"/>
        <pc:sldMkLst>
          <pc:docMk/>
          <pc:sldMk cId="3456327880" sldId="433"/>
        </pc:sldMkLst>
        <pc:spChg chg="mod">
          <ac:chgData name="Josse Delfgaauw" userId="fd3d8aa1-499c-4f5d-a891-5d47932236d0" providerId="ADAL" clId="{E88E79F4-B9E4-4950-BE80-602773A91BC4}" dt="2024-09-23T10:49:50.134" v="474" actId="20577"/>
          <ac:spMkLst>
            <pc:docMk/>
            <pc:sldMk cId="3456327880" sldId="433"/>
            <ac:spMk id="198659" creationId="{00000000-0000-0000-0000-000000000000}"/>
          </ac:spMkLst>
        </pc:spChg>
      </pc:sldChg>
      <pc:sldChg chg="addSp delSp modSp add del mod">
        <pc:chgData name="Josse Delfgaauw" userId="fd3d8aa1-499c-4f5d-a891-5d47932236d0" providerId="ADAL" clId="{E88E79F4-B9E4-4950-BE80-602773A91BC4}" dt="2024-09-23T09:35:02.272" v="234" actId="20577"/>
        <pc:sldMkLst>
          <pc:docMk/>
          <pc:sldMk cId="3650974998" sldId="434"/>
        </pc:sldMkLst>
        <pc:spChg chg="add mod">
          <ac:chgData name="Josse Delfgaauw" userId="fd3d8aa1-499c-4f5d-a891-5d47932236d0" providerId="ADAL" clId="{E88E79F4-B9E4-4950-BE80-602773A91BC4}" dt="2024-09-23T09:34:46.355" v="226" actId="20577"/>
          <ac:spMkLst>
            <pc:docMk/>
            <pc:sldMk cId="3650974998" sldId="434"/>
            <ac:spMk id="5" creationId="{2D0C81D1-CF93-B567-4DFD-6101C2E8F0E1}"/>
          </ac:spMkLst>
        </pc:spChg>
        <pc:spChg chg="del">
          <ac:chgData name="Josse Delfgaauw" userId="fd3d8aa1-499c-4f5d-a891-5d47932236d0" providerId="ADAL" clId="{E88E79F4-B9E4-4950-BE80-602773A91BC4}" dt="2024-09-23T09:29:08.209" v="182" actId="478"/>
          <ac:spMkLst>
            <pc:docMk/>
            <pc:sldMk cId="3650974998" sldId="434"/>
            <ac:spMk id="6" creationId="{00000000-0000-0000-0000-000000000000}"/>
          </ac:spMkLst>
        </pc:spChg>
        <pc:spChg chg="add mod">
          <ac:chgData name="Josse Delfgaauw" userId="fd3d8aa1-499c-4f5d-a891-5d47932236d0" providerId="ADAL" clId="{E88E79F4-B9E4-4950-BE80-602773A91BC4}" dt="2024-09-23T09:35:02.272" v="234" actId="20577"/>
          <ac:spMkLst>
            <pc:docMk/>
            <pc:sldMk cId="3650974998" sldId="434"/>
            <ac:spMk id="7" creationId="{358ED675-A5D8-3E94-57E1-4D1F6A6BD502}"/>
          </ac:spMkLst>
        </pc:spChg>
        <pc:picChg chg="add mod">
          <ac:chgData name="Josse Delfgaauw" userId="fd3d8aa1-499c-4f5d-a891-5d47932236d0" providerId="ADAL" clId="{E88E79F4-B9E4-4950-BE80-602773A91BC4}" dt="2024-09-23T09:34:17.045" v="212" actId="14100"/>
          <ac:picMkLst>
            <pc:docMk/>
            <pc:sldMk cId="3650974998" sldId="434"/>
            <ac:picMk id="2" creationId="{667E5D11-E810-D042-A8C1-F50BF3151E3F}"/>
          </ac:picMkLst>
        </pc:picChg>
        <pc:picChg chg="add mod">
          <ac:chgData name="Josse Delfgaauw" userId="fd3d8aa1-499c-4f5d-a891-5d47932236d0" providerId="ADAL" clId="{E88E79F4-B9E4-4950-BE80-602773A91BC4}" dt="2024-09-23T09:34:30.093" v="214" actId="1076"/>
          <ac:picMkLst>
            <pc:docMk/>
            <pc:sldMk cId="3650974998" sldId="434"/>
            <ac:picMk id="3" creationId="{F6D721B0-5B15-3932-19DF-FF9274457761}"/>
          </ac:picMkLst>
        </pc:picChg>
        <pc:picChg chg="del">
          <ac:chgData name="Josse Delfgaauw" userId="fd3d8aa1-499c-4f5d-a891-5d47932236d0" providerId="ADAL" clId="{E88E79F4-B9E4-4950-BE80-602773A91BC4}" dt="2024-09-23T09:29:04.992" v="181" actId="478"/>
          <ac:picMkLst>
            <pc:docMk/>
            <pc:sldMk cId="3650974998" sldId="434"/>
            <ac:picMk id="8" creationId="{C57B6249-9199-AF3A-D67B-16FD199FA62F}"/>
          </ac:picMkLst>
        </pc:picChg>
      </pc:sldChg>
    </pc:docChg>
  </pc:docChgLst>
  <pc:docChgLst>
    <pc:chgData name="Josse Delfgaauw" userId="fd3d8aa1-499c-4f5d-a891-5d47932236d0" providerId="ADAL" clId="{77C535E0-1325-4E8F-842F-8E1CE7E2B0BC}"/>
    <pc:docChg chg="undo custSel addSld modSld sldOrd modSection">
      <pc:chgData name="Josse Delfgaauw" userId="fd3d8aa1-499c-4f5d-a891-5d47932236d0" providerId="ADAL" clId="{77C535E0-1325-4E8F-842F-8E1CE7E2B0BC}" dt="2021-09-17T13:04:54.340" v="1555" actId="6549"/>
      <pc:docMkLst>
        <pc:docMk/>
      </pc:docMkLst>
      <pc:sldChg chg="modSp modAnim">
        <pc:chgData name="Josse Delfgaauw" userId="fd3d8aa1-499c-4f5d-a891-5d47932236d0" providerId="ADAL" clId="{77C535E0-1325-4E8F-842F-8E1CE7E2B0BC}" dt="2021-09-17T13:03:55.330" v="1553" actId="6549"/>
        <pc:sldMkLst>
          <pc:docMk/>
          <pc:sldMk cId="0" sldId="256"/>
        </pc:sldMkLst>
        <pc:spChg chg="mod">
          <ac:chgData name="Josse Delfgaauw" userId="fd3d8aa1-499c-4f5d-a891-5d47932236d0" providerId="ADAL" clId="{77C535E0-1325-4E8F-842F-8E1CE7E2B0BC}" dt="2021-09-17T13:03:55.330" v="1553" actId="6549"/>
          <ac:spMkLst>
            <pc:docMk/>
            <pc:sldMk cId="0" sldId="256"/>
            <ac:spMk id="2051" creationId="{00000000-0000-0000-0000-000000000000}"/>
          </ac:spMkLst>
        </pc:spChg>
      </pc:sldChg>
      <pc:sldChg chg="modSp modAnim">
        <pc:chgData name="Josse Delfgaauw" userId="fd3d8aa1-499c-4f5d-a891-5d47932236d0" providerId="ADAL" clId="{77C535E0-1325-4E8F-842F-8E1CE7E2B0BC}" dt="2021-09-17T09:57:23.319" v="521" actId="6549"/>
        <pc:sldMkLst>
          <pc:docMk/>
          <pc:sldMk cId="0" sldId="346"/>
        </pc:sldMkLst>
        <pc:spChg chg="mod">
          <ac:chgData name="Josse Delfgaauw" userId="fd3d8aa1-499c-4f5d-a891-5d47932236d0" providerId="ADAL" clId="{77C535E0-1325-4E8F-842F-8E1CE7E2B0BC}" dt="2021-09-17T09:57:23.319" v="521" actId="6549"/>
          <ac:spMkLst>
            <pc:docMk/>
            <pc:sldMk cId="0" sldId="346"/>
            <ac:spMk id="160771" creationId="{00000000-0000-0000-0000-000000000000}"/>
          </ac:spMkLst>
        </pc:spChg>
      </pc:sldChg>
      <pc:sldChg chg="modSp modAnim">
        <pc:chgData name="Josse Delfgaauw" userId="fd3d8aa1-499c-4f5d-a891-5d47932236d0" providerId="ADAL" clId="{77C535E0-1325-4E8F-842F-8E1CE7E2B0BC}" dt="2021-09-17T12:20:54.493" v="865" actId="404"/>
        <pc:sldMkLst>
          <pc:docMk/>
          <pc:sldMk cId="0" sldId="391"/>
        </pc:sldMkLst>
        <pc:spChg chg="mod">
          <ac:chgData name="Josse Delfgaauw" userId="fd3d8aa1-499c-4f5d-a891-5d47932236d0" providerId="ADAL" clId="{77C535E0-1325-4E8F-842F-8E1CE7E2B0BC}" dt="2021-09-17T12:20:54.493" v="865" actId="404"/>
          <ac:spMkLst>
            <pc:docMk/>
            <pc:sldMk cId="0" sldId="391"/>
            <ac:spMk id="220163" creationId="{00000000-0000-0000-0000-000000000000}"/>
          </ac:spMkLst>
        </pc:spChg>
      </pc:sldChg>
      <pc:sldChg chg="addSp delSp modSp mod delAnim modAnim">
        <pc:chgData name="Josse Delfgaauw" userId="fd3d8aa1-499c-4f5d-a891-5d47932236d0" providerId="ADAL" clId="{77C535E0-1325-4E8F-842F-8E1CE7E2B0BC}" dt="2021-09-17T12:45:07.485" v="1522"/>
        <pc:sldMkLst>
          <pc:docMk/>
          <pc:sldMk cId="0" sldId="395"/>
        </pc:sldMkLst>
        <pc:spChg chg="add mod">
          <ac:chgData name="Josse Delfgaauw" userId="fd3d8aa1-499c-4f5d-a891-5d47932236d0" providerId="ADAL" clId="{77C535E0-1325-4E8F-842F-8E1CE7E2B0BC}" dt="2021-09-17T12:32:23.222" v="1413"/>
          <ac:spMkLst>
            <pc:docMk/>
            <pc:sldMk cId="0" sldId="395"/>
            <ac:spMk id="31" creationId="{F317E833-CF2B-4F83-A399-58B80D61432D}"/>
          </ac:spMkLst>
        </pc:spChg>
        <pc:spChg chg="add mod">
          <ac:chgData name="Josse Delfgaauw" userId="fd3d8aa1-499c-4f5d-a891-5d47932236d0" providerId="ADAL" clId="{77C535E0-1325-4E8F-842F-8E1CE7E2B0BC}" dt="2021-09-17T12:32:23.222" v="1413"/>
          <ac:spMkLst>
            <pc:docMk/>
            <pc:sldMk cId="0" sldId="395"/>
            <ac:spMk id="32" creationId="{26596937-721F-433F-BE33-85E870502CDF}"/>
          </ac:spMkLst>
        </pc:spChg>
        <pc:spChg chg="add mod">
          <ac:chgData name="Josse Delfgaauw" userId="fd3d8aa1-499c-4f5d-a891-5d47932236d0" providerId="ADAL" clId="{77C535E0-1325-4E8F-842F-8E1CE7E2B0BC}" dt="2021-09-17T12:32:23.222" v="1413"/>
          <ac:spMkLst>
            <pc:docMk/>
            <pc:sldMk cId="0" sldId="395"/>
            <ac:spMk id="33" creationId="{283D02F6-C5BD-44DA-8A4A-EC1E3569A2BA}"/>
          </ac:spMkLst>
        </pc:spChg>
        <pc:spChg chg="add mod">
          <ac:chgData name="Josse Delfgaauw" userId="fd3d8aa1-499c-4f5d-a891-5d47932236d0" providerId="ADAL" clId="{77C535E0-1325-4E8F-842F-8E1CE7E2B0BC}" dt="2021-09-17T12:32:23.222" v="1413"/>
          <ac:spMkLst>
            <pc:docMk/>
            <pc:sldMk cId="0" sldId="395"/>
            <ac:spMk id="34" creationId="{501841B2-E0A5-4816-9642-B1B1E4C342BD}"/>
          </ac:spMkLst>
        </pc:spChg>
        <pc:spChg chg="add mod">
          <ac:chgData name="Josse Delfgaauw" userId="fd3d8aa1-499c-4f5d-a891-5d47932236d0" providerId="ADAL" clId="{77C535E0-1325-4E8F-842F-8E1CE7E2B0BC}" dt="2021-09-17T12:35:35.168" v="1432" actId="20577"/>
          <ac:spMkLst>
            <pc:docMk/>
            <pc:sldMk cId="0" sldId="395"/>
            <ac:spMk id="35" creationId="{0F3E8C11-DA4B-4D30-93F5-06FD319EABAB}"/>
          </ac:spMkLst>
        </pc:spChg>
        <pc:spChg chg="add del mod">
          <ac:chgData name="Josse Delfgaauw" userId="fd3d8aa1-499c-4f5d-a891-5d47932236d0" providerId="ADAL" clId="{77C535E0-1325-4E8F-842F-8E1CE7E2B0BC}" dt="2021-09-17T12:34:30.535" v="1425" actId="1076"/>
          <ac:spMkLst>
            <pc:docMk/>
            <pc:sldMk cId="0" sldId="395"/>
            <ac:spMk id="226314" creationId="{00000000-0000-0000-0000-000000000000}"/>
          </ac:spMkLst>
        </pc:spChg>
        <pc:spChg chg="del">
          <ac:chgData name="Josse Delfgaauw" userId="fd3d8aa1-499c-4f5d-a891-5d47932236d0" providerId="ADAL" clId="{77C535E0-1325-4E8F-842F-8E1CE7E2B0BC}" dt="2021-09-17T12:32:36.831" v="1414" actId="478"/>
          <ac:spMkLst>
            <pc:docMk/>
            <pc:sldMk cId="0" sldId="395"/>
            <ac:spMk id="226323" creationId="{00000000-0000-0000-0000-000000000000}"/>
          </ac:spMkLst>
        </pc:spChg>
        <pc:spChg chg="mod">
          <ac:chgData name="Josse Delfgaauw" userId="fd3d8aa1-499c-4f5d-a891-5d47932236d0" providerId="ADAL" clId="{77C535E0-1325-4E8F-842F-8E1CE7E2B0BC}" dt="2021-09-17T12:15:35.992" v="801"/>
          <ac:spMkLst>
            <pc:docMk/>
            <pc:sldMk cId="0" sldId="395"/>
            <ac:spMk id="226327" creationId="{00000000-0000-0000-0000-000000000000}"/>
          </ac:spMkLst>
        </pc:spChg>
        <pc:spChg chg="mod">
          <ac:chgData name="Josse Delfgaauw" userId="fd3d8aa1-499c-4f5d-a891-5d47932236d0" providerId="ADAL" clId="{77C535E0-1325-4E8F-842F-8E1CE7E2B0BC}" dt="2021-09-17T12:36:31.954" v="1440" actId="20577"/>
          <ac:spMkLst>
            <pc:docMk/>
            <pc:sldMk cId="0" sldId="395"/>
            <ac:spMk id="226337" creationId="{00000000-0000-0000-0000-000000000000}"/>
          </ac:spMkLst>
        </pc:spChg>
      </pc:sldChg>
      <pc:sldChg chg="addSp delSp modSp mod ord addAnim delAnim modAnim">
        <pc:chgData name="Josse Delfgaauw" userId="fd3d8aa1-499c-4f5d-a891-5d47932236d0" providerId="ADAL" clId="{77C535E0-1325-4E8F-842F-8E1CE7E2B0BC}" dt="2021-09-17T12:36:55.025" v="1441" actId="6549"/>
        <pc:sldMkLst>
          <pc:docMk/>
          <pc:sldMk cId="0" sldId="396"/>
        </pc:sldMkLst>
        <pc:spChg chg="add mod">
          <ac:chgData name="Josse Delfgaauw" userId="fd3d8aa1-499c-4f5d-a891-5d47932236d0" providerId="ADAL" clId="{77C535E0-1325-4E8F-842F-8E1CE7E2B0BC}" dt="2021-09-17T12:34:44.576" v="1430" actId="1076"/>
          <ac:spMkLst>
            <pc:docMk/>
            <pc:sldMk cId="0" sldId="396"/>
            <ac:spMk id="40" creationId="{0C087096-EACE-4FD1-9A7C-2474385C0BB7}"/>
          </ac:spMkLst>
        </pc:spChg>
        <pc:spChg chg="del">
          <ac:chgData name="Josse Delfgaauw" userId="fd3d8aa1-499c-4f5d-a891-5d47932236d0" providerId="ADAL" clId="{77C535E0-1325-4E8F-842F-8E1CE7E2B0BC}" dt="2021-09-17T12:09:29.118" v="743" actId="478"/>
          <ac:spMkLst>
            <pc:docMk/>
            <pc:sldMk cId="0" sldId="396"/>
            <ac:spMk id="228362" creationId="{00000000-0000-0000-0000-000000000000}"/>
          </ac:spMkLst>
        </pc:spChg>
        <pc:spChg chg="add del">
          <ac:chgData name="Josse Delfgaauw" userId="fd3d8aa1-499c-4f5d-a891-5d47932236d0" providerId="ADAL" clId="{77C535E0-1325-4E8F-842F-8E1CE7E2B0BC}" dt="2021-09-17T12:08:05.120" v="674" actId="478"/>
          <ac:spMkLst>
            <pc:docMk/>
            <pc:sldMk cId="0" sldId="396"/>
            <ac:spMk id="228365" creationId="{00000000-0000-0000-0000-000000000000}"/>
          </ac:spMkLst>
        </pc:spChg>
        <pc:spChg chg="del">
          <ac:chgData name="Josse Delfgaauw" userId="fd3d8aa1-499c-4f5d-a891-5d47932236d0" providerId="ADAL" clId="{77C535E0-1325-4E8F-842F-8E1CE7E2B0BC}" dt="2021-09-17T12:08:17.801" v="678" actId="478"/>
          <ac:spMkLst>
            <pc:docMk/>
            <pc:sldMk cId="0" sldId="396"/>
            <ac:spMk id="228366" creationId="{00000000-0000-0000-0000-000000000000}"/>
          </ac:spMkLst>
        </pc:spChg>
        <pc:spChg chg="del">
          <ac:chgData name="Josse Delfgaauw" userId="fd3d8aa1-499c-4f5d-a891-5d47932236d0" providerId="ADAL" clId="{77C535E0-1325-4E8F-842F-8E1CE7E2B0BC}" dt="2021-09-17T12:09:46.695" v="750" actId="478"/>
          <ac:spMkLst>
            <pc:docMk/>
            <pc:sldMk cId="0" sldId="396"/>
            <ac:spMk id="228367" creationId="{00000000-0000-0000-0000-000000000000}"/>
          </ac:spMkLst>
        </pc:spChg>
        <pc:spChg chg="del">
          <ac:chgData name="Josse Delfgaauw" userId="fd3d8aa1-499c-4f5d-a891-5d47932236d0" providerId="ADAL" clId="{77C535E0-1325-4E8F-842F-8E1CE7E2B0BC}" dt="2021-09-17T12:09:43.152" v="749" actId="478"/>
          <ac:spMkLst>
            <pc:docMk/>
            <pc:sldMk cId="0" sldId="396"/>
            <ac:spMk id="228368" creationId="{00000000-0000-0000-0000-000000000000}"/>
          </ac:spMkLst>
        </pc:spChg>
        <pc:spChg chg="del mod">
          <ac:chgData name="Josse Delfgaauw" userId="fd3d8aa1-499c-4f5d-a891-5d47932236d0" providerId="ADAL" clId="{77C535E0-1325-4E8F-842F-8E1CE7E2B0BC}" dt="2021-09-17T12:10:01.865" v="754" actId="478"/>
          <ac:spMkLst>
            <pc:docMk/>
            <pc:sldMk cId="0" sldId="396"/>
            <ac:spMk id="228369" creationId="{00000000-0000-0000-0000-000000000000}"/>
          </ac:spMkLst>
        </pc:spChg>
        <pc:spChg chg="del">
          <ac:chgData name="Josse Delfgaauw" userId="fd3d8aa1-499c-4f5d-a891-5d47932236d0" providerId="ADAL" clId="{77C535E0-1325-4E8F-842F-8E1CE7E2B0BC}" dt="2021-09-17T12:09:24.802" v="742" actId="478"/>
          <ac:spMkLst>
            <pc:docMk/>
            <pc:sldMk cId="0" sldId="396"/>
            <ac:spMk id="228370" creationId="{00000000-0000-0000-0000-000000000000}"/>
          </ac:spMkLst>
        </pc:spChg>
        <pc:spChg chg="mod topLvl">
          <ac:chgData name="Josse Delfgaauw" userId="fd3d8aa1-499c-4f5d-a891-5d47932236d0" providerId="ADAL" clId="{77C535E0-1325-4E8F-842F-8E1CE7E2B0BC}" dt="2021-09-17T12:08:02.556" v="673" actId="478"/>
          <ac:spMkLst>
            <pc:docMk/>
            <pc:sldMk cId="0" sldId="396"/>
            <ac:spMk id="228372" creationId="{00000000-0000-0000-0000-000000000000}"/>
          </ac:spMkLst>
        </pc:spChg>
        <pc:spChg chg="add del mod topLvl">
          <ac:chgData name="Josse Delfgaauw" userId="fd3d8aa1-499c-4f5d-a891-5d47932236d0" providerId="ADAL" clId="{77C535E0-1325-4E8F-842F-8E1CE7E2B0BC}" dt="2021-09-17T12:08:02.556" v="673" actId="478"/>
          <ac:spMkLst>
            <pc:docMk/>
            <pc:sldMk cId="0" sldId="396"/>
            <ac:spMk id="228373" creationId="{00000000-0000-0000-0000-000000000000}"/>
          </ac:spMkLst>
        </pc:spChg>
        <pc:spChg chg="del mod">
          <ac:chgData name="Josse Delfgaauw" userId="fd3d8aa1-499c-4f5d-a891-5d47932236d0" providerId="ADAL" clId="{77C535E0-1325-4E8F-842F-8E1CE7E2B0BC}" dt="2021-09-17T12:09:39.324" v="748"/>
          <ac:spMkLst>
            <pc:docMk/>
            <pc:sldMk cId="0" sldId="396"/>
            <ac:spMk id="228375" creationId="{00000000-0000-0000-0000-000000000000}"/>
          </ac:spMkLst>
        </pc:spChg>
        <pc:spChg chg="mod">
          <ac:chgData name="Josse Delfgaauw" userId="fd3d8aa1-499c-4f5d-a891-5d47932236d0" providerId="ADAL" clId="{77C535E0-1325-4E8F-842F-8E1CE7E2B0BC}" dt="2021-09-17T12:08:12.564" v="677" actId="20577"/>
          <ac:spMkLst>
            <pc:docMk/>
            <pc:sldMk cId="0" sldId="396"/>
            <ac:spMk id="228377" creationId="{00000000-0000-0000-0000-000000000000}"/>
          </ac:spMkLst>
        </pc:spChg>
        <pc:spChg chg="mod">
          <ac:chgData name="Josse Delfgaauw" userId="fd3d8aa1-499c-4f5d-a891-5d47932236d0" providerId="ADAL" clId="{77C535E0-1325-4E8F-842F-8E1CE7E2B0BC}" dt="2021-09-17T12:10:24.691" v="755" actId="20577"/>
          <ac:spMkLst>
            <pc:docMk/>
            <pc:sldMk cId="0" sldId="396"/>
            <ac:spMk id="228379" creationId="{00000000-0000-0000-0000-000000000000}"/>
          </ac:spMkLst>
        </pc:spChg>
        <pc:spChg chg="mod">
          <ac:chgData name="Josse Delfgaauw" userId="fd3d8aa1-499c-4f5d-a891-5d47932236d0" providerId="ADAL" clId="{77C535E0-1325-4E8F-842F-8E1CE7E2B0BC}" dt="2021-09-17T12:07:31.344" v="662" actId="20577"/>
          <ac:spMkLst>
            <pc:docMk/>
            <pc:sldMk cId="0" sldId="396"/>
            <ac:spMk id="228380" creationId="{00000000-0000-0000-0000-000000000000}"/>
          </ac:spMkLst>
        </pc:spChg>
        <pc:spChg chg="del">
          <ac:chgData name="Josse Delfgaauw" userId="fd3d8aa1-499c-4f5d-a891-5d47932236d0" providerId="ADAL" clId="{77C535E0-1325-4E8F-842F-8E1CE7E2B0BC}" dt="2021-09-17T12:07:35.349" v="663" actId="478"/>
          <ac:spMkLst>
            <pc:docMk/>
            <pc:sldMk cId="0" sldId="396"/>
            <ac:spMk id="228382" creationId="{00000000-0000-0000-0000-000000000000}"/>
          </ac:spMkLst>
        </pc:spChg>
        <pc:spChg chg="del">
          <ac:chgData name="Josse Delfgaauw" userId="fd3d8aa1-499c-4f5d-a891-5d47932236d0" providerId="ADAL" clId="{77C535E0-1325-4E8F-842F-8E1CE7E2B0BC}" dt="2021-09-17T12:09:49.536" v="751" actId="478"/>
          <ac:spMkLst>
            <pc:docMk/>
            <pc:sldMk cId="0" sldId="396"/>
            <ac:spMk id="228383" creationId="{00000000-0000-0000-0000-000000000000}"/>
          </ac:spMkLst>
        </pc:spChg>
        <pc:spChg chg="del">
          <ac:chgData name="Josse Delfgaauw" userId="fd3d8aa1-499c-4f5d-a891-5d47932236d0" providerId="ADAL" clId="{77C535E0-1325-4E8F-842F-8E1CE7E2B0BC}" dt="2021-09-17T12:09:58.417" v="752" actId="478"/>
          <ac:spMkLst>
            <pc:docMk/>
            <pc:sldMk cId="0" sldId="396"/>
            <ac:spMk id="228384" creationId="{00000000-0000-0000-0000-000000000000}"/>
          </ac:spMkLst>
        </pc:spChg>
        <pc:spChg chg="add del">
          <ac:chgData name="Josse Delfgaauw" userId="fd3d8aa1-499c-4f5d-a891-5d47932236d0" providerId="ADAL" clId="{77C535E0-1325-4E8F-842F-8E1CE7E2B0BC}" dt="2021-09-17T12:08:08.585" v="676" actId="478"/>
          <ac:spMkLst>
            <pc:docMk/>
            <pc:sldMk cId="0" sldId="396"/>
            <ac:spMk id="228385" creationId="{00000000-0000-0000-0000-000000000000}"/>
          </ac:spMkLst>
        </pc:spChg>
        <pc:spChg chg="add del">
          <ac:chgData name="Josse Delfgaauw" userId="fd3d8aa1-499c-4f5d-a891-5d47932236d0" providerId="ADAL" clId="{77C535E0-1325-4E8F-842F-8E1CE7E2B0BC}" dt="2021-09-17T12:08:07.099" v="675" actId="478"/>
          <ac:spMkLst>
            <pc:docMk/>
            <pc:sldMk cId="0" sldId="396"/>
            <ac:spMk id="228386" creationId="{00000000-0000-0000-0000-000000000000}"/>
          </ac:spMkLst>
        </pc:spChg>
        <pc:spChg chg="mod">
          <ac:chgData name="Josse Delfgaauw" userId="fd3d8aa1-499c-4f5d-a891-5d47932236d0" providerId="ADAL" clId="{77C535E0-1325-4E8F-842F-8E1CE7E2B0BC}" dt="2021-09-17T12:36:55.025" v="1441" actId="6549"/>
          <ac:spMkLst>
            <pc:docMk/>
            <pc:sldMk cId="0" sldId="396"/>
            <ac:spMk id="228388" creationId="{00000000-0000-0000-0000-000000000000}"/>
          </ac:spMkLst>
        </pc:spChg>
        <pc:spChg chg="mod">
          <ac:chgData name="Josse Delfgaauw" userId="fd3d8aa1-499c-4f5d-a891-5d47932236d0" providerId="ADAL" clId="{77C535E0-1325-4E8F-842F-8E1CE7E2B0BC}" dt="2021-09-17T12:09:34.375" v="745" actId="1076"/>
          <ac:spMkLst>
            <pc:docMk/>
            <pc:sldMk cId="0" sldId="396"/>
            <ac:spMk id="228390" creationId="{00000000-0000-0000-0000-000000000000}"/>
          </ac:spMkLst>
        </pc:spChg>
        <pc:spChg chg="mod">
          <ac:chgData name="Josse Delfgaauw" userId="fd3d8aa1-499c-4f5d-a891-5d47932236d0" providerId="ADAL" clId="{77C535E0-1325-4E8F-842F-8E1CE7E2B0BC}" dt="2021-09-17T12:10:39.918" v="758" actId="20577"/>
          <ac:spMkLst>
            <pc:docMk/>
            <pc:sldMk cId="0" sldId="396"/>
            <ac:spMk id="228391" creationId="{00000000-0000-0000-0000-000000000000}"/>
          </ac:spMkLst>
        </pc:spChg>
        <pc:spChg chg="del mod">
          <ac:chgData name="Josse Delfgaauw" userId="fd3d8aa1-499c-4f5d-a891-5d47932236d0" providerId="ADAL" clId="{77C535E0-1325-4E8F-842F-8E1CE7E2B0BC}" dt="2021-09-17T12:07:21.733" v="657" actId="478"/>
          <ac:spMkLst>
            <pc:docMk/>
            <pc:sldMk cId="0" sldId="396"/>
            <ac:spMk id="228392" creationId="{00000000-0000-0000-0000-000000000000}"/>
          </ac:spMkLst>
        </pc:spChg>
        <pc:grpChg chg="add del">
          <ac:chgData name="Josse Delfgaauw" userId="fd3d8aa1-499c-4f5d-a891-5d47932236d0" providerId="ADAL" clId="{77C535E0-1325-4E8F-842F-8E1CE7E2B0BC}" dt="2021-09-17T12:08:02.556" v="673" actId="478"/>
          <ac:grpSpMkLst>
            <pc:docMk/>
            <pc:sldMk cId="0" sldId="396"/>
            <ac:grpSpMk id="228371" creationId="{00000000-0000-0000-0000-000000000000}"/>
          </ac:grpSpMkLst>
        </pc:grpChg>
      </pc:sldChg>
      <pc:sldChg chg="delSp modSp mod delAnim modAnim">
        <pc:chgData name="Josse Delfgaauw" userId="fd3d8aa1-499c-4f5d-a891-5d47932236d0" providerId="ADAL" clId="{77C535E0-1325-4E8F-842F-8E1CE7E2B0BC}" dt="2021-09-17T12:53:54.681" v="1551" actId="1076"/>
        <pc:sldMkLst>
          <pc:docMk/>
          <pc:sldMk cId="0" sldId="397"/>
        </pc:sldMkLst>
        <pc:spChg chg="mod">
          <ac:chgData name="Josse Delfgaauw" userId="fd3d8aa1-499c-4f5d-a891-5d47932236d0" providerId="ADAL" clId="{77C535E0-1325-4E8F-842F-8E1CE7E2B0BC}" dt="2021-09-17T12:40:58.832" v="1501" actId="1076"/>
          <ac:spMkLst>
            <pc:docMk/>
            <pc:sldMk cId="0" sldId="397"/>
            <ac:spMk id="230410" creationId="{00000000-0000-0000-0000-000000000000}"/>
          </ac:spMkLst>
        </pc:spChg>
        <pc:spChg chg="del mod">
          <ac:chgData name="Josse Delfgaauw" userId="fd3d8aa1-499c-4f5d-a891-5d47932236d0" providerId="ADAL" clId="{77C535E0-1325-4E8F-842F-8E1CE7E2B0BC}" dt="2021-09-17T12:53:49.605" v="1550"/>
          <ac:spMkLst>
            <pc:docMk/>
            <pc:sldMk cId="0" sldId="397"/>
            <ac:spMk id="230412" creationId="{00000000-0000-0000-0000-000000000000}"/>
          </ac:spMkLst>
        </pc:spChg>
        <pc:spChg chg="del mod">
          <ac:chgData name="Josse Delfgaauw" userId="fd3d8aa1-499c-4f5d-a891-5d47932236d0" providerId="ADAL" clId="{77C535E0-1325-4E8F-842F-8E1CE7E2B0BC}" dt="2021-09-17T12:40:45.176" v="1497"/>
          <ac:spMkLst>
            <pc:docMk/>
            <pc:sldMk cId="0" sldId="397"/>
            <ac:spMk id="230416" creationId="{00000000-0000-0000-0000-000000000000}"/>
          </ac:spMkLst>
        </pc:spChg>
        <pc:spChg chg="mod">
          <ac:chgData name="Josse Delfgaauw" userId="fd3d8aa1-499c-4f5d-a891-5d47932236d0" providerId="ADAL" clId="{77C535E0-1325-4E8F-842F-8E1CE7E2B0BC}" dt="2021-09-17T12:40:36.144" v="1488" actId="20577"/>
          <ac:spMkLst>
            <pc:docMk/>
            <pc:sldMk cId="0" sldId="397"/>
            <ac:spMk id="230419" creationId="{00000000-0000-0000-0000-000000000000}"/>
          </ac:spMkLst>
        </pc:spChg>
        <pc:spChg chg="del">
          <ac:chgData name="Josse Delfgaauw" userId="fd3d8aa1-499c-4f5d-a891-5d47932236d0" providerId="ADAL" clId="{77C535E0-1325-4E8F-842F-8E1CE7E2B0BC}" dt="2021-09-17T12:42:03.306" v="1515" actId="478"/>
          <ac:spMkLst>
            <pc:docMk/>
            <pc:sldMk cId="0" sldId="397"/>
            <ac:spMk id="230425" creationId="{00000000-0000-0000-0000-000000000000}"/>
          </ac:spMkLst>
        </pc:spChg>
        <pc:spChg chg="mod">
          <ac:chgData name="Josse Delfgaauw" userId="fd3d8aa1-499c-4f5d-a891-5d47932236d0" providerId="ADAL" clId="{77C535E0-1325-4E8F-842F-8E1CE7E2B0BC}" dt="2021-09-17T12:42:22.285" v="1517" actId="20577"/>
          <ac:spMkLst>
            <pc:docMk/>
            <pc:sldMk cId="0" sldId="397"/>
            <ac:spMk id="230426" creationId="{00000000-0000-0000-0000-000000000000}"/>
          </ac:spMkLst>
        </pc:spChg>
        <pc:spChg chg="mod">
          <ac:chgData name="Josse Delfgaauw" userId="fd3d8aa1-499c-4f5d-a891-5d47932236d0" providerId="ADAL" clId="{77C535E0-1325-4E8F-842F-8E1CE7E2B0BC}" dt="2021-09-17T12:42:11.733" v="1516" actId="14100"/>
          <ac:spMkLst>
            <pc:docMk/>
            <pc:sldMk cId="0" sldId="397"/>
            <ac:spMk id="230427" creationId="{00000000-0000-0000-0000-000000000000}"/>
          </ac:spMkLst>
        </pc:spChg>
        <pc:spChg chg="del">
          <ac:chgData name="Josse Delfgaauw" userId="fd3d8aa1-499c-4f5d-a891-5d47932236d0" providerId="ADAL" clId="{77C535E0-1325-4E8F-842F-8E1CE7E2B0BC}" dt="2021-09-17T12:41:57.806" v="1514" actId="478"/>
          <ac:spMkLst>
            <pc:docMk/>
            <pc:sldMk cId="0" sldId="397"/>
            <ac:spMk id="230431" creationId="{00000000-0000-0000-0000-000000000000}"/>
          </ac:spMkLst>
        </pc:spChg>
        <pc:spChg chg="del mod">
          <ac:chgData name="Josse Delfgaauw" userId="fd3d8aa1-499c-4f5d-a891-5d47932236d0" providerId="ADAL" clId="{77C535E0-1325-4E8F-842F-8E1CE7E2B0BC}" dt="2021-09-17T12:41:53.236" v="1513"/>
          <ac:spMkLst>
            <pc:docMk/>
            <pc:sldMk cId="0" sldId="397"/>
            <ac:spMk id="230432" creationId="{00000000-0000-0000-0000-000000000000}"/>
          </ac:spMkLst>
        </pc:spChg>
        <pc:spChg chg="mod">
          <ac:chgData name="Josse Delfgaauw" userId="fd3d8aa1-499c-4f5d-a891-5d47932236d0" providerId="ADAL" clId="{77C535E0-1325-4E8F-842F-8E1CE7E2B0BC}" dt="2021-09-17T12:53:54.681" v="1551" actId="1076"/>
          <ac:spMkLst>
            <pc:docMk/>
            <pc:sldMk cId="0" sldId="397"/>
            <ac:spMk id="230433" creationId="{00000000-0000-0000-0000-000000000000}"/>
          </ac:spMkLst>
        </pc:spChg>
        <pc:spChg chg="mod">
          <ac:chgData name="Josse Delfgaauw" userId="fd3d8aa1-499c-4f5d-a891-5d47932236d0" providerId="ADAL" clId="{77C535E0-1325-4E8F-842F-8E1CE7E2B0BC}" dt="2021-09-17T12:40:43.502" v="1495" actId="20577"/>
          <ac:spMkLst>
            <pc:docMk/>
            <pc:sldMk cId="0" sldId="397"/>
            <ac:spMk id="230435" creationId="{00000000-0000-0000-0000-000000000000}"/>
          </ac:spMkLst>
        </pc:spChg>
      </pc:sldChg>
      <pc:sldChg chg="delSp modSp mod">
        <pc:chgData name="Josse Delfgaauw" userId="fd3d8aa1-499c-4f5d-a891-5d47932236d0" providerId="ADAL" clId="{77C535E0-1325-4E8F-842F-8E1CE7E2B0BC}" dt="2021-09-17T12:41:36.913" v="1510" actId="478"/>
        <pc:sldMkLst>
          <pc:docMk/>
          <pc:sldMk cId="0" sldId="398"/>
        </pc:sldMkLst>
        <pc:spChg chg="mod">
          <ac:chgData name="Josse Delfgaauw" userId="fd3d8aa1-499c-4f5d-a891-5d47932236d0" providerId="ADAL" clId="{77C535E0-1325-4E8F-842F-8E1CE7E2B0BC}" dt="2021-09-17T12:41:32.047" v="1509" actId="1076"/>
          <ac:spMkLst>
            <pc:docMk/>
            <pc:sldMk cId="0" sldId="398"/>
            <ac:spMk id="232458" creationId="{00000000-0000-0000-0000-000000000000}"/>
          </ac:spMkLst>
        </pc:spChg>
        <pc:spChg chg="del">
          <ac:chgData name="Josse Delfgaauw" userId="fd3d8aa1-499c-4f5d-a891-5d47932236d0" providerId="ADAL" clId="{77C535E0-1325-4E8F-842F-8E1CE7E2B0BC}" dt="2021-09-17T12:41:36.913" v="1510" actId="478"/>
          <ac:spMkLst>
            <pc:docMk/>
            <pc:sldMk cId="0" sldId="398"/>
            <ac:spMk id="232459" creationId="{00000000-0000-0000-0000-000000000000}"/>
          </ac:spMkLst>
        </pc:spChg>
        <pc:spChg chg="mod">
          <ac:chgData name="Josse Delfgaauw" userId="fd3d8aa1-499c-4f5d-a891-5d47932236d0" providerId="ADAL" clId="{77C535E0-1325-4E8F-842F-8E1CE7E2B0BC}" dt="2021-09-17T12:41:22.741" v="1505" actId="20577"/>
          <ac:spMkLst>
            <pc:docMk/>
            <pc:sldMk cId="0" sldId="398"/>
            <ac:spMk id="232470" creationId="{00000000-0000-0000-0000-000000000000}"/>
          </ac:spMkLst>
        </pc:spChg>
      </pc:sldChg>
      <pc:sldChg chg="modSp mod modAnim">
        <pc:chgData name="Josse Delfgaauw" userId="fd3d8aa1-499c-4f5d-a891-5d47932236d0" providerId="ADAL" clId="{77C535E0-1325-4E8F-842F-8E1CE7E2B0BC}" dt="2021-09-17T12:30:55.311" v="1407" actId="20577"/>
        <pc:sldMkLst>
          <pc:docMk/>
          <pc:sldMk cId="0" sldId="399"/>
        </pc:sldMkLst>
        <pc:spChg chg="mod">
          <ac:chgData name="Josse Delfgaauw" userId="fd3d8aa1-499c-4f5d-a891-5d47932236d0" providerId="ADAL" clId="{77C535E0-1325-4E8F-842F-8E1CE7E2B0BC}" dt="2021-09-17T12:30:55.311" v="1407" actId="20577"/>
          <ac:spMkLst>
            <pc:docMk/>
            <pc:sldMk cId="0" sldId="399"/>
            <ac:spMk id="234499" creationId="{00000000-0000-0000-0000-000000000000}"/>
          </ac:spMkLst>
        </pc:spChg>
      </pc:sldChg>
      <pc:sldChg chg="modSp modAnim">
        <pc:chgData name="Josse Delfgaauw" userId="fd3d8aa1-499c-4f5d-a891-5d47932236d0" providerId="ADAL" clId="{77C535E0-1325-4E8F-842F-8E1CE7E2B0BC}" dt="2021-09-17T12:31:25.868" v="1412" actId="20577"/>
        <pc:sldMkLst>
          <pc:docMk/>
          <pc:sldMk cId="0" sldId="400"/>
        </pc:sldMkLst>
        <pc:spChg chg="mod">
          <ac:chgData name="Josse Delfgaauw" userId="fd3d8aa1-499c-4f5d-a891-5d47932236d0" providerId="ADAL" clId="{77C535E0-1325-4E8F-842F-8E1CE7E2B0BC}" dt="2021-09-17T12:31:25.868" v="1412" actId="20577"/>
          <ac:spMkLst>
            <pc:docMk/>
            <pc:sldMk cId="0" sldId="400"/>
            <ac:spMk id="235523" creationId="{00000000-0000-0000-0000-000000000000}"/>
          </ac:spMkLst>
        </pc:spChg>
      </pc:sldChg>
      <pc:sldChg chg="modSp mod">
        <pc:chgData name="Josse Delfgaauw" userId="fd3d8aa1-499c-4f5d-a891-5d47932236d0" providerId="ADAL" clId="{77C535E0-1325-4E8F-842F-8E1CE7E2B0BC}" dt="2021-09-17T09:49:43.131" v="203" actId="20577"/>
        <pc:sldMkLst>
          <pc:docMk/>
          <pc:sldMk cId="0" sldId="404"/>
        </pc:sldMkLst>
        <pc:spChg chg="mod">
          <ac:chgData name="Josse Delfgaauw" userId="fd3d8aa1-499c-4f5d-a891-5d47932236d0" providerId="ADAL" clId="{77C535E0-1325-4E8F-842F-8E1CE7E2B0BC}" dt="2021-09-17T09:49:43.131" v="203" actId="20577"/>
          <ac:spMkLst>
            <pc:docMk/>
            <pc:sldMk cId="0" sldId="404"/>
            <ac:spMk id="240642" creationId="{00000000-0000-0000-0000-000000000000}"/>
          </ac:spMkLst>
        </pc:spChg>
      </pc:sldChg>
      <pc:sldChg chg="modSp mod modAnim">
        <pc:chgData name="Josse Delfgaauw" userId="fd3d8aa1-499c-4f5d-a891-5d47932236d0" providerId="ADAL" clId="{77C535E0-1325-4E8F-842F-8E1CE7E2B0BC}" dt="2021-09-17T13:04:54.340" v="1555" actId="6549"/>
        <pc:sldMkLst>
          <pc:docMk/>
          <pc:sldMk cId="1829629173" sldId="428"/>
        </pc:sldMkLst>
        <pc:spChg chg="mod">
          <ac:chgData name="Josse Delfgaauw" userId="fd3d8aa1-499c-4f5d-a891-5d47932236d0" providerId="ADAL" clId="{77C535E0-1325-4E8F-842F-8E1CE7E2B0BC}" dt="2021-09-17T13:04:54.340" v="1555" actId="6549"/>
          <ac:spMkLst>
            <pc:docMk/>
            <pc:sldMk cId="1829629173" sldId="428"/>
            <ac:spMk id="215043" creationId="{00000000-0000-0000-0000-000000000000}"/>
          </ac:spMkLst>
        </pc:spChg>
      </pc:sldChg>
      <pc:sldChg chg="modSp add">
        <pc:chgData name="Josse Delfgaauw" userId="fd3d8aa1-499c-4f5d-a891-5d47932236d0" providerId="ADAL" clId="{77C535E0-1325-4E8F-842F-8E1CE7E2B0BC}" dt="2021-09-17T09:57:29.255" v="523" actId="6549"/>
        <pc:sldMkLst>
          <pc:docMk/>
          <pc:sldMk cId="2283318088" sldId="431"/>
        </pc:sldMkLst>
        <pc:spChg chg="mod">
          <ac:chgData name="Josse Delfgaauw" userId="fd3d8aa1-499c-4f5d-a891-5d47932236d0" providerId="ADAL" clId="{77C535E0-1325-4E8F-842F-8E1CE7E2B0BC}" dt="2021-09-17T09:57:29.255" v="523" actId="6549"/>
          <ac:spMkLst>
            <pc:docMk/>
            <pc:sldMk cId="2283318088" sldId="431"/>
            <ac:spMk id="160771" creationId="{00000000-0000-0000-0000-000000000000}"/>
          </ac:spMkLst>
        </pc:spChg>
      </pc:sldChg>
      <pc:sldChg chg="addSp delSp modSp add mod addAnim delAnim modAnim">
        <pc:chgData name="Josse Delfgaauw" userId="fd3d8aa1-499c-4f5d-a891-5d47932236d0" providerId="ADAL" clId="{77C535E0-1325-4E8F-842F-8E1CE7E2B0BC}" dt="2021-09-17T12:52:50.559" v="1545"/>
        <pc:sldMkLst>
          <pc:docMk/>
          <pc:sldMk cId="3338253201" sldId="432"/>
        </pc:sldMkLst>
        <pc:spChg chg="add mod">
          <ac:chgData name="Josse Delfgaauw" userId="fd3d8aa1-499c-4f5d-a891-5d47932236d0" providerId="ADAL" clId="{77C535E0-1325-4E8F-842F-8E1CE7E2B0BC}" dt="2021-09-17T12:37:42.948" v="1451"/>
          <ac:spMkLst>
            <pc:docMk/>
            <pc:sldMk cId="3338253201" sldId="432"/>
            <ac:spMk id="40" creationId="{99DB0B42-885C-4760-9C71-1F9E5CAC5EB4}"/>
          </ac:spMkLst>
        </pc:spChg>
        <pc:spChg chg="add mod">
          <ac:chgData name="Josse Delfgaauw" userId="fd3d8aa1-499c-4f5d-a891-5d47932236d0" providerId="ADAL" clId="{77C535E0-1325-4E8F-842F-8E1CE7E2B0BC}" dt="2021-09-17T12:39:18.860" v="1467" actId="20577"/>
          <ac:spMkLst>
            <pc:docMk/>
            <pc:sldMk cId="3338253201" sldId="432"/>
            <ac:spMk id="41" creationId="{2022B633-ED86-4073-A6E4-D9C4CADCE98F}"/>
          </ac:spMkLst>
        </pc:spChg>
        <pc:spChg chg="add del mod">
          <ac:chgData name="Josse Delfgaauw" userId="fd3d8aa1-499c-4f5d-a891-5d47932236d0" providerId="ADAL" clId="{77C535E0-1325-4E8F-842F-8E1CE7E2B0BC}" dt="2021-09-17T12:39:27.123" v="1470"/>
          <ac:spMkLst>
            <pc:docMk/>
            <pc:sldMk cId="3338253201" sldId="432"/>
            <ac:spMk id="42" creationId="{4902D931-0A1B-47F9-9A98-12DA5274D4E1}"/>
          </ac:spMkLst>
        </pc:spChg>
        <pc:spChg chg="add mod">
          <ac:chgData name="Josse Delfgaauw" userId="fd3d8aa1-499c-4f5d-a891-5d47932236d0" providerId="ADAL" clId="{77C535E0-1325-4E8F-842F-8E1CE7E2B0BC}" dt="2021-09-17T12:47:31.921" v="1526" actId="1076"/>
          <ac:spMkLst>
            <pc:docMk/>
            <pc:sldMk cId="3338253201" sldId="432"/>
            <ac:spMk id="43" creationId="{D2C23CD2-562F-4129-B426-4B48B7AF0A06}"/>
          </ac:spMkLst>
        </pc:spChg>
        <pc:spChg chg="del mod">
          <ac:chgData name="Josse Delfgaauw" userId="fd3d8aa1-499c-4f5d-a891-5d47932236d0" providerId="ADAL" clId="{77C535E0-1325-4E8F-842F-8E1CE7E2B0BC}" dt="2021-09-17T12:37:53.900" v="1455"/>
          <ac:spMkLst>
            <pc:docMk/>
            <pc:sldMk cId="3338253201" sldId="432"/>
            <ac:spMk id="228366" creationId="{00000000-0000-0000-0000-000000000000}"/>
          </ac:spMkLst>
        </pc:spChg>
        <pc:spChg chg="add del mod">
          <ac:chgData name="Josse Delfgaauw" userId="fd3d8aa1-499c-4f5d-a891-5d47932236d0" providerId="ADAL" clId="{77C535E0-1325-4E8F-842F-8E1CE7E2B0BC}" dt="2021-09-17T12:14:12.389" v="780" actId="6549"/>
          <ac:spMkLst>
            <pc:docMk/>
            <pc:sldMk cId="3338253201" sldId="432"/>
            <ac:spMk id="228369" creationId="{00000000-0000-0000-0000-000000000000}"/>
          </ac:spMkLst>
        </pc:spChg>
        <pc:spChg chg="del mod">
          <ac:chgData name="Josse Delfgaauw" userId="fd3d8aa1-499c-4f5d-a891-5d47932236d0" providerId="ADAL" clId="{77C535E0-1325-4E8F-842F-8E1CE7E2B0BC}" dt="2021-09-17T12:13:31.970" v="770"/>
          <ac:spMkLst>
            <pc:docMk/>
            <pc:sldMk cId="3338253201" sldId="432"/>
            <ac:spMk id="228370" creationId="{00000000-0000-0000-0000-000000000000}"/>
          </ac:spMkLst>
        </pc:spChg>
        <pc:spChg chg="del mod">
          <ac:chgData name="Josse Delfgaauw" userId="fd3d8aa1-499c-4f5d-a891-5d47932236d0" providerId="ADAL" clId="{77C535E0-1325-4E8F-842F-8E1CE7E2B0BC}" dt="2021-09-17T12:14:42.299" v="786"/>
          <ac:spMkLst>
            <pc:docMk/>
            <pc:sldMk cId="3338253201" sldId="432"/>
            <ac:spMk id="228375" creationId="{00000000-0000-0000-0000-000000000000}"/>
          </ac:spMkLst>
        </pc:spChg>
        <pc:spChg chg="mod">
          <ac:chgData name="Josse Delfgaauw" userId="fd3d8aa1-499c-4f5d-a891-5d47932236d0" providerId="ADAL" clId="{77C535E0-1325-4E8F-842F-8E1CE7E2B0BC}" dt="2021-09-17T12:13:03.026" v="762" actId="20577"/>
          <ac:spMkLst>
            <pc:docMk/>
            <pc:sldMk cId="3338253201" sldId="432"/>
            <ac:spMk id="228377" creationId="{00000000-0000-0000-0000-000000000000}"/>
          </ac:spMkLst>
        </pc:spChg>
        <pc:spChg chg="mod">
          <ac:chgData name="Josse Delfgaauw" userId="fd3d8aa1-499c-4f5d-a891-5d47932236d0" providerId="ADAL" clId="{77C535E0-1325-4E8F-842F-8E1CE7E2B0BC}" dt="2021-09-17T12:13:29.897" v="768" actId="20577"/>
          <ac:spMkLst>
            <pc:docMk/>
            <pc:sldMk cId="3338253201" sldId="432"/>
            <ac:spMk id="228379" creationId="{00000000-0000-0000-0000-000000000000}"/>
          </ac:spMkLst>
        </pc:spChg>
        <pc:spChg chg="mod">
          <ac:chgData name="Josse Delfgaauw" userId="fd3d8aa1-499c-4f5d-a891-5d47932236d0" providerId="ADAL" clId="{77C535E0-1325-4E8F-842F-8E1CE7E2B0BC}" dt="2021-09-17T12:47:45.129" v="1527" actId="1076"/>
          <ac:spMkLst>
            <pc:docMk/>
            <pc:sldMk cId="3338253201" sldId="432"/>
            <ac:spMk id="228380" creationId="{00000000-0000-0000-0000-000000000000}"/>
          </ac:spMkLst>
        </pc:spChg>
        <pc:spChg chg="mod">
          <ac:chgData name="Josse Delfgaauw" userId="fd3d8aa1-499c-4f5d-a891-5d47932236d0" providerId="ADAL" clId="{77C535E0-1325-4E8F-842F-8E1CE7E2B0BC}" dt="2021-09-17T12:47:51.520" v="1528" actId="1076"/>
          <ac:spMkLst>
            <pc:docMk/>
            <pc:sldMk cId="3338253201" sldId="432"/>
            <ac:spMk id="228381" creationId="{00000000-0000-0000-0000-000000000000}"/>
          </ac:spMkLst>
        </pc:spChg>
        <pc:spChg chg="add del">
          <ac:chgData name="Josse Delfgaauw" userId="fd3d8aa1-499c-4f5d-a891-5d47932236d0" providerId="ADAL" clId="{77C535E0-1325-4E8F-842F-8E1CE7E2B0BC}" dt="2021-09-17T12:14:26.997" v="783" actId="478"/>
          <ac:spMkLst>
            <pc:docMk/>
            <pc:sldMk cId="3338253201" sldId="432"/>
            <ac:spMk id="228383" creationId="{00000000-0000-0000-0000-000000000000}"/>
          </ac:spMkLst>
        </pc:spChg>
        <pc:spChg chg="add del mod">
          <ac:chgData name="Josse Delfgaauw" userId="fd3d8aa1-499c-4f5d-a891-5d47932236d0" providerId="ADAL" clId="{77C535E0-1325-4E8F-842F-8E1CE7E2B0BC}" dt="2021-09-17T12:14:18.033" v="781" actId="478"/>
          <ac:spMkLst>
            <pc:docMk/>
            <pc:sldMk cId="3338253201" sldId="432"/>
            <ac:spMk id="228384" creationId="{00000000-0000-0000-0000-000000000000}"/>
          </ac:spMkLst>
        </pc:spChg>
        <pc:spChg chg="mod">
          <ac:chgData name="Josse Delfgaauw" userId="fd3d8aa1-499c-4f5d-a891-5d47932236d0" providerId="ADAL" clId="{77C535E0-1325-4E8F-842F-8E1CE7E2B0BC}" dt="2021-09-17T12:51:21.375" v="1537" actId="14100"/>
          <ac:spMkLst>
            <pc:docMk/>
            <pc:sldMk cId="3338253201" sldId="432"/>
            <ac:spMk id="228385" creationId="{00000000-0000-0000-0000-000000000000}"/>
          </ac:spMkLst>
        </pc:spChg>
        <pc:spChg chg="mod">
          <ac:chgData name="Josse Delfgaauw" userId="fd3d8aa1-499c-4f5d-a891-5d47932236d0" providerId="ADAL" clId="{77C535E0-1325-4E8F-842F-8E1CE7E2B0BC}" dt="2021-09-17T12:51:24.974" v="1538" actId="14100"/>
          <ac:spMkLst>
            <pc:docMk/>
            <pc:sldMk cId="3338253201" sldId="432"/>
            <ac:spMk id="228386" creationId="{00000000-0000-0000-0000-000000000000}"/>
          </ac:spMkLst>
        </pc:spChg>
        <pc:spChg chg="mod">
          <ac:chgData name="Josse Delfgaauw" userId="fd3d8aa1-499c-4f5d-a891-5d47932236d0" providerId="ADAL" clId="{77C535E0-1325-4E8F-842F-8E1CE7E2B0BC}" dt="2021-09-17T12:37:06.290" v="1442" actId="6549"/>
          <ac:spMkLst>
            <pc:docMk/>
            <pc:sldMk cId="3338253201" sldId="432"/>
            <ac:spMk id="228388" creationId="{00000000-0000-0000-0000-000000000000}"/>
          </ac:spMkLst>
        </pc:spChg>
        <pc:spChg chg="mod">
          <ac:chgData name="Josse Delfgaauw" userId="fd3d8aa1-499c-4f5d-a891-5d47932236d0" providerId="ADAL" clId="{77C535E0-1325-4E8F-842F-8E1CE7E2B0BC}" dt="2021-09-17T12:13:12.535" v="765" actId="20577"/>
          <ac:spMkLst>
            <pc:docMk/>
            <pc:sldMk cId="3338253201" sldId="432"/>
            <ac:spMk id="228391" creationId="{00000000-0000-0000-0000-000000000000}"/>
          </ac:spMkLst>
        </pc:spChg>
        <pc:spChg chg="mod">
          <ac:chgData name="Josse Delfgaauw" userId="fd3d8aa1-499c-4f5d-a891-5d47932236d0" providerId="ADAL" clId="{77C535E0-1325-4E8F-842F-8E1CE7E2B0BC}" dt="2021-09-17T12:39:44.923" v="1486" actId="6549"/>
          <ac:spMkLst>
            <pc:docMk/>
            <pc:sldMk cId="3338253201" sldId="432"/>
            <ac:spMk id="228392" creationId="{00000000-0000-0000-0000-000000000000}"/>
          </ac:spMkLst>
        </pc:spChg>
      </pc:sldChg>
    </pc:docChg>
  </pc:docChgLst>
  <pc:docChgLst>
    <pc:chgData name="Josse Delfgaauw" userId="fd3d8aa1-499c-4f5d-a891-5d47932236d0" providerId="ADAL" clId="{1378CE24-FE01-4FE6-A0E4-3197BAB3E8BF}"/>
    <pc:docChg chg="undo custSel addSld modSld sldOrd modSection">
      <pc:chgData name="Josse Delfgaauw" userId="fd3d8aa1-499c-4f5d-a891-5d47932236d0" providerId="ADAL" clId="{1378CE24-FE01-4FE6-A0E4-3197BAB3E8BF}" dt="2023-09-26T06:42:13.668" v="690" actId="20577"/>
      <pc:docMkLst>
        <pc:docMk/>
      </pc:docMkLst>
      <pc:sldChg chg="modSp">
        <pc:chgData name="Josse Delfgaauw" userId="fd3d8aa1-499c-4f5d-a891-5d47932236d0" providerId="ADAL" clId="{1378CE24-FE01-4FE6-A0E4-3197BAB3E8BF}" dt="2023-09-25T07:14:01.694" v="14" actId="20577"/>
        <pc:sldMkLst>
          <pc:docMk/>
          <pc:sldMk cId="0" sldId="347"/>
        </pc:sldMkLst>
        <pc:spChg chg="mod">
          <ac:chgData name="Josse Delfgaauw" userId="fd3d8aa1-499c-4f5d-a891-5d47932236d0" providerId="ADAL" clId="{1378CE24-FE01-4FE6-A0E4-3197BAB3E8BF}" dt="2023-09-25T07:14:01.694" v="14" actId="20577"/>
          <ac:spMkLst>
            <pc:docMk/>
            <pc:sldMk cId="0" sldId="347"/>
            <ac:spMk id="161795" creationId="{00000000-0000-0000-0000-000000000000}"/>
          </ac:spMkLst>
        </pc:spChg>
      </pc:sldChg>
      <pc:sldChg chg="modSp mod">
        <pc:chgData name="Josse Delfgaauw" userId="fd3d8aa1-499c-4f5d-a891-5d47932236d0" providerId="ADAL" clId="{1378CE24-FE01-4FE6-A0E4-3197BAB3E8BF}" dt="2023-09-25T09:23:54.023" v="501" actId="20577"/>
        <pc:sldMkLst>
          <pc:docMk/>
          <pc:sldMk cId="0" sldId="371"/>
        </pc:sldMkLst>
        <pc:spChg chg="mod">
          <ac:chgData name="Josse Delfgaauw" userId="fd3d8aa1-499c-4f5d-a891-5d47932236d0" providerId="ADAL" clId="{1378CE24-FE01-4FE6-A0E4-3197BAB3E8BF}" dt="2023-09-25T09:23:54.023" v="501" actId="20577"/>
          <ac:spMkLst>
            <pc:docMk/>
            <pc:sldMk cId="0" sldId="371"/>
            <ac:spMk id="191490" creationId="{00000000-0000-0000-0000-000000000000}"/>
          </ac:spMkLst>
        </pc:spChg>
      </pc:sldChg>
      <pc:sldChg chg="modSp mod">
        <pc:chgData name="Josse Delfgaauw" userId="fd3d8aa1-499c-4f5d-a891-5d47932236d0" providerId="ADAL" clId="{1378CE24-FE01-4FE6-A0E4-3197BAB3E8BF}" dt="2023-09-26T06:42:13.668" v="690" actId="20577"/>
        <pc:sldMkLst>
          <pc:docMk/>
          <pc:sldMk cId="0" sldId="372"/>
        </pc:sldMkLst>
        <pc:spChg chg="mod">
          <ac:chgData name="Josse Delfgaauw" userId="fd3d8aa1-499c-4f5d-a891-5d47932236d0" providerId="ADAL" clId="{1378CE24-FE01-4FE6-A0E4-3197BAB3E8BF}" dt="2023-09-26T06:42:13.668" v="690" actId="20577"/>
          <ac:spMkLst>
            <pc:docMk/>
            <pc:sldMk cId="0" sldId="372"/>
            <ac:spMk id="192514" creationId="{00000000-0000-0000-0000-000000000000}"/>
          </ac:spMkLst>
        </pc:spChg>
      </pc:sldChg>
      <pc:sldChg chg="modSp mod">
        <pc:chgData name="Josse Delfgaauw" userId="fd3d8aa1-499c-4f5d-a891-5d47932236d0" providerId="ADAL" clId="{1378CE24-FE01-4FE6-A0E4-3197BAB3E8BF}" dt="2023-09-25T12:14:10.490" v="528" actId="20577"/>
        <pc:sldMkLst>
          <pc:docMk/>
          <pc:sldMk cId="0" sldId="381"/>
        </pc:sldMkLst>
        <pc:spChg chg="mod">
          <ac:chgData name="Josse Delfgaauw" userId="fd3d8aa1-499c-4f5d-a891-5d47932236d0" providerId="ADAL" clId="{1378CE24-FE01-4FE6-A0E4-3197BAB3E8BF}" dt="2023-09-25T12:14:10.490" v="528" actId="20577"/>
          <ac:spMkLst>
            <pc:docMk/>
            <pc:sldMk cId="0" sldId="381"/>
            <ac:spMk id="203778" creationId="{00000000-0000-0000-0000-000000000000}"/>
          </ac:spMkLst>
        </pc:spChg>
      </pc:sldChg>
      <pc:sldChg chg="modSp mod">
        <pc:chgData name="Josse Delfgaauw" userId="fd3d8aa1-499c-4f5d-a891-5d47932236d0" providerId="ADAL" clId="{1378CE24-FE01-4FE6-A0E4-3197BAB3E8BF}" dt="2023-09-25T07:21:07.997" v="78" actId="20577"/>
        <pc:sldMkLst>
          <pc:docMk/>
          <pc:sldMk cId="0" sldId="388"/>
        </pc:sldMkLst>
        <pc:spChg chg="mod">
          <ac:chgData name="Josse Delfgaauw" userId="fd3d8aa1-499c-4f5d-a891-5d47932236d0" providerId="ADAL" clId="{1378CE24-FE01-4FE6-A0E4-3197BAB3E8BF}" dt="2023-09-25T07:21:07.997" v="78" actId="20577"/>
          <ac:spMkLst>
            <pc:docMk/>
            <pc:sldMk cId="0" sldId="388"/>
            <ac:spMk id="215043" creationId="{00000000-0000-0000-0000-000000000000}"/>
          </ac:spMkLst>
        </pc:spChg>
      </pc:sldChg>
      <pc:sldChg chg="modSp">
        <pc:chgData name="Josse Delfgaauw" userId="fd3d8aa1-499c-4f5d-a891-5d47932236d0" providerId="ADAL" clId="{1378CE24-FE01-4FE6-A0E4-3197BAB3E8BF}" dt="2023-09-25T07:15:39.469" v="15" actId="113"/>
        <pc:sldMkLst>
          <pc:docMk/>
          <pc:sldMk cId="0" sldId="389"/>
        </pc:sldMkLst>
        <pc:spChg chg="mod">
          <ac:chgData name="Josse Delfgaauw" userId="fd3d8aa1-499c-4f5d-a891-5d47932236d0" providerId="ADAL" clId="{1378CE24-FE01-4FE6-A0E4-3197BAB3E8BF}" dt="2023-09-25T07:15:39.469" v="15" actId="113"/>
          <ac:spMkLst>
            <pc:docMk/>
            <pc:sldMk cId="0" sldId="389"/>
            <ac:spMk id="216067" creationId="{00000000-0000-0000-0000-000000000000}"/>
          </ac:spMkLst>
        </pc:spChg>
      </pc:sldChg>
      <pc:sldChg chg="modSp">
        <pc:chgData name="Josse Delfgaauw" userId="fd3d8aa1-499c-4f5d-a891-5d47932236d0" providerId="ADAL" clId="{1378CE24-FE01-4FE6-A0E4-3197BAB3E8BF}" dt="2023-09-26T06:40:12.763" v="662" actId="20577"/>
        <pc:sldMkLst>
          <pc:docMk/>
          <pc:sldMk cId="0" sldId="391"/>
        </pc:sldMkLst>
        <pc:spChg chg="mod">
          <ac:chgData name="Josse Delfgaauw" userId="fd3d8aa1-499c-4f5d-a891-5d47932236d0" providerId="ADAL" clId="{1378CE24-FE01-4FE6-A0E4-3197BAB3E8BF}" dt="2023-09-26T06:40:12.763" v="662" actId="20577"/>
          <ac:spMkLst>
            <pc:docMk/>
            <pc:sldMk cId="0" sldId="391"/>
            <ac:spMk id="220163" creationId="{00000000-0000-0000-0000-000000000000}"/>
          </ac:spMkLst>
        </pc:spChg>
      </pc:sldChg>
      <pc:sldChg chg="modSp">
        <pc:chgData name="Josse Delfgaauw" userId="fd3d8aa1-499c-4f5d-a891-5d47932236d0" providerId="ADAL" clId="{1378CE24-FE01-4FE6-A0E4-3197BAB3E8BF}" dt="2023-09-25T14:02:22.220" v="638" actId="6549"/>
        <pc:sldMkLst>
          <pc:docMk/>
          <pc:sldMk cId="0" sldId="404"/>
        </pc:sldMkLst>
        <pc:spChg chg="mod">
          <ac:chgData name="Josse Delfgaauw" userId="fd3d8aa1-499c-4f5d-a891-5d47932236d0" providerId="ADAL" clId="{1378CE24-FE01-4FE6-A0E4-3197BAB3E8BF}" dt="2023-09-25T14:02:22.220" v="638" actId="6549"/>
          <ac:spMkLst>
            <pc:docMk/>
            <pc:sldMk cId="0" sldId="404"/>
            <ac:spMk id="240643" creationId="{00000000-0000-0000-0000-000000000000}"/>
          </ac:spMkLst>
        </pc:spChg>
      </pc:sldChg>
      <pc:sldChg chg="modSp modAnim">
        <pc:chgData name="Josse Delfgaauw" userId="fd3d8aa1-499c-4f5d-a891-5d47932236d0" providerId="ADAL" clId="{1378CE24-FE01-4FE6-A0E4-3197BAB3E8BF}" dt="2023-09-25T14:01:24.512" v="630" actId="6549"/>
        <pc:sldMkLst>
          <pc:docMk/>
          <pc:sldMk cId="0" sldId="409"/>
        </pc:sldMkLst>
        <pc:spChg chg="mod">
          <ac:chgData name="Josse Delfgaauw" userId="fd3d8aa1-499c-4f5d-a891-5d47932236d0" providerId="ADAL" clId="{1378CE24-FE01-4FE6-A0E4-3197BAB3E8BF}" dt="2023-09-25T14:01:24.512" v="630" actId="6549"/>
          <ac:spMkLst>
            <pc:docMk/>
            <pc:sldMk cId="0" sldId="409"/>
            <ac:spMk id="250883" creationId="{00000000-0000-0000-0000-000000000000}"/>
          </ac:spMkLst>
        </pc:spChg>
      </pc:sldChg>
      <pc:sldChg chg="modSp mod">
        <pc:chgData name="Josse Delfgaauw" userId="fd3d8aa1-499c-4f5d-a891-5d47932236d0" providerId="ADAL" clId="{1378CE24-FE01-4FE6-A0E4-3197BAB3E8BF}" dt="2023-09-25T09:23:11.976" v="451" actId="20577"/>
        <pc:sldMkLst>
          <pc:docMk/>
          <pc:sldMk cId="1485312021" sldId="426"/>
        </pc:sldMkLst>
        <pc:spChg chg="mod">
          <ac:chgData name="Josse Delfgaauw" userId="fd3d8aa1-499c-4f5d-a891-5d47932236d0" providerId="ADAL" clId="{1378CE24-FE01-4FE6-A0E4-3197BAB3E8BF}" dt="2023-09-25T09:23:11.976" v="451" actId="20577"/>
          <ac:spMkLst>
            <pc:docMk/>
            <pc:sldMk cId="1485312021" sldId="426"/>
            <ac:spMk id="191490" creationId="{00000000-0000-0000-0000-000000000000}"/>
          </ac:spMkLst>
        </pc:spChg>
      </pc:sldChg>
      <pc:sldChg chg="addSp delSp modSp mod">
        <pc:chgData name="Josse Delfgaauw" userId="fd3d8aa1-499c-4f5d-a891-5d47932236d0" providerId="ADAL" clId="{1378CE24-FE01-4FE6-A0E4-3197BAB3E8BF}" dt="2023-09-25T09:20:37.019" v="445" actId="1076"/>
        <pc:sldMkLst>
          <pc:docMk/>
          <pc:sldMk cId="3483770220" sldId="427"/>
        </pc:sldMkLst>
        <pc:spChg chg="ord">
          <ac:chgData name="Josse Delfgaauw" userId="fd3d8aa1-499c-4f5d-a891-5d47932236d0" providerId="ADAL" clId="{1378CE24-FE01-4FE6-A0E4-3197BAB3E8BF}" dt="2023-09-25T09:20:34.429" v="444" actId="166"/>
          <ac:spMkLst>
            <pc:docMk/>
            <pc:sldMk cId="3483770220" sldId="427"/>
            <ac:spMk id="6" creationId="{00000000-0000-0000-0000-000000000000}"/>
          </ac:spMkLst>
        </pc:spChg>
        <pc:graphicFrameChg chg="add del mod">
          <ac:chgData name="Josse Delfgaauw" userId="fd3d8aa1-499c-4f5d-a891-5d47932236d0" providerId="ADAL" clId="{1378CE24-FE01-4FE6-A0E4-3197BAB3E8BF}" dt="2023-09-25T09:15:46.485" v="435" actId="478"/>
          <ac:graphicFrameMkLst>
            <pc:docMk/>
            <pc:sldMk cId="3483770220" sldId="427"/>
            <ac:graphicFrameMk id="2" creationId="{52FB8732-5779-B8FB-E612-5F462FFE6A57}"/>
          </ac:graphicFrameMkLst>
        </pc:graphicFrameChg>
        <pc:graphicFrameChg chg="add del mod">
          <ac:chgData name="Josse Delfgaauw" userId="fd3d8aa1-499c-4f5d-a891-5d47932236d0" providerId="ADAL" clId="{1378CE24-FE01-4FE6-A0E4-3197BAB3E8BF}" dt="2023-09-25T09:20:26.686" v="442" actId="478"/>
          <ac:graphicFrameMkLst>
            <pc:docMk/>
            <pc:sldMk cId="3483770220" sldId="427"/>
            <ac:graphicFrameMk id="7" creationId="{52FB8732-5779-B8FB-E612-5F462FFE6A57}"/>
          </ac:graphicFrameMkLst>
        </pc:graphicFrameChg>
        <pc:picChg chg="del">
          <ac:chgData name="Josse Delfgaauw" userId="fd3d8aa1-499c-4f5d-a891-5d47932236d0" providerId="ADAL" clId="{1378CE24-FE01-4FE6-A0E4-3197BAB3E8BF}" dt="2023-09-25T09:15:36.457" v="432" actId="478"/>
          <ac:picMkLst>
            <pc:docMk/>
            <pc:sldMk cId="3483770220" sldId="427"/>
            <ac:picMk id="3" creationId="{00000000-0000-0000-0000-000000000000}"/>
          </ac:picMkLst>
        </pc:picChg>
        <pc:picChg chg="add del mod">
          <ac:chgData name="Josse Delfgaauw" userId="fd3d8aa1-499c-4f5d-a891-5d47932236d0" providerId="ADAL" clId="{1378CE24-FE01-4FE6-A0E4-3197BAB3E8BF}" dt="2023-09-25T09:20:24.017" v="439" actId="478"/>
          <ac:picMkLst>
            <pc:docMk/>
            <pc:sldMk cId="3483770220" sldId="427"/>
            <ac:picMk id="5" creationId="{D2CDA36F-6569-07E8-DBBC-42B5A59097B8}"/>
          </ac:picMkLst>
        </pc:picChg>
        <pc:picChg chg="add mod">
          <ac:chgData name="Josse Delfgaauw" userId="fd3d8aa1-499c-4f5d-a891-5d47932236d0" providerId="ADAL" clId="{1378CE24-FE01-4FE6-A0E4-3197BAB3E8BF}" dt="2023-09-25T09:20:37.019" v="445" actId="1076"/>
          <ac:picMkLst>
            <pc:docMk/>
            <pc:sldMk cId="3483770220" sldId="427"/>
            <ac:picMk id="8" creationId="{C57B6249-9199-AF3A-D67B-16FD199FA62F}"/>
          </ac:picMkLst>
        </pc:picChg>
      </pc:sldChg>
      <pc:sldChg chg="modSp modAnim">
        <pc:chgData name="Josse Delfgaauw" userId="fd3d8aa1-499c-4f5d-a891-5d47932236d0" providerId="ADAL" clId="{1378CE24-FE01-4FE6-A0E4-3197BAB3E8BF}" dt="2023-09-25T13:11:05.532" v="534"/>
        <pc:sldMkLst>
          <pc:docMk/>
          <pc:sldMk cId="1829629173" sldId="428"/>
        </pc:sldMkLst>
        <pc:spChg chg="mod">
          <ac:chgData name="Josse Delfgaauw" userId="fd3d8aa1-499c-4f5d-a891-5d47932236d0" providerId="ADAL" clId="{1378CE24-FE01-4FE6-A0E4-3197BAB3E8BF}" dt="2023-09-25T07:22:46.886" v="83" actId="5793"/>
          <ac:spMkLst>
            <pc:docMk/>
            <pc:sldMk cId="1829629173" sldId="428"/>
            <ac:spMk id="215043" creationId="{00000000-0000-0000-0000-000000000000}"/>
          </ac:spMkLst>
        </pc:spChg>
      </pc:sldChg>
      <pc:sldChg chg="modSp mod ord">
        <pc:chgData name="Josse Delfgaauw" userId="fd3d8aa1-499c-4f5d-a891-5d47932236d0" providerId="ADAL" clId="{1378CE24-FE01-4FE6-A0E4-3197BAB3E8BF}" dt="2023-09-26T06:40:15.201" v="663" actId="20577"/>
        <pc:sldMkLst>
          <pc:docMk/>
          <pc:sldMk cId="3555982878" sldId="429"/>
        </pc:sldMkLst>
        <pc:spChg chg="mod">
          <ac:chgData name="Josse Delfgaauw" userId="fd3d8aa1-499c-4f5d-a891-5d47932236d0" providerId="ADAL" clId="{1378CE24-FE01-4FE6-A0E4-3197BAB3E8BF}" dt="2023-09-26T06:40:15.201" v="663" actId="20577"/>
          <ac:spMkLst>
            <pc:docMk/>
            <pc:sldMk cId="3555982878" sldId="429"/>
            <ac:spMk id="220163" creationId="{00000000-0000-0000-0000-000000000000}"/>
          </ac:spMkLst>
        </pc:spChg>
      </pc:sldChg>
      <pc:sldChg chg="delSp modSp add mod">
        <pc:chgData name="Josse Delfgaauw" userId="fd3d8aa1-499c-4f5d-a891-5d47932236d0" providerId="ADAL" clId="{1378CE24-FE01-4FE6-A0E4-3197BAB3E8BF}" dt="2023-09-25T08:33:44.813" v="431" actId="20577"/>
        <pc:sldMkLst>
          <pc:docMk/>
          <pc:sldMk cId="3456327880" sldId="433"/>
        </pc:sldMkLst>
        <pc:spChg chg="del">
          <ac:chgData name="Josse Delfgaauw" userId="fd3d8aa1-499c-4f5d-a891-5d47932236d0" providerId="ADAL" clId="{1378CE24-FE01-4FE6-A0E4-3197BAB3E8BF}" dt="2023-09-25T08:13:34.223" v="90" actId="478"/>
          <ac:spMkLst>
            <pc:docMk/>
            <pc:sldMk cId="3456327880" sldId="433"/>
            <ac:spMk id="2" creationId="{00000000-0000-0000-0000-000000000000}"/>
          </ac:spMkLst>
        </pc:spChg>
        <pc:spChg chg="mod">
          <ac:chgData name="Josse Delfgaauw" userId="fd3d8aa1-499c-4f5d-a891-5d47932236d0" providerId="ADAL" clId="{1378CE24-FE01-4FE6-A0E4-3197BAB3E8BF}" dt="2023-09-25T08:33:44.813" v="431" actId="20577"/>
          <ac:spMkLst>
            <pc:docMk/>
            <pc:sldMk cId="3456327880" sldId="433"/>
            <ac:spMk id="198659" creationId="{00000000-0000-0000-0000-000000000000}"/>
          </ac:spMkLst>
        </pc:spChg>
        <pc:picChg chg="del">
          <ac:chgData name="Josse Delfgaauw" userId="fd3d8aa1-499c-4f5d-a891-5d47932236d0" providerId="ADAL" clId="{1378CE24-FE01-4FE6-A0E4-3197BAB3E8BF}" dt="2023-09-25T07:57:33.561" v="85" actId="478"/>
          <ac:picMkLst>
            <pc:docMk/>
            <pc:sldMk cId="3456327880" sldId="433"/>
            <ac:picMk id="4"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293846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vl1pPr>
          </a:lstStyle>
          <a:p>
            <a:endParaRPr lang="en-GB"/>
          </a:p>
        </p:txBody>
      </p:sp>
      <p:sp>
        <p:nvSpPr>
          <p:cNvPr id="19459" name="Rectangle 3"/>
          <p:cNvSpPr>
            <a:spLocks noGrp="1" noChangeArrowheads="1"/>
          </p:cNvSpPr>
          <p:nvPr>
            <p:ph type="dt" sz="quarter" idx="1"/>
          </p:nvPr>
        </p:nvSpPr>
        <p:spPr bwMode="auto">
          <a:xfrm>
            <a:off x="3843338" y="0"/>
            <a:ext cx="293846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vl1pPr>
          </a:lstStyle>
          <a:p>
            <a:endParaRPr lang="en-GB"/>
          </a:p>
        </p:txBody>
      </p:sp>
      <p:sp>
        <p:nvSpPr>
          <p:cNvPr id="19460" name="Rectangle 4"/>
          <p:cNvSpPr>
            <a:spLocks noGrp="1" noChangeArrowheads="1"/>
          </p:cNvSpPr>
          <p:nvPr>
            <p:ph type="ftr" sz="quarter" idx="2"/>
          </p:nvPr>
        </p:nvSpPr>
        <p:spPr bwMode="auto">
          <a:xfrm>
            <a:off x="0" y="9386888"/>
            <a:ext cx="293846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vl1pPr>
          </a:lstStyle>
          <a:p>
            <a:endParaRPr lang="en-GB"/>
          </a:p>
        </p:txBody>
      </p:sp>
      <p:sp>
        <p:nvSpPr>
          <p:cNvPr id="19461" name="Rectangle 5"/>
          <p:cNvSpPr>
            <a:spLocks noGrp="1" noChangeArrowheads="1"/>
          </p:cNvSpPr>
          <p:nvPr>
            <p:ph type="sldNum" sz="quarter" idx="3"/>
          </p:nvPr>
        </p:nvSpPr>
        <p:spPr bwMode="auto">
          <a:xfrm>
            <a:off x="3843338" y="9386888"/>
            <a:ext cx="293846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vl1pPr>
          </a:lstStyle>
          <a:p>
            <a:fld id="{58515453-5148-48DF-B26C-0EB7594A2FBE}" type="slidenum">
              <a:rPr lang="en-GB"/>
              <a:pPr/>
              <a:t>‹#›</a:t>
            </a:fld>
            <a:endParaRPr lang="en-GB"/>
          </a:p>
        </p:txBody>
      </p:sp>
    </p:spTree>
    <p:extLst>
      <p:ext uri="{BB962C8B-B14F-4D97-AF65-F5344CB8AC3E}">
        <p14:creationId xmlns:p14="http://schemas.microsoft.com/office/powerpoint/2010/main" val="25652814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3846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vl1pPr>
          </a:lstStyle>
          <a:p>
            <a:endParaRPr lang="nl-NL"/>
          </a:p>
        </p:txBody>
      </p:sp>
      <p:sp>
        <p:nvSpPr>
          <p:cNvPr id="24579" name="Rectangle 3"/>
          <p:cNvSpPr>
            <a:spLocks noGrp="1" noChangeArrowheads="1"/>
          </p:cNvSpPr>
          <p:nvPr>
            <p:ph type="dt" idx="1"/>
          </p:nvPr>
        </p:nvSpPr>
        <p:spPr bwMode="auto">
          <a:xfrm>
            <a:off x="3841750" y="0"/>
            <a:ext cx="293846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vl1pPr>
          </a:lstStyle>
          <a:p>
            <a:endParaRPr lang="nl-NL"/>
          </a:p>
        </p:txBody>
      </p:sp>
      <p:sp>
        <p:nvSpPr>
          <p:cNvPr id="24580" name="Rectangle 4"/>
          <p:cNvSpPr>
            <a:spLocks noGrp="1" noRot="1" noChangeAspect="1" noChangeArrowheads="1" noTextEdit="1"/>
          </p:cNvSpPr>
          <p:nvPr>
            <p:ph type="sldImg" idx="2"/>
          </p:nvPr>
        </p:nvSpPr>
        <p:spPr bwMode="auto">
          <a:xfrm>
            <a:off x="920750" y="741363"/>
            <a:ext cx="4940300" cy="3705225"/>
          </a:xfrm>
          <a:prstGeom prst="rect">
            <a:avLst/>
          </a:prstGeom>
          <a:noFill/>
          <a:ln w="9525">
            <a:solidFill>
              <a:srgbClr val="000000"/>
            </a:solidFill>
            <a:miter lim="800000"/>
            <a:headEnd/>
            <a:tailEnd/>
          </a:ln>
          <a:effectLst/>
        </p:spPr>
      </p:sp>
      <p:sp>
        <p:nvSpPr>
          <p:cNvPr id="24581" name="Rectangle 5"/>
          <p:cNvSpPr>
            <a:spLocks noGrp="1" noChangeArrowheads="1"/>
          </p:cNvSpPr>
          <p:nvPr>
            <p:ph type="body" sz="quarter" idx="3"/>
          </p:nvPr>
        </p:nvSpPr>
        <p:spPr bwMode="auto">
          <a:xfrm>
            <a:off x="677863" y="4692650"/>
            <a:ext cx="5426075" cy="44465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nl-NL"/>
              <a:t>Click to edit Master text styles</a:t>
            </a:r>
          </a:p>
          <a:p>
            <a:pPr lvl="1"/>
            <a:r>
              <a:rPr lang="nl-NL"/>
              <a:t>Second level</a:t>
            </a:r>
          </a:p>
          <a:p>
            <a:pPr lvl="2"/>
            <a:r>
              <a:rPr lang="nl-NL"/>
              <a:t>Third level</a:t>
            </a:r>
          </a:p>
          <a:p>
            <a:pPr lvl="3"/>
            <a:r>
              <a:rPr lang="nl-NL"/>
              <a:t>Fourth level</a:t>
            </a:r>
          </a:p>
          <a:p>
            <a:pPr lvl="4"/>
            <a:r>
              <a:rPr lang="nl-NL"/>
              <a:t>Fifth level</a:t>
            </a:r>
          </a:p>
        </p:txBody>
      </p:sp>
      <p:sp>
        <p:nvSpPr>
          <p:cNvPr id="24582" name="Rectangle 6"/>
          <p:cNvSpPr>
            <a:spLocks noGrp="1" noChangeArrowheads="1"/>
          </p:cNvSpPr>
          <p:nvPr>
            <p:ph type="ftr" sz="quarter" idx="4"/>
          </p:nvPr>
        </p:nvSpPr>
        <p:spPr bwMode="auto">
          <a:xfrm>
            <a:off x="0" y="9385300"/>
            <a:ext cx="2938463"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vl1pPr>
          </a:lstStyle>
          <a:p>
            <a:endParaRPr lang="nl-NL"/>
          </a:p>
        </p:txBody>
      </p:sp>
      <p:sp>
        <p:nvSpPr>
          <p:cNvPr id="24583" name="Rectangle 7"/>
          <p:cNvSpPr>
            <a:spLocks noGrp="1" noChangeArrowheads="1"/>
          </p:cNvSpPr>
          <p:nvPr>
            <p:ph type="sldNum" sz="quarter" idx="5"/>
          </p:nvPr>
        </p:nvSpPr>
        <p:spPr bwMode="auto">
          <a:xfrm>
            <a:off x="3841750" y="9385300"/>
            <a:ext cx="2938463"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vl1pPr>
          </a:lstStyle>
          <a:p>
            <a:fld id="{9337CC1B-DC64-472F-8386-3809B2514F01}" type="slidenum">
              <a:rPr lang="nl-NL"/>
              <a:pPr/>
              <a:t>‹#›</a:t>
            </a:fld>
            <a:endParaRPr lang="nl-NL"/>
          </a:p>
        </p:txBody>
      </p:sp>
    </p:spTree>
    <p:extLst>
      <p:ext uri="{BB962C8B-B14F-4D97-AF65-F5344CB8AC3E}">
        <p14:creationId xmlns:p14="http://schemas.microsoft.com/office/powerpoint/2010/main" val="259797947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EFDC9EDF-6C26-4097-8303-A1E5FA47F8E3}" type="slidenum">
              <a:rPr lang="en-US">
                <a:solidFill>
                  <a:srgbClr val="000000"/>
                </a:solidFill>
                <a:ea typeface="ＭＳ Ｐゴシック" pitchFamily="34" charset="-128"/>
              </a:rPr>
              <a:pPr/>
              <a:t>1</a:t>
            </a:fld>
            <a:endParaRPr lang="en-US">
              <a:solidFill>
                <a:srgbClr val="000000"/>
              </a:solidFill>
              <a:ea typeface="ＭＳ Ｐゴシック" pitchFamily="34" charset="-128"/>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nl-NL">
              <a:ea typeface="ＭＳ Ｐゴシック" pitchFamily="34" charset="-128"/>
            </a:endParaRPr>
          </a:p>
        </p:txBody>
      </p:sp>
    </p:spTree>
    <p:extLst>
      <p:ext uri="{BB962C8B-B14F-4D97-AF65-F5344CB8AC3E}">
        <p14:creationId xmlns:p14="http://schemas.microsoft.com/office/powerpoint/2010/main" val="995005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55517A-4AFF-4B83-8A17-E19F7571EA85}" type="slidenum">
              <a:rPr lang="nl-NL"/>
              <a:pPr/>
              <a:t>2</a:t>
            </a:fld>
            <a:endParaRPr lang="nl-NL"/>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p:txBody>
          <a:bodyPr/>
          <a:lstStyle/>
          <a:p>
            <a:endParaRPr lang="nl-NL"/>
          </a:p>
        </p:txBody>
      </p:sp>
    </p:spTree>
    <p:extLst>
      <p:ext uri="{BB962C8B-B14F-4D97-AF65-F5344CB8AC3E}">
        <p14:creationId xmlns:p14="http://schemas.microsoft.com/office/powerpoint/2010/main" val="952485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22E122-2881-41B1-B178-B9387D00EF96}" type="slidenum">
              <a:rPr lang="nl-NL"/>
              <a:pPr/>
              <a:t>17</a:t>
            </a:fld>
            <a:endParaRPr lang="nl-NL"/>
          </a:p>
        </p:txBody>
      </p:sp>
      <p:sp>
        <p:nvSpPr>
          <p:cNvPr id="208898" name="Rectangle 2"/>
          <p:cNvSpPr>
            <a:spLocks noGrp="1" noRot="1" noChangeAspect="1" noChangeArrowheads="1" noTextEdit="1"/>
          </p:cNvSpPr>
          <p:nvPr>
            <p:ph type="sldImg"/>
          </p:nvPr>
        </p:nvSpPr>
        <p:spPr>
          <a:ln/>
        </p:spPr>
      </p:sp>
      <p:sp>
        <p:nvSpPr>
          <p:cNvPr id="208899" name="Rectangle 3"/>
          <p:cNvSpPr>
            <a:spLocks noGrp="1" noChangeArrowheads="1"/>
          </p:cNvSpPr>
          <p:nvPr>
            <p:ph type="body" idx="1"/>
          </p:nvPr>
        </p:nvSpPr>
        <p:spPr>
          <a:xfrm>
            <a:off x="904875" y="4692650"/>
            <a:ext cx="4972050" cy="4446588"/>
          </a:xfrm>
        </p:spPr>
        <p:txBody>
          <a:bodyPr/>
          <a:lstStyle/>
          <a:p>
            <a:r>
              <a:rPr lang="en-US" dirty="0"/>
              <a:t>Review General Concept of Social Welfare Function</a:t>
            </a:r>
          </a:p>
          <a:p>
            <a:r>
              <a:rPr lang="en-US" dirty="0"/>
              <a:t>Utilitarianism simply means W a function of people’s utility</a:t>
            </a:r>
          </a:p>
          <a:p>
            <a:r>
              <a:rPr lang="en-US" dirty="0"/>
              <a:t>Conventional Welfare Economics posits W = F(U1, U2, …, Un), but this so general it doesn’t tell us much</a:t>
            </a:r>
          </a:p>
          <a:p>
            <a:endParaRPr lang="en-US" dirty="0"/>
          </a:p>
          <a:p>
            <a:r>
              <a:rPr lang="en-US" dirty="0" err="1"/>
              <a:t>Utilitarians</a:t>
            </a:r>
            <a:r>
              <a:rPr lang="en-US" dirty="0"/>
              <a:t> believed in additive welfare function, although W = F( ) is called a utilitarian welfare function</a:t>
            </a:r>
          </a:p>
        </p:txBody>
      </p:sp>
    </p:spTree>
    <p:extLst>
      <p:ext uri="{BB962C8B-B14F-4D97-AF65-F5344CB8AC3E}">
        <p14:creationId xmlns:p14="http://schemas.microsoft.com/office/powerpoint/2010/main" val="3792590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573706-A732-4443-B4A6-DC91341E7445}" type="slidenum">
              <a:rPr lang="nl-NL"/>
              <a:pPr/>
              <a:t>18</a:t>
            </a:fld>
            <a:endParaRPr lang="nl-NL"/>
          </a:p>
        </p:txBody>
      </p:sp>
      <p:sp>
        <p:nvSpPr>
          <p:cNvPr id="217090" name="Rectangle 2"/>
          <p:cNvSpPr>
            <a:spLocks noGrp="1" noRot="1" noChangeAspect="1" noChangeArrowheads="1" noTextEdit="1"/>
          </p:cNvSpPr>
          <p:nvPr>
            <p:ph type="sldImg"/>
          </p:nvPr>
        </p:nvSpPr>
        <p:spPr>
          <a:ln/>
        </p:spPr>
      </p:sp>
      <p:sp>
        <p:nvSpPr>
          <p:cNvPr id="217091" name="Rectangle 3"/>
          <p:cNvSpPr>
            <a:spLocks noGrp="1" noChangeArrowheads="1"/>
          </p:cNvSpPr>
          <p:nvPr>
            <p:ph type="body" idx="1"/>
          </p:nvPr>
        </p:nvSpPr>
        <p:spPr>
          <a:xfrm>
            <a:off x="904875" y="4692650"/>
            <a:ext cx="4972050" cy="4446588"/>
          </a:xfrm>
        </p:spPr>
        <p:txBody>
          <a:bodyPr/>
          <a:lstStyle/>
          <a:p>
            <a:r>
              <a:rPr lang="en-US"/>
              <a:t>Review General Concept of Social Welfare Function</a:t>
            </a:r>
          </a:p>
          <a:p>
            <a:r>
              <a:rPr lang="en-US"/>
              <a:t>Utilitarianism simply means W a function of people’s utility</a:t>
            </a:r>
          </a:p>
          <a:p>
            <a:r>
              <a:rPr lang="en-US"/>
              <a:t>Conventional Welfare Economics posits W = F(U1, U2, …, Un), but this so general it doesn’t tell us much</a:t>
            </a:r>
          </a:p>
          <a:p>
            <a:endParaRPr lang="en-US"/>
          </a:p>
          <a:p>
            <a:r>
              <a:rPr lang="en-US"/>
              <a:t>Utilitarians believed in additive welfare function, although W = F( ) is called a utilitarian welfare function</a:t>
            </a:r>
          </a:p>
        </p:txBody>
      </p:sp>
    </p:spTree>
    <p:extLst>
      <p:ext uri="{BB962C8B-B14F-4D97-AF65-F5344CB8AC3E}">
        <p14:creationId xmlns:p14="http://schemas.microsoft.com/office/powerpoint/2010/main" val="129003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EA4939-A430-44F4-A223-BF541CF32671}" type="slidenum">
              <a:rPr lang="nl-NL"/>
              <a:pPr/>
              <a:t>19</a:t>
            </a:fld>
            <a:endParaRPr lang="nl-NL"/>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a:xfrm>
            <a:off x="904875" y="4692650"/>
            <a:ext cx="4972050" cy="4446588"/>
          </a:xfrm>
        </p:spPr>
        <p:txBody>
          <a:bodyPr/>
          <a:lstStyle/>
          <a:p>
            <a:endParaRPr lang="en-US"/>
          </a:p>
        </p:txBody>
      </p:sp>
    </p:spTree>
    <p:extLst>
      <p:ext uri="{BB962C8B-B14F-4D97-AF65-F5344CB8AC3E}">
        <p14:creationId xmlns:p14="http://schemas.microsoft.com/office/powerpoint/2010/main" val="2839727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520C74-BA68-4662-8EFC-6BA550811130}" type="slidenum">
              <a:rPr lang="nl-NL"/>
              <a:pPr/>
              <a:t>20</a:t>
            </a:fld>
            <a:endParaRPr lang="nl-NL"/>
          </a:p>
        </p:txBody>
      </p:sp>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a:xfrm>
            <a:off x="904875" y="4692650"/>
            <a:ext cx="4972050" cy="4446588"/>
          </a:xfrm>
        </p:spPr>
        <p:txBody>
          <a:bodyPr/>
          <a:lstStyle/>
          <a:p>
            <a:r>
              <a:rPr lang="en-US"/>
              <a:t>Review General Concept of Social Welfare Function</a:t>
            </a:r>
          </a:p>
          <a:p>
            <a:r>
              <a:rPr lang="en-US"/>
              <a:t>Utilitarianism simply means W a function of people’s utility</a:t>
            </a:r>
          </a:p>
          <a:p>
            <a:r>
              <a:rPr lang="en-US"/>
              <a:t>Conventional Welfare Economics posits W = F(U1, U2, …, Un), but this so general it doesn’t tell us much</a:t>
            </a:r>
          </a:p>
          <a:p>
            <a:endParaRPr lang="en-US"/>
          </a:p>
          <a:p>
            <a:r>
              <a:rPr lang="en-US"/>
              <a:t>Utilitarians believed in additive welfare function, although W = F( ) is called a utilitarian welfare function</a:t>
            </a:r>
          </a:p>
        </p:txBody>
      </p:sp>
    </p:spTree>
    <p:extLst>
      <p:ext uri="{BB962C8B-B14F-4D97-AF65-F5344CB8AC3E}">
        <p14:creationId xmlns:p14="http://schemas.microsoft.com/office/powerpoint/2010/main" val="430738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9F2BD2-4628-4B3A-9258-382C7C7042F5}" type="slidenum">
              <a:rPr lang="nl-NL"/>
              <a:pPr/>
              <a:t>34</a:t>
            </a:fld>
            <a:endParaRPr lang="nl-NL"/>
          </a:p>
        </p:txBody>
      </p:sp>
      <p:sp>
        <p:nvSpPr>
          <p:cNvPr id="229378" name="Rectangle 2"/>
          <p:cNvSpPr>
            <a:spLocks noGrp="1" noRot="1" noChangeAspect="1" noChangeArrowheads="1" noTextEdit="1"/>
          </p:cNvSpPr>
          <p:nvPr>
            <p:ph type="sldImg"/>
          </p:nvPr>
        </p:nvSpPr>
        <p:spPr>
          <a:ln/>
        </p:spPr>
      </p:sp>
      <p:sp>
        <p:nvSpPr>
          <p:cNvPr id="2293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380748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D24211-B968-4B4A-AB21-6377BD223527}" type="slidenum">
              <a:rPr lang="nl-NL"/>
              <a:pPr/>
              <a:t>35</a:t>
            </a:fld>
            <a:endParaRPr lang="nl-NL"/>
          </a:p>
        </p:txBody>
      </p:sp>
      <p:sp>
        <p:nvSpPr>
          <p:cNvPr id="227330" name="Rectangle 2"/>
          <p:cNvSpPr>
            <a:spLocks noGrp="1" noRot="1" noChangeAspect="1" noChangeArrowheads="1" noTextEdit="1"/>
          </p:cNvSpPr>
          <p:nvPr>
            <p:ph type="sldImg"/>
          </p:nvPr>
        </p:nvSpPr>
        <p:spPr>
          <a:ln/>
        </p:spPr>
      </p:sp>
      <p:sp>
        <p:nvSpPr>
          <p:cNvPr id="2273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5963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9F2BD2-4628-4B3A-9258-382C7C7042F5}" type="slidenum">
              <a:rPr lang="nl-NL"/>
              <a:pPr/>
              <a:t>36</a:t>
            </a:fld>
            <a:endParaRPr lang="nl-NL"/>
          </a:p>
        </p:txBody>
      </p:sp>
      <p:sp>
        <p:nvSpPr>
          <p:cNvPr id="229378" name="Rectangle 2"/>
          <p:cNvSpPr>
            <a:spLocks noGrp="1" noRot="1" noChangeAspect="1" noChangeArrowheads="1" noTextEdit="1"/>
          </p:cNvSpPr>
          <p:nvPr>
            <p:ph type="sldImg"/>
          </p:nvPr>
        </p:nvSpPr>
        <p:spPr>
          <a:ln/>
        </p:spPr>
      </p:sp>
      <p:sp>
        <p:nvSpPr>
          <p:cNvPr id="2293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46653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688137-30B0-40B6-9766-FADF2B76C946}" type="slidenum">
              <a:rPr lang="nl-NL"/>
              <a:pPr/>
              <a:t>37</a:t>
            </a:fld>
            <a:endParaRPr lang="nl-NL"/>
          </a:p>
        </p:txBody>
      </p:sp>
      <p:sp>
        <p:nvSpPr>
          <p:cNvPr id="231426" name="Rectangle 2"/>
          <p:cNvSpPr>
            <a:spLocks noGrp="1" noRot="1" noChangeAspect="1" noChangeArrowheads="1" noTextEdit="1"/>
          </p:cNvSpPr>
          <p:nvPr>
            <p:ph type="sldImg"/>
          </p:nvPr>
        </p:nvSpPr>
        <p:spPr>
          <a:ln/>
        </p:spPr>
      </p:sp>
      <p:sp>
        <p:nvSpPr>
          <p:cNvPr id="2314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19924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7A0C40-B2C4-49AE-8E5F-43C58FBABCB4}" type="slidenum">
              <a:rPr lang="nl-NL"/>
              <a:pPr/>
              <a:t>38</a:t>
            </a:fld>
            <a:endParaRPr lang="nl-NL"/>
          </a:p>
        </p:txBody>
      </p:sp>
      <p:sp>
        <p:nvSpPr>
          <p:cNvPr id="233474" name="Rectangle 2"/>
          <p:cNvSpPr>
            <a:spLocks noGrp="1" noRot="1" noChangeAspect="1" noChangeArrowheads="1" noTextEdit="1"/>
          </p:cNvSpPr>
          <p:nvPr>
            <p:ph type="sldImg"/>
          </p:nvPr>
        </p:nvSpPr>
        <p:spPr>
          <a:ln/>
        </p:spPr>
      </p:sp>
      <p:sp>
        <p:nvSpPr>
          <p:cNvPr id="2334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017198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8F5538-09F8-48E1-979F-3A16517A3BCE}" type="slidenum">
              <a:rPr lang="nl-NL"/>
              <a:pPr/>
              <a:t>41</a:t>
            </a:fld>
            <a:endParaRPr lang="nl-NL"/>
          </a:p>
        </p:txBody>
      </p:sp>
      <p:sp>
        <p:nvSpPr>
          <p:cNvPr id="239618" name="Rectangle 2"/>
          <p:cNvSpPr>
            <a:spLocks noGrp="1" noRot="1" noChangeAspect="1" noChangeArrowheads="1" noTextEdit="1"/>
          </p:cNvSpPr>
          <p:nvPr>
            <p:ph type="sldImg"/>
          </p:nvPr>
        </p:nvSpPr>
        <p:spPr>
          <a:ln/>
        </p:spPr>
      </p:sp>
      <p:sp>
        <p:nvSpPr>
          <p:cNvPr id="2396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796663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8BE4CF-AD40-432D-9142-8A0E6BF8EDED}" type="slidenum">
              <a:rPr lang="nl-NL"/>
              <a:pPr/>
              <a:t>43</a:t>
            </a:fld>
            <a:endParaRPr lang="nl-NL"/>
          </a:p>
        </p:txBody>
      </p:sp>
      <p:sp>
        <p:nvSpPr>
          <p:cNvPr id="249858" name="Rectangle 2"/>
          <p:cNvSpPr>
            <a:spLocks noGrp="1" noRot="1" noChangeAspect="1" noChangeArrowheads="1" noTextEdit="1"/>
          </p:cNvSpPr>
          <p:nvPr>
            <p:ph type="sldImg"/>
          </p:nvPr>
        </p:nvSpPr>
        <p:spPr>
          <a:ln/>
        </p:spPr>
      </p:sp>
      <p:sp>
        <p:nvSpPr>
          <p:cNvPr id="2498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32400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206BBC-8506-4794-A667-53E60FE9FF37}" type="slidenum">
              <a:rPr lang="nl-NL"/>
              <a:pPr/>
              <a:t>46</a:t>
            </a:fld>
            <a:endParaRPr lang="nl-NL"/>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768403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7AAF82-D7D5-4FC8-B5CB-73C73B47B893}" type="slidenum">
              <a:rPr lang="nl-NL"/>
              <a:pPr/>
              <a:t>48</a:t>
            </a:fld>
            <a:endParaRPr lang="nl-NL"/>
          </a:p>
        </p:txBody>
      </p:sp>
      <p:sp>
        <p:nvSpPr>
          <p:cNvPr id="252930" name="Rectangle 2"/>
          <p:cNvSpPr>
            <a:spLocks noGrp="1" noRot="1" noChangeAspect="1" noChangeArrowheads="1" noTextEdit="1"/>
          </p:cNvSpPr>
          <p:nvPr>
            <p:ph type="sldImg"/>
          </p:nvPr>
        </p:nvSpPr>
        <p:spPr>
          <a:ln/>
        </p:spPr>
      </p:sp>
      <p:sp>
        <p:nvSpPr>
          <p:cNvPr id="2529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17945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E6E19F-0F3B-475A-BF82-52643ACA976C}" type="slidenum">
              <a:rPr lang="nl-NL"/>
              <a:pPr/>
              <a:t>50</a:t>
            </a:fld>
            <a:endParaRPr lang="nl-NL"/>
          </a:p>
        </p:txBody>
      </p:sp>
      <p:sp>
        <p:nvSpPr>
          <p:cNvPr id="257026" name="Rectangle 2"/>
          <p:cNvSpPr>
            <a:spLocks noGrp="1" noRot="1" noChangeAspect="1" noChangeArrowheads="1" noTextEdit="1"/>
          </p:cNvSpPr>
          <p:nvPr>
            <p:ph type="sldImg"/>
          </p:nvPr>
        </p:nvSpPr>
        <p:spPr>
          <a:ln/>
        </p:spPr>
      </p:sp>
      <p:sp>
        <p:nvSpPr>
          <p:cNvPr id="2570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90242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5DEC1EE9-498A-48D2-B86A-0D9B80B3DEC5}" type="slidenum">
              <a:rPr lang="en-GB"/>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15C19668-67FA-4C8C-814E-5075B276A998}" type="slidenum">
              <a:rPr lang="en-GB"/>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D21655FF-4677-4A25-8E73-51654795FCA1}" type="slidenum">
              <a:rPr lang="en-GB"/>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A7704B1C-29AE-4458-98B0-E923A88A0E5C}" type="slidenum">
              <a:rPr lang="en-GB"/>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GB"/>
          </a:p>
        </p:txBody>
      </p:sp>
      <p:sp>
        <p:nvSpPr>
          <p:cNvPr id="8" name="Footer Placeholder 7"/>
          <p:cNvSpPr>
            <a:spLocks noGrp="1"/>
          </p:cNvSpPr>
          <p:nvPr>
            <p:ph type="ftr" sz="quarter" idx="11"/>
          </p:nvPr>
        </p:nvSpPr>
        <p:spPr/>
        <p:txBody>
          <a:bodyPr/>
          <a:lstStyle>
            <a:lvl1pPr>
              <a:defRPr/>
            </a:lvl1pPr>
          </a:lstStyle>
          <a:p>
            <a:endParaRPr lang="en-GB"/>
          </a:p>
        </p:txBody>
      </p:sp>
      <p:sp>
        <p:nvSpPr>
          <p:cNvPr id="9" name="Slide Number Placeholder 8"/>
          <p:cNvSpPr>
            <a:spLocks noGrp="1"/>
          </p:cNvSpPr>
          <p:nvPr>
            <p:ph type="sldNum" sz="quarter" idx="12"/>
          </p:nvPr>
        </p:nvSpPr>
        <p:spPr/>
        <p:txBody>
          <a:bodyPr/>
          <a:lstStyle>
            <a:lvl1pPr>
              <a:defRPr/>
            </a:lvl1pPr>
          </a:lstStyle>
          <a:p>
            <a:fld id="{299CB494-03F1-402F-94DA-B6D61709ACC4}" type="slidenum">
              <a:rPr lang="en-GB"/>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GB"/>
          </a:p>
        </p:txBody>
      </p:sp>
      <p:sp>
        <p:nvSpPr>
          <p:cNvPr id="4" name="Footer Placeholder 3"/>
          <p:cNvSpPr>
            <a:spLocks noGrp="1"/>
          </p:cNvSpPr>
          <p:nvPr>
            <p:ph type="ftr" sz="quarter" idx="11"/>
          </p:nvPr>
        </p:nvSpPr>
        <p:spPr/>
        <p:txBody>
          <a:bodyPr/>
          <a:lstStyle>
            <a:lvl1pPr>
              <a:defRPr/>
            </a:lvl1pPr>
          </a:lstStyle>
          <a:p>
            <a:endParaRPr lang="en-GB"/>
          </a:p>
        </p:txBody>
      </p:sp>
      <p:sp>
        <p:nvSpPr>
          <p:cNvPr id="5" name="Slide Number Placeholder 4"/>
          <p:cNvSpPr>
            <a:spLocks noGrp="1"/>
          </p:cNvSpPr>
          <p:nvPr>
            <p:ph type="sldNum" sz="quarter" idx="12"/>
          </p:nvPr>
        </p:nvSpPr>
        <p:spPr/>
        <p:txBody>
          <a:bodyPr/>
          <a:lstStyle>
            <a:lvl1pPr>
              <a:defRPr/>
            </a:lvl1pPr>
          </a:lstStyle>
          <a:p>
            <a:fld id="{82063DCB-ACC4-4051-BAE3-757C182E817F}" type="slidenum">
              <a:rPr lang="en-GB"/>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GB"/>
          </a:p>
        </p:txBody>
      </p:sp>
      <p:sp>
        <p:nvSpPr>
          <p:cNvPr id="3" name="Footer Placeholder 2"/>
          <p:cNvSpPr>
            <a:spLocks noGrp="1"/>
          </p:cNvSpPr>
          <p:nvPr>
            <p:ph type="ftr" sz="quarter" idx="11"/>
          </p:nvPr>
        </p:nvSpPr>
        <p:spPr/>
        <p:txBody>
          <a:bodyPr/>
          <a:lstStyle>
            <a:lvl1pPr>
              <a:defRPr/>
            </a:lvl1pPr>
          </a:lstStyle>
          <a:p>
            <a:endParaRPr lang="en-GB"/>
          </a:p>
        </p:txBody>
      </p:sp>
      <p:sp>
        <p:nvSpPr>
          <p:cNvPr id="4" name="Slide Number Placeholder 3"/>
          <p:cNvSpPr>
            <a:spLocks noGrp="1"/>
          </p:cNvSpPr>
          <p:nvPr>
            <p:ph type="sldNum" sz="quarter" idx="12"/>
          </p:nvPr>
        </p:nvSpPr>
        <p:spPr/>
        <p:txBody>
          <a:bodyPr/>
          <a:lstStyle>
            <a:lvl1pPr>
              <a:defRPr/>
            </a:lvl1pPr>
          </a:lstStyle>
          <a:p>
            <a:fld id="{F5DBBA58-BB8F-4BA9-A793-EB73411838A8}" type="slidenum">
              <a:rPr lang="en-GB"/>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83E56AF9-E08C-48C5-8EDE-61ACC71A8509}" type="slidenum">
              <a:rPr lang="en-GB"/>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GB"/>
          </a:p>
        </p:txBody>
      </p:sp>
      <p:sp>
        <p:nvSpPr>
          <p:cNvPr id="6" name="Footer Placeholder 5"/>
          <p:cNvSpPr>
            <a:spLocks noGrp="1"/>
          </p:cNvSpPr>
          <p:nvPr>
            <p:ph type="ftr" sz="quarter" idx="11"/>
          </p:nvPr>
        </p:nvSpPr>
        <p:spPr/>
        <p:txBody>
          <a:bodyPr/>
          <a:lstStyle>
            <a:lvl1pPr>
              <a:defRPr/>
            </a:lvl1pPr>
          </a:lstStyle>
          <a:p>
            <a:endParaRPr lang="en-GB"/>
          </a:p>
        </p:txBody>
      </p:sp>
      <p:sp>
        <p:nvSpPr>
          <p:cNvPr id="7" name="Slide Number Placeholder 6"/>
          <p:cNvSpPr>
            <a:spLocks noGrp="1"/>
          </p:cNvSpPr>
          <p:nvPr>
            <p:ph type="sldNum" sz="quarter" idx="12"/>
          </p:nvPr>
        </p:nvSpPr>
        <p:spPr/>
        <p:txBody>
          <a:bodyPr/>
          <a:lstStyle>
            <a:lvl1pPr>
              <a:defRPr/>
            </a:lvl1pPr>
          </a:lstStyle>
          <a:p>
            <a:fld id="{26757032-3785-403E-B5F6-07CBA3B4E362}" type="slidenum">
              <a:rPr lang="en-GB"/>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99E4E81C-2316-4268-9D3B-1C87CC19ACE6}" type="slidenum">
              <a:rPr lang="en-GB"/>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p>
        </p:txBody>
      </p:sp>
      <p:sp>
        <p:nvSpPr>
          <p:cNvPr id="5" name="Footer Placeholder 4"/>
          <p:cNvSpPr>
            <a:spLocks noGrp="1"/>
          </p:cNvSpPr>
          <p:nvPr>
            <p:ph type="ftr" sz="quarter" idx="11"/>
          </p:nvPr>
        </p:nvSpPr>
        <p:spPr/>
        <p:txBody>
          <a:bodyPr/>
          <a:lstStyle>
            <a:lvl1pPr>
              <a:defRPr/>
            </a:lvl1pPr>
          </a:lstStyle>
          <a:p>
            <a:endParaRPr lang="en-GB"/>
          </a:p>
        </p:txBody>
      </p:sp>
      <p:sp>
        <p:nvSpPr>
          <p:cNvPr id="6" name="Slide Number Placeholder 5"/>
          <p:cNvSpPr>
            <a:spLocks noGrp="1"/>
          </p:cNvSpPr>
          <p:nvPr>
            <p:ph type="sldNum" sz="quarter" idx="12"/>
          </p:nvPr>
        </p:nvSpPr>
        <p:spPr/>
        <p:txBody>
          <a:bodyPr/>
          <a:lstStyle>
            <a:lvl1pPr>
              <a:defRPr/>
            </a:lvl1pPr>
          </a:lstStyle>
          <a:p>
            <a:fld id="{977B3C76-5DF7-49F2-9EA2-EA2F2EFA70C0}" type="slidenum">
              <a:rPr lang="en-GB"/>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endParaRPr lang="en-US"/>
          </a:p>
        </p:txBody>
      </p:sp>
      <p:sp>
        <p:nvSpPr>
          <p:cNvPr id="4" name="Date Placeholder 3"/>
          <p:cNvSpPr>
            <a:spLocks noGrp="1"/>
          </p:cNvSpPr>
          <p:nvPr>
            <p:ph type="dt" sz="half" idx="10"/>
          </p:nvPr>
        </p:nvSpPr>
        <p:spPr>
          <a:xfrm>
            <a:off x="685800" y="6248400"/>
            <a:ext cx="1905000" cy="457200"/>
          </a:xfrm>
        </p:spPr>
        <p:txBody>
          <a:bodyPr/>
          <a:lstStyle>
            <a:lvl1pPr>
              <a:defRPr/>
            </a:lvl1pPr>
          </a:lstStyle>
          <a:p>
            <a:endParaRPr lang="en-GB"/>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endParaRPr lang="en-GB"/>
          </a:p>
        </p:txBody>
      </p:sp>
      <p:sp>
        <p:nvSpPr>
          <p:cNvPr id="6" name="Slide Number Placeholder 5"/>
          <p:cNvSpPr>
            <a:spLocks noGrp="1"/>
          </p:cNvSpPr>
          <p:nvPr>
            <p:ph type="sldNum" sz="quarter" idx="12"/>
          </p:nvPr>
        </p:nvSpPr>
        <p:spPr>
          <a:xfrm>
            <a:off x="6553200" y="6248400"/>
            <a:ext cx="1905000" cy="457200"/>
          </a:xfrm>
        </p:spPr>
        <p:txBody>
          <a:bodyPr/>
          <a:lstStyle>
            <a:lvl1pPr>
              <a:defRPr/>
            </a:lvl1pPr>
          </a:lstStyle>
          <a:p>
            <a:fld id="{65DE0F8A-5724-4339-8E6C-201B0EA47136}"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GB"/>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GB"/>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10DAD509-AC1F-4C31-B876-5B74CF37516F}" type="slidenum">
              <a:rPr lang="en-GB"/>
              <a:pPr/>
              <a:t>‹#›</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a:lstStyle>
            <a:lvl1pPr>
              <a:defRPr/>
            </a:lvl1pPr>
          </a:lstStyle>
          <a:p>
            <a:endParaRPr lang="en-GB"/>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endParaRPr lang="en-GB"/>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EAD3D7FB-AA94-4A73-8B5B-C13CF9889EA0}" type="slidenum">
              <a:rPr lang="en-GB"/>
              <a:pPr/>
              <a:t>‹#›</a:t>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0" descr="ppt_background_title"/>
          <p:cNvPicPr>
            <a:picLocks noChangeAspect="1" noChangeArrowheads="1"/>
          </p:cNvPicPr>
          <p:nvPr userDrawn="1"/>
        </p:nvPicPr>
        <p:blipFill>
          <a:blip r:embed="rId2" cstate="print"/>
          <a:srcRect/>
          <a:stretch>
            <a:fillRect/>
          </a:stretch>
        </p:blipFill>
        <p:spPr bwMode="auto">
          <a:xfrm>
            <a:off x="0" y="0"/>
            <a:ext cx="9364663" cy="7024688"/>
          </a:xfrm>
          <a:prstGeom prst="rect">
            <a:avLst/>
          </a:prstGeom>
          <a:noFill/>
          <a:ln w="9525">
            <a:noFill/>
            <a:miter lim="800000"/>
            <a:headEnd/>
            <a:tailEnd/>
          </a:ln>
        </p:spPr>
      </p:pic>
      <p:sp>
        <p:nvSpPr>
          <p:cNvPr id="175120" name="Rectangle 16"/>
          <p:cNvSpPr>
            <a:spLocks noGrp="1" noChangeArrowheads="1"/>
          </p:cNvSpPr>
          <p:nvPr>
            <p:ph type="ctrTitle" sz="quarter"/>
          </p:nvPr>
        </p:nvSpPr>
        <p:spPr>
          <a:xfrm>
            <a:off x="827088" y="1619250"/>
            <a:ext cx="8132762" cy="468313"/>
          </a:xfrm>
        </p:spPr>
        <p:txBody>
          <a:bodyPr/>
          <a:lstStyle>
            <a:lvl1pPr>
              <a:defRPr>
                <a:solidFill>
                  <a:schemeClr val="bg1"/>
                </a:solidFill>
              </a:defRPr>
            </a:lvl1pPr>
          </a:lstStyle>
          <a:p>
            <a:r>
              <a:rPr lang="nl-NL"/>
              <a:t>Click to edit Master title style</a:t>
            </a:r>
          </a:p>
        </p:txBody>
      </p:sp>
      <p:sp>
        <p:nvSpPr>
          <p:cNvPr id="175121" name="Rectangle 17"/>
          <p:cNvSpPr>
            <a:spLocks noGrp="1" noChangeArrowheads="1"/>
          </p:cNvSpPr>
          <p:nvPr>
            <p:ph type="subTitle" sz="quarter" idx="1"/>
          </p:nvPr>
        </p:nvSpPr>
        <p:spPr>
          <a:xfrm>
            <a:off x="827088" y="2428875"/>
            <a:ext cx="8132762" cy="3508375"/>
          </a:xfrm>
        </p:spPr>
        <p:txBody>
          <a:bodyPr/>
          <a:lstStyle>
            <a:lvl1pPr marL="266700" indent="-266700">
              <a:defRPr/>
            </a:lvl1pPr>
            <a:lvl2pPr marL="714375" lvl="1" indent="-266700">
              <a:defRPr/>
            </a:lvl2pPr>
            <a:lvl3pPr marL="1162050" lvl="2" indent="-173038">
              <a:defRPr/>
            </a:lvl3pPr>
            <a:lvl4pPr marL="1524000" lvl="3" indent="-180975">
              <a:defRPr/>
            </a:lvl4pPr>
          </a:lstStyle>
          <a:p>
            <a:r>
              <a:rPr lang="nl-NL"/>
              <a:t>Click to edit Master subtitle style</a:t>
            </a:r>
          </a:p>
          <a:p>
            <a:pPr lvl="1"/>
            <a:r>
              <a:rPr lang="nl-NL"/>
              <a:t>Level 2</a:t>
            </a:r>
          </a:p>
          <a:p>
            <a:pPr lvl="2"/>
            <a:r>
              <a:rPr lang="nl-NL"/>
              <a:t>Level 3 </a:t>
            </a:r>
          </a:p>
          <a:p>
            <a:pPr lvl="3"/>
            <a:r>
              <a:rPr lang="nl-NL"/>
              <a:t>Level 4</a:t>
            </a:r>
          </a:p>
          <a:p>
            <a:pPr lvl="2"/>
            <a:endParaRPr lang="nl-NL"/>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sldNum" sz="quarter" idx="10"/>
          </p:nvPr>
        </p:nvSpPr>
        <p:spPr/>
        <p:txBody>
          <a:bodyPr/>
          <a:lstStyle>
            <a:lvl1pPr>
              <a:lnSpc>
                <a:spcPct val="90000"/>
              </a:lnSpc>
              <a:defRPr>
                <a:latin typeface="Times New Roman" pitchFamily="18" charset="0"/>
              </a:defRPr>
            </a:lvl1pPr>
          </a:lstStyle>
          <a:p>
            <a:pPr>
              <a:defRPr/>
            </a:pPr>
            <a:fld id="{DF48BEBC-9D59-4AF9-BC2A-BF1F46B7689A}"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9"/>
          <p:cNvSpPr>
            <a:spLocks noGrp="1" noChangeArrowheads="1"/>
          </p:cNvSpPr>
          <p:nvPr>
            <p:ph type="sldNum" sz="quarter" idx="10"/>
          </p:nvPr>
        </p:nvSpPr>
        <p:spPr/>
        <p:txBody>
          <a:bodyPr/>
          <a:lstStyle>
            <a:lvl1pPr>
              <a:lnSpc>
                <a:spcPct val="90000"/>
              </a:lnSpc>
              <a:defRPr>
                <a:latin typeface="Times New Roman" pitchFamily="18" charset="0"/>
              </a:defRPr>
            </a:lvl1pPr>
          </a:lstStyle>
          <a:p>
            <a:pPr>
              <a:defRPr/>
            </a:pPr>
            <a:fld id="{7BB05D0A-2EA5-414C-9B7B-9AC63E7636BA}"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27088" y="1438275"/>
            <a:ext cx="3989387"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68875" y="1438275"/>
            <a:ext cx="3990975" cy="4498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p:cNvSpPr>
            <a:spLocks noGrp="1" noChangeArrowheads="1"/>
          </p:cNvSpPr>
          <p:nvPr>
            <p:ph type="sldNum" sz="quarter" idx="10"/>
          </p:nvPr>
        </p:nvSpPr>
        <p:spPr/>
        <p:txBody>
          <a:bodyPr/>
          <a:lstStyle>
            <a:lvl1pPr>
              <a:lnSpc>
                <a:spcPct val="90000"/>
              </a:lnSpc>
              <a:defRPr>
                <a:latin typeface="Times New Roman" pitchFamily="18" charset="0"/>
              </a:defRPr>
            </a:lvl1pPr>
          </a:lstStyle>
          <a:p>
            <a:pPr>
              <a:defRPr/>
            </a:pPr>
            <a:fld id="{7FF36F2A-C8FE-492E-B28C-B42E1BB2A5CC}"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9"/>
          <p:cNvSpPr>
            <a:spLocks noGrp="1" noChangeArrowheads="1"/>
          </p:cNvSpPr>
          <p:nvPr>
            <p:ph type="sldNum" sz="quarter" idx="10"/>
          </p:nvPr>
        </p:nvSpPr>
        <p:spPr/>
        <p:txBody>
          <a:bodyPr/>
          <a:lstStyle>
            <a:lvl1pPr>
              <a:lnSpc>
                <a:spcPct val="90000"/>
              </a:lnSpc>
              <a:defRPr>
                <a:latin typeface="Times New Roman" pitchFamily="18" charset="0"/>
              </a:defRPr>
            </a:lvl1pPr>
          </a:lstStyle>
          <a:p>
            <a:pPr>
              <a:defRPr/>
            </a:pPr>
            <a:fld id="{ED75A1B9-B592-4F2B-9DE0-A2820B2675DA}"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9"/>
          <p:cNvSpPr>
            <a:spLocks noGrp="1" noChangeArrowheads="1"/>
          </p:cNvSpPr>
          <p:nvPr>
            <p:ph type="sldNum" sz="quarter" idx="10"/>
          </p:nvPr>
        </p:nvSpPr>
        <p:spPr/>
        <p:txBody>
          <a:bodyPr/>
          <a:lstStyle>
            <a:lvl1pPr>
              <a:lnSpc>
                <a:spcPct val="90000"/>
              </a:lnSpc>
              <a:defRPr>
                <a:latin typeface="Times New Roman" pitchFamily="18" charset="0"/>
              </a:defRPr>
            </a:lvl1pPr>
          </a:lstStyle>
          <a:p>
            <a:pPr>
              <a:defRPr/>
            </a:pPr>
            <a:fld id="{62A634AD-4B1A-4508-8C17-3D8120C251EC}"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p:txBody>
          <a:bodyPr/>
          <a:lstStyle>
            <a:lvl1pPr>
              <a:lnSpc>
                <a:spcPct val="90000"/>
              </a:lnSpc>
              <a:defRPr>
                <a:latin typeface="Times New Roman" pitchFamily="18" charset="0"/>
              </a:defRPr>
            </a:lvl1pPr>
          </a:lstStyle>
          <a:p>
            <a:pPr>
              <a:defRPr/>
            </a:pPr>
            <a:fld id="{EB1A4A06-B755-488B-AEFE-83AD8BF30C37}"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sldNum" sz="quarter" idx="10"/>
          </p:nvPr>
        </p:nvSpPr>
        <p:spPr/>
        <p:txBody>
          <a:bodyPr/>
          <a:lstStyle>
            <a:lvl1pPr>
              <a:lnSpc>
                <a:spcPct val="90000"/>
              </a:lnSpc>
              <a:defRPr>
                <a:latin typeface="Times New Roman" pitchFamily="18" charset="0"/>
              </a:defRPr>
            </a:lvl1pPr>
          </a:lstStyle>
          <a:p>
            <a:pPr>
              <a:defRPr/>
            </a:pPr>
            <a:fld id="{99FF939F-F5A1-4240-98DA-0E7A7D7FA7A2}"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sldNum" sz="quarter" idx="10"/>
          </p:nvPr>
        </p:nvSpPr>
        <p:spPr/>
        <p:txBody>
          <a:bodyPr/>
          <a:lstStyle>
            <a:lvl1pPr>
              <a:lnSpc>
                <a:spcPct val="90000"/>
              </a:lnSpc>
              <a:defRPr>
                <a:latin typeface="Times New Roman" pitchFamily="18" charset="0"/>
              </a:defRPr>
            </a:lvl1pPr>
          </a:lstStyle>
          <a:p>
            <a:pPr>
              <a:defRPr/>
            </a:pPr>
            <a:fld id="{63424CD4-8B2D-4D7D-AD4B-0ED3849CDCE0}" type="slidenum">
              <a:rPr lang="en-US"/>
              <a:pPr>
                <a:defRPr/>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sldNum" sz="quarter" idx="10"/>
          </p:nvPr>
        </p:nvSpPr>
        <p:spPr/>
        <p:txBody>
          <a:bodyPr/>
          <a:lstStyle>
            <a:lvl1pPr>
              <a:lnSpc>
                <a:spcPct val="90000"/>
              </a:lnSpc>
              <a:defRPr>
                <a:latin typeface="Times New Roman" pitchFamily="18" charset="0"/>
              </a:defRPr>
            </a:lvl1pPr>
          </a:lstStyle>
          <a:p>
            <a:pPr>
              <a:defRPr/>
            </a:pPr>
            <a:fld id="{A89C9F88-A6C9-4903-BC68-019D9EC72C72}" type="slidenum">
              <a:rPr lang="en-US"/>
              <a:pPr>
                <a:defRPr/>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27850" y="539750"/>
            <a:ext cx="2032000" cy="53975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27088" y="539750"/>
            <a:ext cx="5948362" cy="53975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sldNum" sz="quarter" idx="10"/>
          </p:nvPr>
        </p:nvSpPr>
        <p:spPr/>
        <p:txBody>
          <a:bodyPr/>
          <a:lstStyle>
            <a:lvl1pPr>
              <a:lnSpc>
                <a:spcPct val="90000"/>
              </a:lnSpc>
              <a:defRPr>
                <a:latin typeface="Times New Roman" pitchFamily="18" charset="0"/>
              </a:defRPr>
            </a:lvl1pPr>
          </a:lstStyle>
          <a:p>
            <a:pPr>
              <a:defRPr/>
            </a:pPr>
            <a:fld id="{79581D0E-192D-4CB2-B904-FD680DB9E069}" type="slidenum">
              <a:rPr lang="en-US"/>
              <a:pPr>
                <a:defRPr/>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27088" y="539750"/>
            <a:ext cx="8132762" cy="5397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19"/>
          <p:cNvSpPr>
            <a:spLocks noGrp="1" noChangeArrowheads="1"/>
          </p:cNvSpPr>
          <p:nvPr>
            <p:ph type="sldNum" sz="quarter" idx="10"/>
          </p:nvPr>
        </p:nvSpPr>
        <p:spPr/>
        <p:txBody>
          <a:bodyPr/>
          <a:lstStyle>
            <a:lvl1pPr>
              <a:lnSpc>
                <a:spcPct val="90000"/>
              </a:lnSpc>
              <a:defRPr>
                <a:latin typeface="Times New Roman" pitchFamily="18" charset="0"/>
              </a:defRPr>
            </a:lvl1pPr>
          </a:lstStyle>
          <a:p>
            <a:pPr>
              <a:defRPr/>
            </a:pPr>
            <a:fld id="{BB1ED76F-E1A2-4E93-BCDA-63C138977D4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400"/>
            </a:lvl1pPr>
          </a:lstStyle>
          <a:p>
            <a:endParaRPr lang="en-GB"/>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400"/>
            </a:lvl1pPr>
          </a:lstStyle>
          <a:p>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400"/>
            </a:lvl1pPr>
          </a:lstStyle>
          <a:p>
            <a:fld id="{5D1CAB4C-33B3-4078-AD44-BAC1E7B0A61E}" type="slidenum">
              <a:rPr lang="en-GB"/>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itchFamily="18" charset="0"/>
        </a:defRPr>
      </a:lvl2pPr>
      <a:lvl3pPr algn="ctr" rtl="0" fontAlgn="base">
        <a:spcBef>
          <a:spcPct val="0"/>
        </a:spcBef>
        <a:spcAft>
          <a:spcPct val="0"/>
        </a:spcAft>
        <a:defRPr sz="4400">
          <a:solidFill>
            <a:schemeClr val="tx2"/>
          </a:solidFill>
          <a:latin typeface="Times New Roman" pitchFamily="18" charset="0"/>
        </a:defRPr>
      </a:lvl3pPr>
      <a:lvl4pPr algn="ctr" rtl="0" fontAlgn="base">
        <a:spcBef>
          <a:spcPct val="0"/>
        </a:spcBef>
        <a:spcAft>
          <a:spcPct val="0"/>
        </a:spcAft>
        <a:defRPr sz="4400">
          <a:solidFill>
            <a:schemeClr val="tx2"/>
          </a:solidFill>
          <a:latin typeface="Times New Roman" pitchFamily="18" charset="0"/>
        </a:defRPr>
      </a:lvl4pPr>
      <a:lvl5pPr algn="ctr" rtl="0" fontAlgn="base">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074" name="Picture 20" descr="ppt_background"/>
          <p:cNvPicPr>
            <a:picLocks noChangeAspect="1" noChangeArrowheads="1"/>
          </p:cNvPicPr>
          <p:nvPr userDrawn="1"/>
        </p:nvPicPr>
        <p:blipFill>
          <a:blip r:embed="rId14" cstate="print"/>
          <a:srcRect/>
          <a:stretch>
            <a:fillRect/>
          </a:stretch>
        </p:blipFill>
        <p:spPr bwMode="auto">
          <a:xfrm>
            <a:off x="0" y="0"/>
            <a:ext cx="9364663" cy="7024688"/>
          </a:xfrm>
          <a:prstGeom prst="rect">
            <a:avLst/>
          </a:prstGeom>
          <a:noFill/>
          <a:ln w="9525">
            <a:noFill/>
            <a:miter lim="800000"/>
            <a:headEnd/>
            <a:tailEnd/>
          </a:ln>
        </p:spPr>
      </p:pic>
      <p:sp>
        <p:nvSpPr>
          <p:cNvPr id="3075" name="Rectangle 16"/>
          <p:cNvSpPr>
            <a:spLocks noGrp="1" noChangeArrowheads="1"/>
          </p:cNvSpPr>
          <p:nvPr>
            <p:ph type="title"/>
          </p:nvPr>
        </p:nvSpPr>
        <p:spPr bwMode="auto">
          <a:xfrm>
            <a:off x="827088" y="539750"/>
            <a:ext cx="8132762" cy="4683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nl-NL"/>
              <a:t>Click to edit Master title style</a:t>
            </a:r>
          </a:p>
        </p:txBody>
      </p:sp>
      <p:sp>
        <p:nvSpPr>
          <p:cNvPr id="3076" name="Rectangle 17"/>
          <p:cNvSpPr>
            <a:spLocks noGrp="1" noChangeArrowheads="1"/>
          </p:cNvSpPr>
          <p:nvPr>
            <p:ph type="body" idx="1"/>
          </p:nvPr>
        </p:nvSpPr>
        <p:spPr bwMode="auto">
          <a:xfrm>
            <a:off x="827088" y="1438275"/>
            <a:ext cx="8132762" cy="44989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l-NL"/>
              <a:t>Click to edit Master text styles</a:t>
            </a:r>
          </a:p>
          <a:p>
            <a:pPr lvl="1"/>
            <a:r>
              <a:rPr lang="nl-NL"/>
              <a:t>Level 2</a:t>
            </a:r>
          </a:p>
          <a:p>
            <a:pPr lvl="2"/>
            <a:r>
              <a:rPr lang="nl-NL"/>
              <a:t>Level 3 </a:t>
            </a:r>
          </a:p>
          <a:p>
            <a:pPr lvl="3"/>
            <a:r>
              <a:rPr lang="nl-NL"/>
              <a:t>Level 4</a:t>
            </a:r>
          </a:p>
          <a:p>
            <a:pPr lvl="2"/>
            <a:endParaRPr lang="nl-NL"/>
          </a:p>
        </p:txBody>
      </p:sp>
      <p:sp>
        <p:nvSpPr>
          <p:cNvPr id="160787" name="Rectangle 19"/>
          <p:cNvSpPr>
            <a:spLocks noGrp="1" noChangeArrowheads="1"/>
          </p:cNvSpPr>
          <p:nvPr>
            <p:ph type="sldNum" sz="quarter" idx="4"/>
          </p:nvPr>
        </p:nvSpPr>
        <p:spPr bwMode="auto">
          <a:xfrm>
            <a:off x="107950" y="6477000"/>
            <a:ext cx="539750" cy="360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lnSpc>
                <a:spcPct val="100000"/>
              </a:lnSpc>
              <a:spcBef>
                <a:spcPct val="0"/>
              </a:spcBef>
              <a:buFontTx/>
              <a:buNone/>
              <a:defRPr sz="1200" b="1">
                <a:solidFill>
                  <a:srgbClr val="000000"/>
                </a:solidFill>
                <a:latin typeface="Arial" charset="0"/>
                <a:ea typeface="ＭＳ Ｐゴシック" pitchFamily="16" charset="-128"/>
                <a:cs typeface="+mn-cs"/>
              </a:defRPr>
            </a:lvl1pPr>
          </a:lstStyle>
          <a:p>
            <a:pPr>
              <a:defRPr/>
            </a:pPr>
            <a:fld id="{452C42E5-C7D5-458D-A6DA-34890AA2F95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sldNum="0" hdr="0" ftr="0" dt="0"/>
  <p:txStyles>
    <p:titleStyle>
      <a:lvl1pPr algn="l" rtl="0" eaLnBrk="0" fontAlgn="base" hangingPunct="0">
        <a:spcBef>
          <a:spcPct val="0"/>
        </a:spcBef>
        <a:spcAft>
          <a:spcPct val="0"/>
        </a:spcAft>
        <a:defRPr sz="2400">
          <a:solidFill>
            <a:schemeClr val="tx1"/>
          </a:solidFill>
          <a:latin typeface="+mj-lt"/>
          <a:ea typeface="+mj-ea"/>
          <a:cs typeface="+mj-cs"/>
        </a:defRPr>
      </a:lvl1pPr>
      <a:lvl2pPr algn="l" rtl="0" eaLnBrk="0" fontAlgn="base" hangingPunct="0">
        <a:spcBef>
          <a:spcPct val="0"/>
        </a:spcBef>
        <a:spcAft>
          <a:spcPct val="0"/>
        </a:spcAft>
        <a:defRPr sz="2400">
          <a:solidFill>
            <a:schemeClr val="tx1"/>
          </a:solidFill>
          <a:latin typeface="Arial Black" pitchFamily="34" charset="0"/>
        </a:defRPr>
      </a:lvl2pPr>
      <a:lvl3pPr algn="l" rtl="0" eaLnBrk="0" fontAlgn="base" hangingPunct="0">
        <a:spcBef>
          <a:spcPct val="0"/>
        </a:spcBef>
        <a:spcAft>
          <a:spcPct val="0"/>
        </a:spcAft>
        <a:defRPr sz="2400">
          <a:solidFill>
            <a:schemeClr val="tx1"/>
          </a:solidFill>
          <a:latin typeface="Arial Black" pitchFamily="34" charset="0"/>
        </a:defRPr>
      </a:lvl3pPr>
      <a:lvl4pPr algn="l" rtl="0" eaLnBrk="0" fontAlgn="base" hangingPunct="0">
        <a:spcBef>
          <a:spcPct val="0"/>
        </a:spcBef>
        <a:spcAft>
          <a:spcPct val="0"/>
        </a:spcAft>
        <a:defRPr sz="2400">
          <a:solidFill>
            <a:schemeClr val="tx1"/>
          </a:solidFill>
          <a:latin typeface="Arial Black" pitchFamily="34" charset="0"/>
        </a:defRPr>
      </a:lvl4pPr>
      <a:lvl5pPr algn="l" rtl="0" eaLnBrk="0" fontAlgn="base" hangingPunct="0">
        <a:spcBef>
          <a:spcPct val="0"/>
        </a:spcBef>
        <a:spcAft>
          <a:spcPct val="0"/>
        </a:spcAft>
        <a:defRPr sz="2400">
          <a:solidFill>
            <a:schemeClr val="tx1"/>
          </a:solidFill>
          <a:latin typeface="Arial Black" pitchFamily="34" charset="0"/>
        </a:defRPr>
      </a:lvl5pPr>
      <a:lvl6pPr marL="457200" algn="l" rtl="0" fontAlgn="base">
        <a:spcBef>
          <a:spcPct val="0"/>
        </a:spcBef>
        <a:spcAft>
          <a:spcPct val="0"/>
        </a:spcAft>
        <a:defRPr sz="2400">
          <a:solidFill>
            <a:schemeClr val="tx1"/>
          </a:solidFill>
          <a:latin typeface="Arial Black" pitchFamily="34" charset="0"/>
        </a:defRPr>
      </a:lvl6pPr>
      <a:lvl7pPr marL="914400" algn="l" rtl="0" fontAlgn="base">
        <a:spcBef>
          <a:spcPct val="0"/>
        </a:spcBef>
        <a:spcAft>
          <a:spcPct val="0"/>
        </a:spcAft>
        <a:defRPr sz="2400">
          <a:solidFill>
            <a:schemeClr val="tx1"/>
          </a:solidFill>
          <a:latin typeface="Arial Black" pitchFamily="34" charset="0"/>
        </a:defRPr>
      </a:lvl7pPr>
      <a:lvl8pPr marL="1371600" algn="l" rtl="0" fontAlgn="base">
        <a:spcBef>
          <a:spcPct val="0"/>
        </a:spcBef>
        <a:spcAft>
          <a:spcPct val="0"/>
        </a:spcAft>
        <a:defRPr sz="2400">
          <a:solidFill>
            <a:schemeClr val="tx1"/>
          </a:solidFill>
          <a:latin typeface="Arial Black" pitchFamily="34" charset="0"/>
        </a:defRPr>
      </a:lvl8pPr>
      <a:lvl9pPr marL="1828800" algn="l" rtl="0" fontAlgn="base">
        <a:spcBef>
          <a:spcPct val="0"/>
        </a:spcBef>
        <a:spcAft>
          <a:spcPct val="0"/>
        </a:spcAft>
        <a:defRPr sz="2400">
          <a:solidFill>
            <a:schemeClr val="tx1"/>
          </a:solidFill>
          <a:latin typeface="Arial Black" pitchFamily="34" charset="0"/>
        </a:defRPr>
      </a:lvl9pPr>
    </p:titleStyle>
    <p:bodyStyle>
      <a:lvl1pPr marL="342900" indent="-342900" algn="l" rtl="0" eaLnBrk="0" fontAlgn="base" hangingPunct="0">
        <a:spcBef>
          <a:spcPct val="20000"/>
        </a:spcBef>
        <a:spcAft>
          <a:spcPct val="0"/>
        </a:spcAft>
        <a:buFont typeface="Wingdings" pitchFamily="2" charset="2"/>
        <a:buChar char="§"/>
        <a:defRPr sz="2400">
          <a:solidFill>
            <a:schemeClr val="tx1"/>
          </a:solidFill>
          <a:latin typeface="+mn-lt"/>
          <a:ea typeface="+mn-ea"/>
          <a:cs typeface="+mn-cs"/>
        </a:defRPr>
      </a:lvl1pPr>
      <a:lvl2pPr marL="693738" indent="-236538" algn="l" rtl="0" eaLnBrk="0" fontAlgn="base" hangingPunct="0">
        <a:spcBef>
          <a:spcPct val="20000"/>
        </a:spcBef>
        <a:spcAft>
          <a:spcPct val="0"/>
        </a:spcAft>
        <a:buFont typeface="Wingdings" pitchFamily="2" charset="2"/>
        <a:buChar char="§"/>
        <a:defRPr sz="2200">
          <a:solidFill>
            <a:schemeClr val="tx1"/>
          </a:solidFill>
          <a:latin typeface="+mn-lt"/>
        </a:defRPr>
      </a:lvl2pPr>
      <a:lvl3pPr marL="1079500" indent="-206375" algn="l" rtl="0" eaLnBrk="0" fontAlgn="base" hangingPunct="0">
        <a:spcBef>
          <a:spcPct val="20000"/>
        </a:spcBef>
        <a:spcAft>
          <a:spcPct val="0"/>
        </a:spcAft>
        <a:buChar char="•"/>
        <a:defRPr sz="2000">
          <a:solidFill>
            <a:schemeClr val="tx1"/>
          </a:solidFill>
          <a:latin typeface="+mn-lt"/>
        </a:defRPr>
      </a:lvl3pPr>
      <a:lvl4pPr marL="1438275" indent="-179388" algn="l" rtl="0" eaLnBrk="0" fontAlgn="base" hangingPunct="0">
        <a:spcBef>
          <a:spcPct val="20000"/>
        </a:spcBef>
        <a:spcAft>
          <a:spcPct val="0"/>
        </a:spcAft>
        <a:buChar char="•"/>
        <a:defRPr sz="2000">
          <a:solidFill>
            <a:schemeClr val="tx1"/>
          </a:solidFill>
          <a:latin typeface="+mn-lt"/>
        </a:defRPr>
      </a:lvl4pPr>
      <a:lvl5pPr marL="2293938" indent="-228600" algn="l" rtl="0" eaLnBrk="0" fontAlgn="base" hangingPunct="0">
        <a:spcBef>
          <a:spcPct val="20000"/>
        </a:spcBef>
        <a:spcAft>
          <a:spcPct val="0"/>
        </a:spcAft>
        <a:buChar char="»"/>
        <a:defRPr sz="2000">
          <a:solidFill>
            <a:schemeClr val="tx1"/>
          </a:solidFill>
          <a:latin typeface="+mn-lt"/>
        </a:defRPr>
      </a:lvl5pPr>
      <a:lvl6pPr marL="2751138" indent="-228600" algn="l" rtl="0" fontAlgn="base">
        <a:spcBef>
          <a:spcPct val="20000"/>
        </a:spcBef>
        <a:spcAft>
          <a:spcPct val="0"/>
        </a:spcAft>
        <a:buChar char="»"/>
        <a:defRPr sz="2000">
          <a:solidFill>
            <a:schemeClr val="tx1"/>
          </a:solidFill>
          <a:latin typeface="+mn-lt"/>
        </a:defRPr>
      </a:lvl6pPr>
      <a:lvl7pPr marL="3208338" indent="-228600" algn="l" rtl="0" fontAlgn="base">
        <a:spcBef>
          <a:spcPct val="20000"/>
        </a:spcBef>
        <a:spcAft>
          <a:spcPct val="0"/>
        </a:spcAft>
        <a:buChar char="»"/>
        <a:defRPr sz="2000">
          <a:solidFill>
            <a:schemeClr val="tx1"/>
          </a:solidFill>
          <a:latin typeface="+mn-lt"/>
        </a:defRPr>
      </a:lvl7pPr>
      <a:lvl8pPr marL="3665538" indent="-228600" algn="l" rtl="0" fontAlgn="base">
        <a:spcBef>
          <a:spcPct val="20000"/>
        </a:spcBef>
        <a:spcAft>
          <a:spcPct val="0"/>
        </a:spcAft>
        <a:buChar char="»"/>
        <a:defRPr sz="2000">
          <a:solidFill>
            <a:schemeClr val="tx1"/>
          </a:solidFill>
          <a:latin typeface="+mn-lt"/>
        </a:defRPr>
      </a:lvl8pPr>
      <a:lvl9pPr marL="4122738"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ourworldindata.org/child-labor" TargetMode="External"/><Relationship Id="rId3" Type="http://schemas.openxmlformats.org/officeDocument/2006/relationships/hyperlink" Target="https://ourworldindata.org/extreme-history-methods#the-history-of-global-living-conditions-can-serve-as-a-reality-check" TargetMode="External"/><Relationship Id="rId7" Type="http://schemas.openxmlformats.org/officeDocument/2006/relationships/hyperlink" Target="https://ourworldindata.org/literacy#global-literacy-has-grown-substantially-in-the-last-two-centuries" TargetMode="External"/><Relationship Id="rId2" Type="http://schemas.openxmlformats.org/officeDocument/2006/relationships/hyperlink" Target="https://ourworldindata.org/extreme-history-methods#the-reconstruction-of-britain-s-economic-history" TargetMode="External"/><Relationship Id="rId1" Type="http://schemas.openxmlformats.org/officeDocument/2006/relationships/slideLayout" Target="../slideLayouts/slideLayout2.xml"/><Relationship Id="rId6" Type="http://schemas.openxmlformats.org/officeDocument/2006/relationships/hyperlink" Target="https://ourworldindata.org/child-mortality-global-goal" TargetMode="External"/><Relationship Id="rId5" Type="http://schemas.openxmlformats.org/officeDocument/2006/relationships/hyperlink" Target="https://ourworldindata.org/child-mortality-global-overview" TargetMode="External"/><Relationship Id="rId4" Type="http://schemas.openxmlformats.org/officeDocument/2006/relationships/hyperlink" Target="https://ourworldindata.org/child-mortality" TargetMode="External"/><Relationship Id="rId9" Type="http://schemas.openxmlformats.org/officeDocument/2006/relationships/hyperlink" Target="https://ourworldindata.org/history-of-poverty-has-just-begun#two-centuries-of-progress-and-still-a-very-long-way-to-go"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ourworldindata.org/extreme-history-methods#economic-growth-and-declining-poverty"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hyperlink" Target="http://highered.mcgraw-hill.com/sites/dl/premium/Program%20Files/TurningPoint/2003/Questions.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highered.mcgraw-hill.com/sites/dl/premium/Program%20Files/TurningPoint/2003/Questions.html"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highered.mcgraw-hill.com/sites/dl/premium/Program%20Files/TurningPoint/2003/Questions.html"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highered.mcgraw-hill.com/sites/dl/premium/Program%20Files/TurningPoint/2003/Questions.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2.bin"/><Relationship Id="rId1" Type="http://schemas.openxmlformats.org/officeDocument/2006/relationships/slideLayout" Target="../slideLayouts/slideLayout14.xml"/><Relationship Id="rId5" Type="http://schemas.openxmlformats.org/officeDocument/2006/relationships/image" Target="../media/image16.wmf"/><Relationship Id="rId4" Type="http://schemas.openxmlformats.org/officeDocument/2006/relationships/oleObject" Target="../embeddings/oleObject3.bin"/></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4.bin"/><Relationship Id="rId1" Type="http://schemas.openxmlformats.org/officeDocument/2006/relationships/slideLayout" Target="../slideLayouts/slideLayout14.xml"/><Relationship Id="rId5" Type="http://schemas.openxmlformats.org/officeDocument/2006/relationships/image" Target="../media/image18.wmf"/><Relationship Id="rId4" Type="http://schemas.openxmlformats.org/officeDocument/2006/relationships/oleObject" Target="../embeddings/oleObject5.bin"/></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p:txBody>
          <a:bodyPr/>
          <a:lstStyle/>
          <a:p>
            <a:pPr algn="ctr" eaLnBrk="1" hangingPunct="1"/>
            <a:r>
              <a:rPr lang="nl-NL"/>
              <a:t>Toegepaste Micro-economie: Public economics</a:t>
            </a:r>
          </a:p>
        </p:txBody>
      </p:sp>
      <p:sp>
        <p:nvSpPr>
          <p:cNvPr id="5" name="Rectangle 3"/>
          <p:cNvSpPr txBox="1">
            <a:spLocks noChangeArrowheads="1"/>
          </p:cNvSpPr>
          <p:nvPr/>
        </p:nvSpPr>
        <p:spPr bwMode="auto">
          <a:xfrm>
            <a:off x="827087" y="2564904"/>
            <a:ext cx="8132763" cy="3508375"/>
          </a:xfrm>
          <a:prstGeom prst="rect">
            <a:avLst/>
          </a:prstGeom>
          <a:noFill/>
          <a:ln w="9525">
            <a:noFill/>
            <a:miter lim="800000"/>
            <a:headEnd/>
            <a:tailEnd/>
          </a:ln>
        </p:spPr>
        <p:txBody>
          <a:bodyPr/>
          <a:lstStyle/>
          <a:p>
            <a:pPr marL="266700" indent="-266700" algn="ctr">
              <a:buFont typeface="Wingdings" pitchFamily="2" charset="2"/>
              <a:buNone/>
              <a:defRPr/>
            </a:pPr>
            <a:r>
              <a:rPr lang="nl-NL" sz="2800" kern="0" dirty="0">
                <a:solidFill>
                  <a:srgbClr val="000000"/>
                </a:solidFill>
                <a:latin typeface="Arial"/>
              </a:rPr>
              <a:t>Dr. Josse Delfgaauw</a:t>
            </a:r>
          </a:p>
          <a:p>
            <a:pPr marL="266700" indent="-266700" algn="ctr">
              <a:buFont typeface="Wingdings" pitchFamily="2" charset="2"/>
              <a:buNone/>
              <a:defRPr/>
            </a:pPr>
            <a:r>
              <a:rPr lang="nl-NL" kern="0" dirty="0" err="1">
                <a:solidFill>
                  <a:srgbClr val="000000"/>
                </a:solidFill>
                <a:latin typeface="Arial"/>
              </a:rPr>
              <a:t>delfgaauw</a:t>
            </a:r>
            <a:r>
              <a:rPr lang="nl-NL" kern="0" dirty="0">
                <a:solidFill>
                  <a:srgbClr val="000000"/>
                </a:solidFill>
                <a:latin typeface="Arial"/>
              </a:rPr>
              <a:t>@</a:t>
            </a:r>
            <a:r>
              <a:rPr lang="nl-NL" kern="0" dirty="0" err="1">
                <a:solidFill>
                  <a:srgbClr val="000000"/>
                </a:solidFill>
                <a:latin typeface="Arial"/>
              </a:rPr>
              <a:t>ese.eur.nl</a:t>
            </a:r>
            <a:endParaRPr lang="nl-NL" kern="0" dirty="0">
              <a:solidFill>
                <a:srgbClr val="000000"/>
              </a:solidFill>
              <a:latin typeface="Arial"/>
            </a:endParaRPr>
          </a:p>
          <a:p>
            <a:pPr marL="266700" indent="-266700" algn="ctr">
              <a:buFont typeface="Wingdings" pitchFamily="2" charset="2"/>
              <a:buNone/>
              <a:defRPr/>
            </a:pPr>
            <a:endParaRPr lang="nl-NL" kern="0" dirty="0">
              <a:solidFill>
                <a:srgbClr val="000000"/>
              </a:solidFill>
              <a:latin typeface="Arial"/>
            </a:endParaRPr>
          </a:p>
          <a:p>
            <a:pPr marL="266700" indent="-266700" algn="ctr">
              <a:buFont typeface="Wingdings" pitchFamily="2" charset="2"/>
              <a:buNone/>
              <a:defRPr/>
            </a:pPr>
            <a:endParaRPr lang="nl-NL" kern="0" dirty="0">
              <a:solidFill>
                <a:srgbClr val="000000"/>
              </a:solidFill>
              <a:latin typeface="Arial"/>
            </a:endParaRPr>
          </a:p>
          <a:p>
            <a:pPr algn="ctr" eaLnBrk="0" hangingPunct="0">
              <a:buFontTx/>
              <a:buNone/>
              <a:defRPr/>
            </a:pPr>
            <a:r>
              <a:rPr lang="en-US" sz="3200" kern="0" dirty="0">
                <a:solidFill>
                  <a:srgbClr val="000000"/>
                </a:solidFill>
                <a:latin typeface="Times New Roman"/>
              </a:rPr>
              <a:t>Week 4:</a:t>
            </a:r>
          </a:p>
          <a:p>
            <a:pPr algn="ctr" eaLnBrk="0" hangingPunct="0">
              <a:buFontTx/>
              <a:buNone/>
              <a:defRPr/>
            </a:pPr>
            <a:r>
              <a:rPr lang="en-US" sz="3200" kern="0" dirty="0">
                <a:solidFill>
                  <a:srgbClr val="000000"/>
                </a:solidFill>
                <a:latin typeface="Times New Roman"/>
              </a:rPr>
              <a:t>Redistribution</a:t>
            </a:r>
          </a:p>
          <a:p>
            <a:pPr marL="266700" indent="-266700" algn="ctr">
              <a:buFont typeface="Wingdings" pitchFamily="2" charset="2"/>
              <a:buNone/>
              <a:defRPr/>
            </a:pPr>
            <a:endParaRPr lang="nl-NL" sz="2400" kern="0" dirty="0">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8BD89866-699F-40B3-B545-1A6BED02B731}" type="slidenum">
              <a:rPr lang="en-GB"/>
              <a:pPr/>
              <a:t>2</a:t>
            </a:fld>
            <a:endParaRPr lang="en-GB"/>
          </a:p>
        </p:txBody>
      </p:sp>
      <p:sp>
        <p:nvSpPr>
          <p:cNvPr id="2051" name="Rectangle 3"/>
          <p:cNvSpPr>
            <a:spLocks noGrp="1" noChangeArrowheads="1"/>
          </p:cNvSpPr>
          <p:nvPr>
            <p:ph type="body" idx="1"/>
          </p:nvPr>
        </p:nvSpPr>
        <p:spPr>
          <a:xfrm>
            <a:off x="684213" y="1341438"/>
            <a:ext cx="7772400" cy="5111750"/>
          </a:xfrm>
        </p:spPr>
        <p:txBody>
          <a:bodyPr/>
          <a:lstStyle/>
          <a:p>
            <a:pPr marL="609600" indent="-609600">
              <a:buFontTx/>
              <a:buAutoNum type="arabicPeriod"/>
            </a:pPr>
            <a:r>
              <a:rPr lang="en-US" dirty="0"/>
              <a:t>Background and some figures </a:t>
            </a:r>
          </a:p>
          <a:p>
            <a:pPr marL="609600" indent="-609600">
              <a:buFontTx/>
              <a:buAutoNum type="arabicPeriod"/>
            </a:pPr>
            <a:r>
              <a:rPr lang="en-US" dirty="0"/>
              <a:t>Why redistribution?</a:t>
            </a:r>
          </a:p>
          <a:p>
            <a:pPr marL="609600" indent="-609600">
              <a:buFontTx/>
              <a:buAutoNum type="arabicPeriod"/>
            </a:pPr>
            <a:r>
              <a:rPr lang="en-US" dirty="0"/>
              <a:t>Why government involvement in redistribution?</a:t>
            </a:r>
          </a:p>
          <a:p>
            <a:pPr marL="609600" indent="-609600">
              <a:buFontTx/>
              <a:buAutoNum type="arabicPeriod"/>
            </a:pPr>
            <a:r>
              <a:rPr lang="en-US" dirty="0"/>
              <a:t>Efficiency effects of redistribution</a:t>
            </a:r>
            <a:endParaRPr lang="en-US" sz="1400" dirty="0"/>
          </a:p>
        </p:txBody>
      </p:sp>
      <p:sp>
        <p:nvSpPr>
          <p:cNvPr id="2053" name="Rectangle 5"/>
          <p:cNvSpPr>
            <a:spLocks noGrp="1" noChangeArrowheads="1"/>
          </p:cNvSpPr>
          <p:nvPr>
            <p:ph type="title"/>
          </p:nvPr>
        </p:nvSpPr>
        <p:spPr>
          <a:xfrm>
            <a:off x="611188" y="260350"/>
            <a:ext cx="7847012" cy="720725"/>
          </a:xfrm>
          <a:noFill/>
          <a:ln/>
        </p:spPr>
        <p:txBody>
          <a:bodyPr/>
          <a:lstStyle/>
          <a:p>
            <a:pPr marL="536575" indent="-536575" algn="l"/>
            <a:r>
              <a:rPr lang="en-US" sz="3600"/>
              <a:t>4. 	</a:t>
            </a:r>
            <a:r>
              <a:rPr lang="en-US" sz="4000"/>
              <a:t>Redistribution</a:t>
            </a:r>
            <a:r>
              <a:rPr lang="en-US" sz="3600"/>
              <a:t> </a:t>
            </a:r>
            <a:r>
              <a:rPr lang="en-US" sz="4000"/>
              <a:t>and social security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1DD5F31-E9F9-4A30-A9FD-A897A5A7F39C}" type="slidenum">
              <a:rPr lang="en-GB"/>
              <a:pPr/>
              <a:t>3</a:t>
            </a:fld>
            <a:endParaRPr lang="en-GB"/>
          </a:p>
        </p:txBody>
      </p:sp>
      <p:sp>
        <p:nvSpPr>
          <p:cNvPr id="198659" name="Rectangle 3"/>
          <p:cNvSpPr>
            <a:spLocks noGrp="1" noChangeArrowheads="1"/>
          </p:cNvSpPr>
          <p:nvPr>
            <p:ph type="body" idx="1"/>
          </p:nvPr>
        </p:nvSpPr>
        <p:spPr>
          <a:xfrm>
            <a:off x="611188" y="1268413"/>
            <a:ext cx="7993260" cy="4968875"/>
          </a:xfrm>
        </p:spPr>
        <p:txBody>
          <a:bodyPr/>
          <a:lstStyle/>
          <a:p>
            <a:pPr>
              <a:lnSpc>
                <a:spcPct val="90000"/>
              </a:lnSpc>
              <a:buFontTx/>
              <a:buNone/>
            </a:pPr>
            <a:r>
              <a:rPr lang="en-US" sz="2800" dirty="0"/>
              <a:t>Redistribution: </a:t>
            </a:r>
            <a:br>
              <a:rPr lang="en-US" sz="2800" dirty="0"/>
            </a:br>
            <a:r>
              <a:rPr lang="en-US" sz="2800" dirty="0"/>
              <a:t>Altering the distribution of a good (e.g. income) over individuals (or households)</a:t>
            </a:r>
          </a:p>
          <a:p>
            <a:pPr>
              <a:lnSpc>
                <a:spcPct val="90000"/>
              </a:lnSpc>
              <a:buFontTx/>
              <a:buNone/>
            </a:pPr>
            <a:endParaRPr lang="en-US" sz="1400" dirty="0"/>
          </a:p>
          <a:p>
            <a:pPr>
              <a:lnSpc>
                <a:spcPct val="90000"/>
              </a:lnSpc>
              <a:buFontTx/>
              <a:buNone/>
            </a:pPr>
            <a:r>
              <a:rPr lang="en-US" sz="2800" dirty="0"/>
              <a:t>In history:</a:t>
            </a:r>
            <a:br>
              <a:rPr lang="en-US" sz="2800" dirty="0"/>
            </a:br>
            <a:r>
              <a:rPr lang="en-US" sz="2800" dirty="0"/>
              <a:t>Redistribution towards the King / Emperor / </a:t>
            </a:r>
            <a:r>
              <a:rPr lang="en-US" sz="2800" dirty="0" err="1"/>
              <a:t>Pharao</a:t>
            </a:r>
            <a:endParaRPr lang="en-US" sz="2800" dirty="0"/>
          </a:p>
          <a:p>
            <a:pPr>
              <a:lnSpc>
                <a:spcPct val="90000"/>
              </a:lnSpc>
              <a:buFontTx/>
              <a:buNone/>
            </a:pPr>
            <a:endParaRPr lang="en-US" sz="1400" dirty="0"/>
          </a:p>
          <a:p>
            <a:pPr>
              <a:lnSpc>
                <a:spcPct val="90000"/>
              </a:lnSpc>
              <a:buFontTx/>
              <a:buNone/>
            </a:pPr>
            <a:r>
              <a:rPr lang="en-US" sz="2800" dirty="0"/>
              <a:t>Nowadays, redistribution policies aim to transfer resources from the rich to the poor</a:t>
            </a:r>
          </a:p>
          <a:p>
            <a:pPr>
              <a:lnSpc>
                <a:spcPct val="90000"/>
              </a:lnSpc>
              <a:buFontTx/>
              <a:buNone/>
            </a:pPr>
            <a:endParaRPr lang="en-US" sz="1600" dirty="0"/>
          </a:p>
          <a:p>
            <a:pPr>
              <a:lnSpc>
                <a:spcPct val="90000"/>
              </a:lnSpc>
              <a:buFontTx/>
              <a:buNone/>
            </a:pPr>
            <a:r>
              <a:rPr lang="en-US" sz="2800" dirty="0"/>
              <a:t>Many other policy measures also redistribute, sometimes from poor to rich, or from young to old, singles to households, etc.</a:t>
            </a:r>
          </a:p>
        </p:txBody>
      </p:sp>
      <p:sp>
        <p:nvSpPr>
          <p:cNvPr id="198660" name="Rectangle 4"/>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spcBef>
                <a:spcPct val="0"/>
              </a:spcBef>
              <a:buFontTx/>
              <a:buNone/>
            </a:pPr>
            <a:r>
              <a:rPr lang="en-US" sz="3600">
                <a:solidFill>
                  <a:schemeClr val="tx2"/>
                </a:solidFill>
              </a:rPr>
              <a:t> 	Redistribution and social security</a:t>
            </a:r>
            <a:endParaRPr lang="nl-NL" sz="360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86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1DD5F31-E9F9-4A30-A9FD-A897A5A7F39C}" type="slidenum">
              <a:rPr lang="en-GB"/>
              <a:pPr/>
              <a:t>4</a:t>
            </a:fld>
            <a:endParaRPr lang="en-GB"/>
          </a:p>
        </p:txBody>
      </p:sp>
      <p:sp>
        <p:nvSpPr>
          <p:cNvPr id="198659" name="Rectangle 3"/>
          <p:cNvSpPr>
            <a:spLocks noGrp="1" noChangeArrowheads="1"/>
          </p:cNvSpPr>
          <p:nvPr>
            <p:ph type="body" idx="1"/>
          </p:nvPr>
        </p:nvSpPr>
        <p:spPr>
          <a:xfrm>
            <a:off x="611188" y="981075"/>
            <a:ext cx="7772400" cy="5256213"/>
          </a:xfrm>
        </p:spPr>
        <p:txBody>
          <a:bodyPr/>
          <a:lstStyle/>
          <a:p>
            <a:pPr>
              <a:lnSpc>
                <a:spcPct val="90000"/>
              </a:lnSpc>
              <a:buFontTx/>
              <a:buNone/>
            </a:pPr>
            <a:r>
              <a:rPr lang="en-US" sz="2400" dirty="0"/>
              <a:t>Global perspective: # people in extreme poverty </a:t>
            </a:r>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r>
              <a:rPr lang="en-US" sz="2400" dirty="0"/>
              <a:t>Source: ourworldindata.org</a:t>
            </a:r>
          </a:p>
        </p:txBody>
      </p:sp>
      <p:sp>
        <p:nvSpPr>
          <p:cNvPr id="198660" name="Rectangle 4"/>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spcBef>
                <a:spcPct val="0"/>
              </a:spcBef>
              <a:buFontTx/>
              <a:buNone/>
            </a:pPr>
            <a:r>
              <a:rPr lang="en-US" sz="3600">
                <a:solidFill>
                  <a:schemeClr val="tx2"/>
                </a:solidFill>
              </a:rPr>
              <a:t> 	Redistribution and social security</a:t>
            </a:r>
            <a:endParaRPr lang="nl-NL" sz="3600">
              <a:solidFill>
                <a:schemeClr val="tx2"/>
              </a:solidFill>
            </a:endParaRPr>
          </a:p>
        </p:txBody>
      </p:sp>
      <p:sp>
        <p:nvSpPr>
          <p:cNvPr id="2" name="Down Arrow 1"/>
          <p:cNvSpPr/>
          <p:nvPr/>
        </p:nvSpPr>
        <p:spPr bwMode="auto">
          <a:xfrm>
            <a:off x="6553200" y="981592"/>
            <a:ext cx="360040" cy="432395"/>
          </a:xfrm>
          <a:prstGeom prst="downArrow">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63538" marR="0" indent="-363538" algn="l" defTabSz="914400" rtl="0" eaLnBrk="1" fontAlgn="base" latinLnBrk="0" hangingPunct="1">
              <a:lnSpc>
                <a:spcPct val="100000"/>
              </a:lnSpc>
              <a:spcBef>
                <a:spcPct val="20000"/>
              </a:spcBef>
              <a:spcAft>
                <a:spcPct val="0"/>
              </a:spcAft>
              <a:buClrTx/>
              <a:buSzTx/>
              <a:buFontTx/>
              <a:buChar char="•"/>
              <a:tabLst/>
            </a:pPr>
            <a:endParaRPr kumimoji="0" lang="nl-NL" sz="2000" b="0" i="0" u="none" strike="noStrike" cap="none" normalizeH="0" baseline="0">
              <a:ln>
                <a:noFill/>
              </a:ln>
              <a:solidFill>
                <a:schemeClr val="tx1"/>
              </a:solidFill>
              <a:effectLst/>
              <a:latin typeface="Times New Roman" pitchFamily="18" charset="0"/>
            </a:endParaRPr>
          </a:p>
        </p:txBody>
      </p:sp>
      <p:pic>
        <p:nvPicPr>
          <p:cNvPr id="3" name="Picture 2"/>
          <p:cNvPicPr>
            <a:picLocks noChangeAspect="1"/>
          </p:cNvPicPr>
          <p:nvPr/>
        </p:nvPicPr>
        <p:blipFill rotWithShape="1">
          <a:blip r:embed="rId2"/>
          <a:srcRect t="12200" r="33463" b="5201"/>
          <a:stretch/>
        </p:blipFill>
        <p:spPr>
          <a:xfrm>
            <a:off x="1547664" y="1442587"/>
            <a:ext cx="6156176" cy="4298754"/>
          </a:xfrm>
          <a:prstGeom prst="rect">
            <a:avLst/>
          </a:prstGeom>
        </p:spPr>
      </p:pic>
    </p:spTree>
    <p:extLst>
      <p:ext uri="{BB962C8B-B14F-4D97-AF65-F5344CB8AC3E}">
        <p14:creationId xmlns:p14="http://schemas.microsoft.com/office/powerpoint/2010/main" val="3765784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9288" t="15000" r="20075" b="13601"/>
          <a:stretch/>
        </p:blipFill>
        <p:spPr>
          <a:xfrm>
            <a:off x="638604" y="1470908"/>
            <a:ext cx="7389780" cy="4894530"/>
          </a:xfrm>
          <a:prstGeom prst="rect">
            <a:avLst/>
          </a:prstGeom>
        </p:spPr>
      </p:pic>
      <p:sp>
        <p:nvSpPr>
          <p:cNvPr id="5" name="Slide Number Placeholder 5"/>
          <p:cNvSpPr>
            <a:spLocks noGrp="1"/>
          </p:cNvSpPr>
          <p:nvPr>
            <p:ph type="sldNum" sz="quarter" idx="12"/>
          </p:nvPr>
        </p:nvSpPr>
        <p:spPr/>
        <p:txBody>
          <a:bodyPr/>
          <a:lstStyle/>
          <a:p>
            <a:fld id="{31DD5F31-E9F9-4A30-A9FD-A897A5A7F39C}" type="slidenum">
              <a:rPr lang="en-GB"/>
              <a:pPr/>
              <a:t>5</a:t>
            </a:fld>
            <a:endParaRPr lang="en-GB"/>
          </a:p>
        </p:txBody>
      </p:sp>
      <p:sp>
        <p:nvSpPr>
          <p:cNvPr id="198659" name="Rectangle 3"/>
          <p:cNvSpPr>
            <a:spLocks noGrp="1" noChangeArrowheads="1"/>
          </p:cNvSpPr>
          <p:nvPr>
            <p:ph type="body" idx="1"/>
          </p:nvPr>
        </p:nvSpPr>
        <p:spPr>
          <a:xfrm>
            <a:off x="611188" y="981075"/>
            <a:ext cx="7772400" cy="5256213"/>
          </a:xfrm>
        </p:spPr>
        <p:txBody>
          <a:bodyPr/>
          <a:lstStyle/>
          <a:p>
            <a:pPr>
              <a:lnSpc>
                <a:spcPct val="90000"/>
              </a:lnSpc>
              <a:buFontTx/>
              <a:buNone/>
            </a:pPr>
            <a:r>
              <a:rPr lang="en-US" sz="2400" dirty="0"/>
              <a:t>Global perspective: # people in extreme poverty </a:t>
            </a:r>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None/>
            </a:pPr>
            <a:r>
              <a:rPr lang="en-US" sz="2400" dirty="0"/>
              <a:t>Source: ourworldindata.org</a:t>
            </a:r>
          </a:p>
          <a:p>
            <a:pPr>
              <a:lnSpc>
                <a:spcPct val="90000"/>
              </a:lnSpc>
              <a:buFontTx/>
              <a:buNone/>
            </a:pPr>
            <a:endParaRPr lang="en-US" sz="2400" dirty="0"/>
          </a:p>
        </p:txBody>
      </p:sp>
      <p:sp>
        <p:nvSpPr>
          <p:cNvPr id="198660" name="Rectangle 4"/>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spcBef>
                <a:spcPct val="0"/>
              </a:spcBef>
              <a:buFontTx/>
              <a:buNone/>
            </a:pPr>
            <a:r>
              <a:rPr lang="en-US" sz="3600">
                <a:solidFill>
                  <a:schemeClr val="tx2"/>
                </a:solidFill>
              </a:rPr>
              <a:t> 	Redistribution and social security</a:t>
            </a:r>
            <a:endParaRPr lang="nl-NL" sz="3600">
              <a:solidFill>
                <a:schemeClr val="tx2"/>
              </a:solidFill>
            </a:endParaRPr>
          </a:p>
        </p:txBody>
      </p:sp>
      <p:sp>
        <p:nvSpPr>
          <p:cNvPr id="2" name="Down Arrow 1"/>
          <p:cNvSpPr/>
          <p:nvPr/>
        </p:nvSpPr>
        <p:spPr bwMode="auto">
          <a:xfrm>
            <a:off x="6553200" y="981592"/>
            <a:ext cx="360040" cy="432395"/>
          </a:xfrm>
          <a:prstGeom prst="downArrow">
            <a:avLst/>
          </a:prstGeom>
          <a:solidFill>
            <a:srgbClr val="66FF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63538" marR="0" indent="-363538" algn="l" defTabSz="914400" rtl="0" eaLnBrk="1" fontAlgn="base" latinLnBrk="0" hangingPunct="1">
              <a:lnSpc>
                <a:spcPct val="100000"/>
              </a:lnSpc>
              <a:spcBef>
                <a:spcPct val="20000"/>
              </a:spcBef>
              <a:spcAft>
                <a:spcPct val="0"/>
              </a:spcAft>
              <a:buClrTx/>
              <a:buSzTx/>
              <a:buFontTx/>
              <a:buChar char="•"/>
              <a:tabLst/>
            </a:pPr>
            <a:endParaRPr kumimoji="0" lang="nl-NL" sz="20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468731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1DD5F31-E9F9-4A30-A9FD-A897A5A7F39C}" type="slidenum">
              <a:rPr lang="en-GB"/>
              <a:pPr/>
              <a:t>6</a:t>
            </a:fld>
            <a:endParaRPr lang="en-GB"/>
          </a:p>
        </p:txBody>
      </p:sp>
      <p:sp>
        <p:nvSpPr>
          <p:cNvPr id="198659" name="Rectangle 3"/>
          <p:cNvSpPr>
            <a:spLocks noGrp="1" noChangeArrowheads="1"/>
          </p:cNvSpPr>
          <p:nvPr>
            <p:ph type="body" idx="1"/>
          </p:nvPr>
        </p:nvSpPr>
        <p:spPr>
          <a:xfrm>
            <a:off x="611188" y="981075"/>
            <a:ext cx="7772400" cy="5256213"/>
          </a:xfrm>
        </p:spPr>
        <p:txBody>
          <a:bodyPr/>
          <a:lstStyle/>
          <a:p>
            <a:pPr>
              <a:lnSpc>
                <a:spcPct val="90000"/>
              </a:lnSpc>
              <a:buFontTx/>
              <a:buNone/>
            </a:pPr>
            <a:r>
              <a:rPr lang="en-US" sz="2400" dirty="0"/>
              <a:t>Unprecedented increase in living conditions in the past 200 years.</a:t>
            </a:r>
          </a:p>
          <a:p>
            <a:pPr>
              <a:lnSpc>
                <a:spcPct val="90000"/>
              </a:lnSpc>
              <a:buFont typeface="Wingdings" panose="05000000000000000000" pitchFamily="2" charset="2"/>
              <a:buChar char="à"/>
            </a:pPr>
            <a:r>
              <a:rPr lang="en-US" sz="2400" dirty="0">
                <a:hlinkClick r:id="rId2"/>
              </a:rPr>
              <a:t>GDP per capita England </a:t>
            </a:r>
            <a:r>
              <a:rPr lang="en-US" sz="2400" dirty="0"/>
              <a:t> </a:t>
            </a:r>
          </a:p>
          <a:p>
            <a:pPr>
              <a:lnSpc>
                <a:spcPct val="90000"/>
              </a:lnSpc>
              <a:buFont typeface="Wingdings" panose="05000000000000000000" pitchFamily="2" charset="2"/>
              <a:buChar char="à"/>
            </a:pPr>
            <a:endParaRPr lang="en-US" sz="2400" dirty="0"/>
          </a:p>
          <a:p>
            <a:pPr marL="0" indent="0">
              <a:lnSpc>
                <a:spcPct val="90000"/>
              </a:lnSpc>
              <a:buNone/>
            </a:pPr>
            <a:r>
              <a:rPr lang="en-US" sz="2400" dirty="0"/>
              <a:t>Importantly, this is not just about money:</a:t>
            </a:r>
          </a:p>
          <a:p>
            <a:pPr>
              <a:lnSpc>
                <a:spcPct val="90000"/>
              </a:lnSpc>
              <a:buFontTx/>
              <a:buChar char="-"/>
            </a:pPr>
            <a:r>
              <a:rPr lang="en-US" sz="2400" dirty="0">
                <a:hlinkClick r:id="rId3"/>
              </a:rPr>
              <a:t>Life expectancy</a:t>
            </a:r>
            <a:endParaRPr lang="en-US" sz="2400" dirty="0"/>
          </a:p>
          <a:p>
            <a:pPr>
              <a:lnSpc>
                <a:spcPct val="90000"/>
              </a:lnSpc>
              <a:buFontTx/>
              <a:buChar char="-"/>
            </a:pPr>
            <a:r>
              <a:rPr lang="en-US" sz="2400" dirty="0">
                <a:hlinkClick r:id="rId4"/>
              </a:rPr>
              <a:t>Infant mortality</a:t>
            </a:r>
            <a:r>
              <a:rPr lang="en-US" sz="2400" dirty="0"/>
              <a:t> , </a:t>
            </a:r>
            <a:r>
              <a:rPr lang="en-US" sz="2400" dirty="0">
                <a:hlinkClick r:id="rId5"/>
              </a:rPr>
              <a:t>by country</a:t>
            </a:r>
            <a:r>
              <a:rPr lang="en-US" sz="2400" dirty="0"/>
              <a:t> , </a:t>
            </a:r>
            <a:r>
              <a:rPr lang="en-US" sz="2400" dirty="0">
                <a:hlinkClick r:id="rId6"/>
              </a:rPr>
              <a:t>recent developments</a:t>
            </a:r>
            <a:endParaRPr lang="en-US" sz="2400" dirty="0"/>
          </a:p>
          <a:p>
            <a:pPr>
              <a:lnSpc>
                <a:spcPct val="90000"/>
              </a:lnSpc>
              <a:buFontTx/>
              <a:buChar char="-"/>
            </a:pPr>
            <a:r>
              <a:rPr lang="en-US" sz="2400" dirty="0">
                <a:hlinkClick r:id="rId7"/>
              </a:rPr>
              <a:t>Literacy</a:t>
            </a:r>
            <a:r>
              <a:rPr lang="en-US" sz="2400" dirty="0"/>
              <a:t> </a:t>
            </a:r>
          </a:p>
          <a:p>
            <a:pPr>
              <a:lnSpc>
                <a:spcPct val="90000"/>
              </a:lnSpc>
              <a:buFontTx/>
              <a:buChar char="-"/>
            </a:pPr>
            <a:r>
              <a:rPr lang="en-US" sz="2400" dirty="0">
                <a:hlinkClick r:id="rId8"/>
              </a:rPr>
              <a:t>Child </a:t>
            </a:r>
            <a:r>
              <a:rPr lang="en-US" sz="2400" dirty="0" err="1">
                <a:hlinkClick r:id="rId8"/>
              </a:rPr>
              <a:t>labour</a:t>
            </a:r>
            <a:r>
              <a:rPr lang="en-US" sz="2400" dirty="0">
                <a:hlinkClick r:id="rId8"/>
              </a:rPr>
              <a:t> </a:t>
            </a:r>
            <a:endParaRPr lang="en-US" sz="2400" dirty="0"/>
          </a:p>
          <a:p>
            <a:pPr marL="0" indent="0">
              <a:lnSpc>
                <a:spcPct val="90000"/>
              </a:lnSpc>
              <a:buNone/>
            </a:pPr>
            <a:endParaRPr lang="en-US" sz="2400" dirty="0"/>
          </a:p>
          <a:p>
            <a:pPr>
              <a:lnSpc>
                <a:spcPct val="90000"/>
              </a:lnSpc>
              <a:buFontTx/>
              <a:buNone/>
            </a:pPr>
            <a:r>
              <a:rPr lang="en-US" sz="2400" dirty="0"/>
              <a:t>But still a long way to go:</a:t>
            </a:r>
          </a:p>
          <a:p>
            <a:pPr>
              <a:lnSpc>
                <a:spcPct val="90000"/>
              </a:lnSpc>
              <a:buFontTx/>
              <a:buNone/>
            </a:pPr>
            <a:r>
              <a:rPr lang="en-US" sz="2400" dirty="0"/>
              <a:t>- </a:t>
            </a:r>
            <a:r>
              <a:rPr lang="en-US" sz="2400" dirty="0">
                <a:hlinkClick r:id="rId9"/>
              </a:rPr>
              <a:t>Poverty rates</a:t>
            </a: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None/>
            </a:pPr>
            <a:r>
              <a:rPr lang="en-US" sz="2400" dirty="0"/>
              <a:t>Source: ourworldindata.org</a:t>
            </a:r>
          </a:p>
          <a:p>
            <a:pPr>
              <a:lnSpc>
                <a:spcPct val="90000"/>
              </a:lnSpc>
              <a:buFontTx/>
              <a:buNone/>
            </a:pPr>
            <a:endParaRPr lang="en-US" sz="2400" dirty="0"/>
          </a:p>
        </p:txBody>
      </p:sp>
      <p:sp>
        <p:nvSpPr>
          <p:cNvPr id="198660" name="Rectangle 4"/>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spcBef>
                <a:spcPct val="0"/>
              </a:spcBef>
              <a:buFontTx/>
              <a:buNone/>
            </a:pPr>
            <a:r>
              <a:rPr lang="en-US" sz="3600">
                <a:solidFill>
                  <a:schemeClr val="tx2"/>
                </a:solidFill>
              </a:rPr>
              <a:t> 	Redistribution and social security</a:t>
            </a:r>
            <a:endParaRPr lang="nl-NL" sz="3600">
              <a:solidFill>
                <a:schemeClr val="tx2"/>
              </a:solidFill>
            </a:endParaRPr>
          </a:p>
        </p:txBody>
      </p:sp>
    </p:spTree>
    <p:extLst>
      <p:ext uri="{BB962C8B-B14F-4D97-AF65-F5344CB8AC3E}">
        <p14:creationId xmlns:p14="http://schemas.microsoft.com/office/powerpoint/2010/main" val="3456327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1DD5F31-E9F9-4A30-A9FD-A897A5A7F39C}" type="slidenum">
              <a:rPr lang="en-GB"/>
              <a:pPr/>
              <a:t>7</a:t>
            </a:fld>
            <a:endParaRPr lang="en-GB"/>
          </a:p>
        </p:txBody>
      </p:sp>
      <p:sp>
        <p:nvSpPr>
          <p:cNvPr id="198659" name="Rectangle 3"/>
          <p:cNvSpPr>
            <a:spLocks noGrp="1" noChangeArrowheads="1"/>
          </p:cNvSpPr>
          <p:nvPr>
            <p:ph type="body" idx="1"/>
          </p:nvPr>
        </p:nvSpPr>
        <p:spPr>
          <a:xfrm>
            <a:off x="611188" y="981075"/>
            <a:ext cx="7772400" cy="5256213"/>
          </a:xfrm>
        </p:spPr>
        <p:txBody>
          <a:bodyPr/>
          <a:lstStyle/>
          <a:p>
            <a:pPr>
              <a:lnSpc>
                <a:spcPct val="90000"/>
              </a:lnSpc>
              <a:buFontTx/>
              <a:buNone/>
            </a:pPr>
            <a:r>
              <a:rPr lang="en-US" sz="2400" dirty="0"/>
              <a:t>Global perspective: </a:t>
            </a:r>
          </a:p>
          <a:p>
            <a:pPr>
              <a:lnSpc>
                <a:spcPct val="90000"/>
              </a:lnSpc>
              <a:buFontTx/>
              <a:buChar char="-"/>
            </a:pPr>
            <a:r>
              <a:rPr lang="en-US" sz="2400" dirty="0">
                <a:hlinkClick r:id="rId2"/>
              </a:rPr>
              <a:t>global income inequality is declining</a:t>
            </a:r>
            <a:r>
              <a:rPr lang="en-US" sz="2400" dirty="0"/>
              <a:t> … </a:t>
            </a:r>
          </a:p>
          <a:p>
            <a:pPr>
              <a:lnSpc>
                <a:spcPct val="90000"/>
              </a:lnSpc>
              <a:buFontTx/>
              <a:buChar char="-"/>
            </a:pPr>
            <a:r>
              <a:rPr lang="en-US" sz="2400" dirty="0"/>
              <a:t>… but is still huge:  (</a:t>
            </a:r>
            <a:r>
              <a:rPr lang="en-US" sz="2000" dirty="0"/>
              <a:t>Source: ourworldindata.org</a:t>
            </a:r>
            <a:r>
              <a:rPr lang="en-US" sz="2400" dirty="0"/>
              <a:t>)  </a:t>
            </a:r>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p:txBody>
      </p:sp>
      <p:sp>
        <p:nvSpPr>
          <p:cNvPr id="198660" name="Rectangle 4"/>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spcBef>
                <a:spcPct val="0"/>
              </a:spcBef>
              <a:buFontTx/>
              <a:buNone/>
            </a:pPr>
            <a:r>
              <a:rPr lang="en-US" sz="3600">
                <a:solidFill>
                  <a:schemeClr val="tx2"/>
                </a:solidFill>
              </a:rPr>
              <a:t> 	Redistribution and social security</a:t>
            </a:r>
            <a:endParaRPr lang="nl-NL" sz="3600">
              <a:solidFill>
                <a:schemeClr val="tx2"/>
              </a:solidFill>
            </a:endParaRPr>
          </a:p>
        </p:txBody>
      </p:sp>
      <p:pic>
        <p:nvPicPr>
          <p:cNvPr id="4" name="Picture 3"/>
          <p:cNvPicPr>
            <a:picLocks noChangeAspect="1"/>
          </p:cNvPicPr>
          <p:nvPr/>
        </p:nvPicPr>
        <p:blipFill rotWithShape="1">
          <a:blip r:embed="rId3"/>
          <a:srcRect t="12200" r="32675" b="5201"/>
          <a:stretch/>
        </p:blipFill>
        <p:spPr>
          <a:xfrm>
            <a:off x="1187624" y="2231960"/>
            <a:ext cx="6156176" cy="4248472"/>
          </a:xfrm>
          <a:prstGeom prst="rect">
            <a:avLst/>
          </a:prstGeom>
        </p:spPr>
      </p:pic>
    </p:spTree>
    <p:extLst>
      <p:ext uri="{BB962C8B-B14F-4D97-AF65-F5344CB8AC3E}">
        <p14:creationId xmlns:p14="http://schemas.microsoft.com/office/powerpoint/2010/main" val="3537528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1DD5F31-E9F9-4A30-A9FD-A897A5A7F39C}" type="slidenum">
              <a:rPr lang="en-GB"/>
              <a:pPr/>
              <a:t>8</a:t>
            </a:fld>
            <a:endParaRPr lang="en-GB"/>
          </a:p>
        </p:txBody>
      </p:sp>
      <p:sp>
        <p:nvSpPr>
          <p:cNvPr id="198659" name="Rectangle 3"/>
          <p:cNvSpPr>
            <a:spLocks noGrp="1" noChangeArrowheads="1"/>
          </p:cNvSpPr>
          <p:nvPr>
            <p:ph type="body" idx="1"/>
          </p:nvPr>
        </p:nvSpPr>
        <p:spPr>
          <a:xfrm>
            <a:off x="611188" y="981075"/>
            <a:ext cx="7772400" cy="5256213"/>
          </a:xfrm>
        </p:spPr>
        <p:txBody>
          <a:bodyPr/>
          <a:lstStyle/>
          <a:p>
            <a:pPr>
              <a:lnSpc>
                <a:spcPct val="90000"/>
              </a:lnSpc>
              <a:buFontTx/>
              <a:buNone/>
            </a:pPr>
            <a:r>
              <a:rPr lang="en-US" sz="2400" dirty="0"/>
              <a:t>Global perspective: </a:t>
            </a:r>
          </a:p>
          <a:p>
            <a:pPr>
              <a:lnSpc>
                <a:spcPct val="90000"/>
              </a:lnSpc>
              <a:buFontTx/>
              <a:buChar char="-"/>
            </a:pPr>
            <a:r>
              <a:rPr lang="en-US" sz="2000" dirty="0"/>
              <a:t>... And the global wealth distribution is even more unequal… </a:t>
            </a:r>
            <a:br>
              <a:rPr lang="en-US" sz="2000" dirty="0"/>
            </a:br>
            <a:r>
              <a:rPr lang="en-US" sz="2000" dirty="0"/>
              <a:t>(source: world inequality report 2022</a:t>
            </a:r>
            <a:r>
              <a:rPr lang="en-US" sz="2400" dirty="0"/>
              <a:t>)</a:t>
            </a:r>
          </a:p>
          <a:p>
            <a:pPr>
              <a:lnSpc>
                <a:spcPct val="90000"/>
              </a:lnSpc>
              <a:buFontTx/>
              <a:buChar char="-"/>
            </a:pPr>
            <a:endParaRPr lang="en-US" sz="2400" dirty="0"/>
          </a:p>
          <a:p>
            <a:pPr marL="0" indent="0">
              <a:lnSpc>
                <a:spcPct val="90000"/>
              </a:lnSpc>
              <a:buNone/>
            </a:pPr>
            <a:r>
              <a:rPr lang="en-US" sz="2400" dirty="0"/>
              <a:t>  </a:t>
            </a:r>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p:txBody>
      </p:sp>
      <p:sp>
        <p:nvSpPr>
          <p:cNvPr id="198660" name="Rectangle 4"/>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spcBef>
                <a:spcPct val="0"/>
              </a:spcBef>
              <a:buFontTx/>
              <a:buNone/>
            </a:pPr>
            <a:r>
              <a:rPr lang="en-US" sz="3600">
                <a:solidFill>
                  <a:schemeClr val="tx2"/>
                </a:solidFill>
              </a:rPr>
              <a:t> 	Redistribution and social security</a:t>
            </a:r>
            <a:endParaRPr lang="nl-NL" sz="3600">
              <a:solidFill>
                <a:schemeClr val="tx2"/>
              </a:solidFill>
            </a:endParaRPr>
          </a:p>
        </p:txBody>
      </p:sp>
      <p:pic>
        <p:nvPicPr>
          <p:cNvPr id="3" name="Picture 2">
            <a:extLst>
              <a:ext uri="{FF2B5EF4-FFF2-40B4-BE49-F238E27FC236}">
                <a16:creationId xmlns:a16="http://schemas.microsoft.com/office/drawing/2014/main" id="{F98329EF-FFBD-6DAD-E7DE-54584A711D19}"/>
              </a:ext>
            </a:extLst>
          </p:cNvPr>
          <p:cNvPicPr>
            <a:picLocks noChangeAspect="1"/>
          </p:cNvPicPr>
          <p:nvPr/>
        </p:nvPicPr>
        <p:blipFill>
          <a:blip r:embed="rId2"/>
          <a:stretch>
            <a:fillRect/>
          </a:stretch>
        </p:blipFill>
        <p:spPr>
          <a:xfrm>
            <a:off x="323528" y="2147329"/>
            <a:ext cx="7354784" cy="4564917"/>
          </a:xfrm>
          <a:prstGeom prst="rect">
            <a:avLst/>
          </a:prstGeom>
        </p:spPr>
      </p:pic>
    </p:spTree>
    <p:extLst>
      <p:ext uri="{BB962C8B-B14F-4D97-AF65-F5344CB8AC3E}">
        <p14:creationId xmlns:p14="http://schemas.microsoft.com/office/powerpoint/2010/main" val="2386104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1DD5F31-E9F9-4A30-A9FD-A897A5A7F39C}" type="slidenum">
              <a:rPr lang="en-GB"/>
              <a:pPr/>
              <a:t>9</a:t>
            </a:fld>
            <a:endParaRPr lang="en-GB"/>
          </a:p>
        </p:txBody>
      </p:sp>
      <p:sp>
        <p:nvSpPr>
          <p:cNvPr id="198659" name="Rectangle 3"/>
          <p:cNvSpPr>
            <a:spLocks noGrp="1" noChangeArrowheads="1"/>
          </p:cNvSpPr>
          <p:nvPr>
            <p:ph type="body" idx="1"/>
          </p:nvPr>
        </p:nvSpPr>
        <p:spPr>
          <a:xfrm>
            <a:off x="611188" y="981075"/>
            <a:ext cx="7772400" cy="5256213"/>
          </a:xfrm>
        </p:spPr>
        <p:txBody>
          <a:bodyPr/>
          <a:lstStyle/>
          <a:p>
            <a:pPr>
              <a:lnSpc>
                <a:spcPct val="90000"/>
              </a:lnSpc>
              <a:buFontTx/>
              <a:buNone/>
            </a:pPr>
            <a:r>
              <a:rPr lang="en-US" sz="2400" dirty="0"/>
              <a:t>… with a growing share for the most-wealthy 0.1%</a:t>
            </a:r>
            <a:br>
              <a:rPr lang="en-US" sz="2400" dirty="0"/>
            </a:br>
            <a:r>
              <a:rPr lang="en-US" sz="2400" dirty="0"/>
              <a:t>(s</a:t>
            </a:r>
            <a:r>
              <a:rPr lang="en-US" sz="2000" dirty="0"/>
              <a:t>ource: world inequality report 2022)</a:t>
            </a:r>
          </a:p>
          <a:p>
            <a:pPr>
              <a:lnSpc>
                <a:spcPct val="90000"/>
              </a:lnSpc>
              <a:buFontTx/>
              <a:buNone/>
            </a:pPr>
            <a:endParaRPr lang="en-US" sz="2400" dirty="0"/>
          </a:p>
          <a:p>
            <a:pPr>
              <a:lnSpc>
                <a:spcPct val="90000"/>
              </a:lnSpc>
              <a:buFontTx/>
              <a:buChar char="-"/>
            </a:pPr>
            <a:endParaRPr lang="en-US" sz="2400" dirty="0"/>
          </a:p>
          <a:p>
            <a:pPr marL="0" indent="0">
              <a:lnSpc>
                <a:spcPct val="90000"/>
              </a:lnSpc>
              <a:buNone/>
            </a:pPr>
            <a:r>
              <a:rPr lang="en-US" sz="2400" dirty="0"/>
              <a:t>  </a:t>
            </a:r>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a:p>
            <a:pPr>
              <a:lnSpc>
                <a:spcPct val="90000"/>
              </a:lnSpc>
              <a:buFontTx/>
              <a:buNone/>
            </a:pPr>
            <a:endParaRPr lang="en-US" sz="2400" dirty="0"/>
          </a:p>
        </p:txBody>
      </p:sp>
      <p:sp>
        <p:nvSpPr>
          <p:cNvPr id="198660" name="Rectangle 4"/>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spcBef>
                <a:spcPct val="0"/>
              </a:spcBef>
              <a:buFontTx/>
              <a:buNone/>
            </a:pPr>
            <a:r>
              <a:rPr lang="en-US" sz="3600">
                <a:solidFill>
                  <a:schemeClr val="tx2"/>
                </a:solidFill>
              </a:rPr>
              <a:t> 	Redistribution and social security</a:t>
            </a:r>
            <a:endParaRPr lang="nl-NL" sz="3600">
              <a:solidFill>
                <a:schemeClr val="tx2"/>
              </a:solidFill>
            </a:endParaRPr>
          </a:p>
        </p:txBody>
      </p:sp>
      <p:pic>
        <p:nvPicPr>
          <p:cNvPr id="2" name="Picture 1">
            <a:extLst>
              <a:ext uri="{FF2B5EF4-FFF2-40B4-BE49-F238E27FC236}">
                <a16:creationId xmlns:a16="http://schemas.microsoft.com/office/drawing/2014/main" id="{795C7924-B416-FD83-C1B6-14667D4FC3B0}"/>
              </a:ext>
            </a:extLst>
          </p:cNvPr>
          <p:cNvPicPr>
            <a:picLocks noChangeAspect="1"/>
          </p:cNvPicPr>
          <p:nvPr/>
        </p:nvPicPr>
        <p:blipFill>
          <a:blip r:embed="rId2"/>
          <a:stretch>
            <a:fillRect/>
          </a:stretch>
        </p:blipFill>
        <p:spPr>
          <a:xfrm>
            <a:off x="467544" y="1672456"/>
            <a:ext cx="6905163" cy="4977141"/>
          </a:xfrm>
          <a:prstGeom prst="rect">
            <a:avLst/>
          </a:prstGeom>
        </p:spPr>
      </p:pic>
    </p:spTree>
    <p:extLst>
      <p:ext uri="{BB962C8B-B14F-4D97-AF65-F5344CB8AC3E}">
        <p14:creationId xmlns:p14="http://schemas.microsoft.com/office/powerpoint/2010/main" val="3624295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77748F0E-E611-4E02-9FA0-EB934E5F8571}" type="slidenum">
              <a:rPr lang="en-GB"/>
              <a:pPr/>
              <a:t>10</a:t>
            </a:fld>
            <a:endParaRPr lang="en-GB"/>
          </a:p>
        </p:txBody>
      </p:sp>
      <p:sp>
        <p:nvSpPr>
          <p:cNvPr id="199683" name="Rectangle 3"/>
          <p:cNvSpPr>
            <a:spLocks noGrp="1" noChangeArrowheads="1"/>
          </p:cNvSpPr>
          <p:nvPr>
            <p:ph type="body" idx="1"/>
          </p:nvPr>
        </p:nvSpPr>
        <p:spPr>
          <a:xfrm>
            <a:off x="684213" y="1196975"/>
            <a:ext cx="7772400" cy="4968875"/>
          </a:xfrm>
        </p:spPr>
        <p:txBody>
          <a:bodyPr/>
          <a:lstStyle/>
          <a:p>
            <a:pPr marL="0" indent="0">
              <a:buFontTx/>
              <a:buNone/>
            </a:pPr>
            <a:r>
              <a:rPr lang="en-US" sz="2800" dirty="0"/>
              <a:t>Issues in data on income / wealth distribution:</a:t>
            </a:r>
          </a:p>
          <a:p>
            <a:pPr marL="449263" lvl="1" indent="-269875"/>
            <a:r>
              <a:rPr lang="en-US" sz="2400" dirty="0"/>
              <a:t>Unit of observation: Individuals or households?</a:t>
            </a:r>
          </a:p>
          <a:p>
            <a:pPr marL="449263" lvl="1" indent="-269875"/>
            <a:r>
              <a:rPr lang="en-US" sz="2400" dirty="0"/>
              <a:t>Before and after taxes, contributions, and benefits </a:t>
            </a:r>
          </a:p>
          <a:p>
            <a:pPr marL="449263" lvl="1" indent="-269875"/>
            <a:r>
              <a:rPr lang="en-US" sz="2400" dirty="0"/>
              <a:t>In-kind versus cash benefits: Many benefits from the government are not in cash, but in goods / services</a:t>
            </a:r>
            <a:br>
              <a:rPr lang="en-US" sz="2400" dirty="0"/>
            </a:br>
            <a:r>
              <a:rPr lang="en-US" sz="2400" dirty="0"/>
              <a:t>(see slide on ‘</a:t>
            </a:r>
            <a:r>
              <a:rPr lang="en-US" sz="2400" dirty="0" err="1"/>
              <a:t>profijt</a:t>
            </a:r>
            <a:r>
              <a:rPr lang="en-US" sz="2400" dirty="0"/>
              <a:t> van de </a:t>
            </a:r>
            <a:r>
              <a:rPr lang="en-US" sz="2400" dirty="0" err="1"/>
              <a:t>overheid</a:t>
            </a:r>
            <a:r>
              <a:rPr lang="en-US" sz="2400" dirty="0"/>
              <a:t>’) </a:t>
            </a:r>
          </a:p>
          <a:p>
            <a:pPr marL="449263" lvl="1" indent="-269875"/>
            <a:r>
              <a:rPr lang="en-US" sz="2400" dirty="0"/>
              <a:t>Data on wealth less reliable / complete than income data</a:t>
            </a:r>
          </a:p>
          <a:p>
            <a:pPr marL="0" indent="0">
              <a:buFontTx/>
              <a:buNone/>
            </a:pPr>
            <a:r>
              <a:rPr lang="en-US" sz="2800" dirty="0"/>
              <a:t>Next slides: data for NL (from CBS and SCP)</a:t>
            </a:r>
          </a:p>
          <a:p>
            <a:pPr marL="449263" lvl="1" indent="-269875"/>
            <a:r>
              <a:rPr lang="en-US" sz="2400" dirty="0"/>
              <a:t>‘gross income’ (market and benefits) and ‘disposable income’ (after taxes and contributions) to 10%-group;</a:t>
            </a:r>
          </a:p>
          <a:p>
            <a:pPr marL="449263" lvl="1" indent="-269875"/>
            <a:r>
              <a:rPr lang="en-US" sz="2400" dirty="0" err="1"/>
              <a:t>Inkind</a:t>
            </a:r>
            <a:r>
              <a:rPr lang="en-US" sz="2400" dirty="0"/>
              <a:t> benefits to 10% income groups</a:t>
            </a:r>
          </a:p>
          <a:p>
            <a:pPr marL="449263" lvl="1" indent="-269875"/>
            <a:r>
              <a:rPr lang="en-US" sz="2400" dirty="0"/>
              <a:t>‘Pen parade’ of income and wealth</a:t>
            </a:r>
          </a:p>
          <a:p>
            <a:pPr marL="449263" lvl="1" indent="-269875"/>
            <a:endParaRPr lang="en-US" sz="2400" dirty="0"/>
          </a:p>
        </p:txBody>
      </p:sp>
      <p:sp>
        <p:nvSpPr>
          <p:cNvPr id="199684" name="Rectangle 4"/>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spcBef>
                <a:spcPct val="0"/>
              </a:spcBef>
              <a:buFontTx/>
              <a:buNone/>
            </a:pPr>
            <a:r>
              <a:rPr lang="en-US" sz="3600">
                <a:solidFill>
                  <a:schemeClr val="tx2"/>
                </a:solidFill>
              </a:rPr>
              <a:t> 	Redistribution and social security</a:t>
            </a:r>
            <a:endParaRPr lang="nl-NL" sz="360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968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968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968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968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E970738-75B7-4025-8F1C-C6255FF2F798}" type="slidenum">
              <a:rPr lang="en-GB"/>
              <a:pPr/>
              <a:t>11</a:t>
            </a:fld>
            <a:endParaRPr lang="en-GB"/>
          </a:p>
        </p:txBody>
      </p:sp>
      <p:pic>
        <p:nvPicPr>
          <p:cNvPr id="8" name="Picture 7">
            <a:extLst>
              <a:ext uri="{FF2B5EF4-FFF2-40B4-BE49-F238E27FC236}">
                <a16:creationId xmlns:a16="http://schemas.microsoft.com/office/drawing/2014/main" id="{C57B6249-9199-AF3A-D67B-16FD199FA62F}"/>
              </a:ext>
            </a:extLst>
          </p:cNvPr>
          <p:cNvPicPr>
            <a:picLocks noChangeAspect="1"/>
          </p:cNvPicPr>
          <p:nvPr/>
        </p:nvPicPr>
        <p:blipFill>
          <a:blip r:embed="rId2"/>
          <a:stretch>
            <a:fillRect/>
          </a:stretch>
        </p:blipFill>
        <p:spPr>
          <a:xfrm>
            <a:off x="611560" y="382854"/>
            <a:ext cx="8138865" cy="5547841"/>
          </a:xfrm>
          <a:prstGeom prst="rect">
            <a:avLst/>
          </a:prstGeom>
        </p:spPr>
      </p:pic>
      <p:sp>
        <p:nvSpPr>
          <p:cNvPr id="6" name="TextBox 5"/>
          <p:cNvSpPr txBox="1"/>
          <p:nvPr/>
        </p:nvSpPr>
        <p:spPr>
          <a:xfrm>
            <a:off x="503140" y="476672"/>
            <a:ext cx="1116531" cy="430887"/>
          </a:xfrm>
          <a:prstGeom prst="rect">
            <a:avLst/>
          </a:prstGeom>
          <a:noFill/>
        </p:spPr>
        <p:txBody>
          <a:bodyPr wrap="square" rtlCol="0">
            <a:spAutoFit/>
          </a:bodyPr>
          <a:lstStyle/>
          <a:p>
            <a:pPr>
              <a:buNone/>
            </a:pPr>
            <a:r>
              <a:rPr lang="nl-NL" sz="1100" dirty="0" err="1">
                <a:latin typeface="Arial" panose="020B0604020202020204" pitchFamily="34" charset="0"/>
                <a:cs typeface="Arial" panose="020B0604020202020204" pitchFamily="34" charset="0"/>
              </a:rPr>
              <a:t>Income</a:t>
            </a:r>
            <a:r>
              <a:rPr lang="nl-NL" sz="1100" dirty="0">
                <a:latin typeface="Arial" panose="020B0604020202020204" pitchFamily="34" charset="0"/>
                <a:cs typeface="Arial" panose="020B0604020202020204" pitchFamily="34" charset="0"/>
              </a:rPr>
              <a:t> </a:t>
            </a:r>
            <a:br>
              <a:rPr lang="nl-NL" sz="1100" dirty="0">
                <a:latin typeface="Arial" panose="020B0604020202020204" pitchFamily="34" charset="0"/>
                <a:cs typeface="Arial" panose="020B0604020202020204" pitchFamily="34" charset="0"/>
              </a:rPr>
            </a:br>
            <a:r>
              <a:rPr lang="nl-NL" sz="1100" dirty="0">
                <a:latin typeface="Arial" panose="020B0604020202020204" pitchFamily="34" charset="0"/>
                <a:cs typeface="Arial" panose="020B0604020202020204" pitchFamily="34" charset="0"/>
              </a:rPr>
              <a:t>(1,000s euro) </a:t>
            </a:r>
          </a:p>
        </p:txBody>
      </p:sp>
    </p:spTree>
    <p:extLst>
      <p:ext uri="{BB962C8B-B14F-4D97-AF65-F5344CB8AC3E}">
        <p14:creationId xmlns:p14="http://schemas.microsoft.com/office/powerpoint/2010/main" val="3483770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5C19668-67FA-4C8C-814E-5075B276A998}" type="slidenum">
              <a:rPr lang="en-GB" smtClean="0"/>
              <a:pPr/>
              <a:t>12</a:t>
            </a:fld>
            <a:endParaRPr lang="en-GB"/>
          </a:p>
        </p:txBody>
      </p:sp>
      <p:pic>
        <p:nvPicPr>
          <p:cNvPr id="6" name="Content Placeholder 5">
            <a:extLst>
              <a:ext uri="{FF2B5EF4-FFF2-40B4-BE49-F238E27FC236}">
                <a16:creationId xmlns:a16="http://schemas.microsoft.com/office/drawing/2014/main" id="{90291AF1-8FF8-4342-9EFE-6B76618E9C7D}"/>
              </a:ext>
            </a:extLst>
          </p:cNvPr>
          <p:cNvPicPr>
            <a:picLocks noGrp="1" noChangeAspect="1"/>
          </p:cNvPicPr>
          <p:nvPr>
            <p:ph idx="1"/>
          </p:nvPr>
        </p:nvPicPr>
        <p:blipFill>
          <a:blip r:embed="rId2"/>
          <a:stretch>
            <a:fillRect/>
          </a:stretch>
        </p:blipFill>
        <p:spPr>
          <a:xfrm>
            <a:off x="1187624" y="890537"/>
            <a:ext cx="6192688" cy="5607609"/>
          </a:xfrm>
          <a:prstGeom prst="rect">
            <a:avLst/>
          </a:prstGeom>
        </p:spPr>
      </p:pic>
      <p:sp>
        <p:nvSpPr>
          <p:cNvPr id="8" name="Rectangle 5">
            <a:extLst>
              <a:ext uri="{FF2B5EF4-FFF2-40B4-BE49-F238E27FC236}">
                <a16:creationId xmlns:a16="http://schemas.microsoft.com/office/drawing/2014/main" id="{CB49DA07-9F97-42E0-B6E9-CD9D7F32458F}"/>
              </a:ext>
            </a:extLst>
          </p:cNvPr>
          <p:cNvSpPr>
            <a:spLocks noChangeArrowheads="1"/>
          </p:cNvSpPr>
          <p:nvPr/>
        </p:nvSpPr>
        <p:spPr bwMode="auto">
          <a:xfrm>
            <a:off x="648494" y="166989"/>
            <a:ext cx="7847012" cy="720725"/>
          </a:xfrm>
          <a:prstGeom prst="rect">
            <a:avLst/>
          </a:prstGeom>
          <a:noFill/>
          <a:ln w="9525">
            <a:noFill/>
            <a:miter lim="800000"/>
            <a:headEnd/>
            <a:tailEnd/>
          </a:ln>
          <a:effectLst/>
        </p:spPr>
        <p:txBody>
          <a:bodyPr anchor="ctr"/>
          <a:lstStyle/>
          <a:p>
            <a:pPr marL="536575" indent="-536575">
              <a:spcBef>
                <a:spcPct val="0"/>
              </a:spcBef>
              <a:buFontTx/>
              <a:buNone/>
            </a:pPr>
            <a:r>
              <a:rPr lang="en-US" sz="3600" dirty="0">
                <a:solidFill>
                  <a:schemeClr val="tx2"/>
                </a:solidFill>
              </a:rPr>
              <a:t> 	</a:t>
            </a:r>
            <a:r>
              <a:rPr lang="en-US" sz="3200" dirty="0">
                <a:solidFill>
                  <a:schemeClr val="tx2"/>
                </a:solidFill>
              </a:rPr>
              <a:t>‘</a:t>
            </a:r>
            <a:r>
              <a:rPr lang="en-US" sz="3200" dirty="0" err="1">
                <a:solidFill>
                  <a:schemeClr val="tx2"/>
                </a:solidFill>
              </a:rPr>
              <a:t>Profijt</a:t>
            </a:r>
            <a:r>
              <a:rPr lang="en-US" sz="3200" dirty="0">
                <a:solidFill>
                  <a:schemeClr val="tx2"/>
                </a:solidFill>
              </a:rPr>
              <a:t> van de </a:t>
            </a:r>
            <a:r>
              <a:rPr lang="en-US" sz="3200" dirty="0" err="1">
                <a:solidFill>
                  <a:schemeClr val="tx2"/>
                </a:solidFill>
              </a:rPr>
              <a:t>overheid</a:t>
            </a:r>
            <a:r>
              <a:rPr lang="en-US" sz="3200" dirty="0">
                <a:solidFill>
                  <a:schemeClr val="tx2"/>
                </a:solidFill>
              </a:rPr>
              <a:t>’</a:t>
            </a:r>
            <a:endParaRPr lang="nl-NL" sz="3600" dirty="0">
              <a:solidFill>
                <a:schemeClr val="tx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E970738-75B7-4025-8F1C-C6255FF2F798}" type="slidenum">
              <a:rPr lang="en-GB"/>
              <a:pPr/>
              <a:t>13</a:t>
            </a:fld>
            <a:endParaRPr lang="en-GB"/>
          </a:p>
        </p:txBody>
      </p:sp>
      <p:pic>
        <p:nvPicPr>
          <p:cNvPr id="2" name="Picture 1">
            <a:extLst>
              <a:ext uri="{FF2B5EF4-FFF2-40B4-BE49-F238E27FC236}">
                <a16:creationId xmlns:a16="http://schemas.microsoft.com/office/drawing/2014/main" id="{667E5D11-E810-D042-A8C1-F50BF3151E3F}"/>
              </a:ext>
            </a:extLst>
          </p:cNvPr>
          <p:cNvPicPr>
            <a:picLocks noChangeAspect="1"/>
          </p:cNvPicPr>
          <p:nvPr/>
        </p:nvPicPr>
        <p:blipFill>
          <a:blip r:embed="rId2"/>
          <a:stretch>
            <a:fillRect/>
          </a:stretch>
        </p:blipFill>
        <p:spPr>
          <a:xfrm>
            <a:off x="1619671" y="181833"/>
            <a:ext cx="7263713" cy="3751223"/>
          </a:xfrm>
          <a:prstGeom prst="rect">
            <a:avLst/>
          </a:prstGeom>
        </p:spPr>
      </p:pic>
      <p:pic>
        <p:nvPicPr>
          <p:cNvPr id="3" name="Picture 2">
            <a:extLst>
              <a:ext uri="{FF2B5EF4-FFF2-40B4-BE49-F238E27FC236}">
                <a16:creationId xmlns:a16="http://schemas.microsoft.com/office/drawing/2014/main" id="{F6D721B0-5B15-3932-19DF-FF9274457761}"/>
              </a:ext>
            </a:extLst>
          </p:cNvPr>
          <p:cNvPicPr>
            <a:picLocks noChangeAspect="1"/>
          </p:cNvPicPr>
          <p:nvPr/>
        </p:nvPicPr>
        <p:blipFill>
          <a:blip r:embed="rId3"/>
          <a:stretch>
            <a:fillRect/>
          </a:stretch>
        </p:blipFill>
        <p:spPr>
          <a:xfrm>
            <a:off x="1592081" y="3140968"/>
            <a:ext cx="7291303" cy="4047373"/>
          </a:xfrm>
          <a:prstGeom prst="rect">
            <a:avLst/>
          </a:prstGeom>
        </p:spPr>
      </p:pic>
      <p:sp>
        <p:nvSpPr>
          <p:cNvPr id="5" name="TextBox 4">
            <a:extLst>
              <a:ext uri="{FF2B5EF4-FFF2-40B4-BE49-F238E27FC236}">
                <a16:creationId xmlns:a16="http://schemas.microsoft.com/office/drawing/2014/main" id="{2D0C81D1-CF93-B567-4DFD-6101C2E8F0E1}"/>
              </a:ext>
            </a:extLst>
          </p:cNvPr>
          <p:cNvSpPr txBox="1"/>
          <p:nvPr/>
        </p:nvSpPr>
        <p:spPr>
          <a:xfrm>
            <a:off x="107504" y="620688"/>
            <a:ext cx="1484577" cy="400110"/>
          </a:xfrm>
          <a:prstGeom prst="rect">
            <a:avLst/>
          </a:prstGeom>
          <a:noFill/>
        </p:spPr>
        <p:txBody>
          <a:bodyPr wrap="square" rtlCol="0">
            <a:spAutoFit/>
          </a:bodyPr>
          <a:lstStyle/>
          <a:p>
            <a:pPr>
              <a:buNone/>
            </a:pPr>
            <a:r>
              <a:rPr lang="en-US" dirty="0"/>
              <a:t>Income, NL</a:t>
            </a:r>
            <a:endParaRPr lang="nl-NL" dirty="0"/>
          </a:p>
        </p:txBody>
      </p:sp>
      <p:sp>
        <p:nvSpPr>
          <p:cNvPr id="7" name="TextBox 6">
            <a:extLst>
              <a:ext uri="{FF2B5EF4-FFF2-40B4-BE49-F238E27FC236}">
                <a16:creationId xmlns:a16="http://schemas.microsoft.com/office/drawing/2014/main" id="{358ED675-A5D8-3E94-57E1-4D1F6A6BD502}"/>
              </a:ext>
            </a:extLst>
          </p:cNvPr>
          <p:cNvSpPr txBox="1"/>
          <p:nvPr/>
        </p:nvSpPr>
        <p:spPr>
          <a:xfrm>
            <a:off x="121299" y="3402453"/>
            <a:ext cx="1484577" cy="400110"/>
          </a:xfrm>
          <a:prstGeom prst="rect">
            <a:avLst/>
          </a:prstGeom>
          <a:noFill/>
        </p:spPr>
        <p:txBody>
          <a:bodyPr wrap="square" rtlCol="0">
            <a:spAutoFit/>
          </a:bodyPr>
          <a:lstStyle/>
          <a:p>
            <a:pPr>
              <a:buNone/>
            </a:pPr>
            <a:r>
              <a:rPr lang="en-US" dirty="0"/>
              <a:t>wealth, NL</a:t>
            </a:r>
            <a:endParaRPr lang="nl-NL" dirty="0"/>
          </a:p>
        </p:txBody>
      </p:sp>
    </p:spTree>
    <p:extLst>
      <p:ext uri="{BB962C8B-B14F-4D97-AF65-F5344CB8AC3E}">
        <p14:creationId xmlns:p14="http://schemas.microsoft.com/office/powerpoint/2010/main" val="3650974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82D8AF61-BA21-423F-8998-0EEB784B14D4}" type="slidenum">
              <a:rPr lang="en-GB"/>
              <a:pPr/>
              <a:t>14</a:t>
            </a:fld>
            <a:endParaRPr lang="en-GB"/>
          </a:p>
        </p:txBody>
      </p:sp>
      <p:sp>
        <p:nvSpPr>
          <p:cNvPr id="203778" name="Rectangle 2"/>
          <p:cNvSpPr>
            <a:spLocks noGrp="1" noChangeArrowheads="1"/>
          </p:cNvSpPr>
          <p:nvPr>
            <p:ph type="body" idx="1"/>
          </p:nvPr>
        </p:nvSpPr>
        <p:spPr>
          <a:xfrm>
            <a:off x="251520" y="1412875"/>
            <a:ext cx="8784976" cy="4895850"/>
          </a:xfrm>
        </p:spPr>
        <p:txBody>
          <a:bodyPr/>
          <a:lstStyle/>
          <a:p>
            <a:r>
              <a:rPr lang="en-US" sz="2800" dirty="0"/>
              <a:t>Historical developments over time (NL):</a:t>
            </a:r>
          </a:p>
          <a:p>
            <a:pPr lvl="1"/>
            <a:r>
              <a:rPr lang="en-US" sz="2400" dirty="0"/>
              <a:t>Increasing and later decreasing government expenditures</a:t>
            </a:r>
          </a:p>
          <a:p>
            <a:pPr lvl="1"/>
            <a:r>
              <a:rPr lang="en-US" sz="2400" dirty="0"/>
              <a:t>Same holds for social security expenditures: </a:t>
            </a:r>
          </a:p>
          <a:p>
            <a:pPr lvl="2"/>
            <a:r>
              <a:rPr lang="en-US" sz="2000" dirty="0"/>
              <a:t>As % of GDP: 11.6% in ‘63; 20% in ‘83; 10,7% in ’00; 12% in ‘23</a:t>
            </a:r>
          </a:p>
          <a:p>
            <a:pPr lvl="1"/>
            <a:r>
              <a:rPr lang="en-US" sz="2400" dirty="0"/>
              <a:t>Ratio’s:</a:t>
            </a:r>
          </a:p>
          <a:p>
            <a:pPr lvl="2"/>
            <a:r>
              <a:rPr lang="en-US" sz="2000" dirty="0"/>
              <a:t>(inactive/active)*100: 42 in ’70; 80 in ’84; 58 in ’08; 71 in ’15; 66 in ‘23</a:t>
            </a:r>
          </a:p>
          <a:p>
            <a:pPr lvl="2"/>
            <a:r>
              <a:rPr lang="en-US" sz="2000" dirty="0"/>
              <a:t>Old-age dependency ratio (= [ # 65+] / [#15-65]):</a:t>
            </a:r>
            <a:br>
              <a:rPr lang="en-US" sz="2000" dirty="0"/>
            </a:br>
            <a:r>
              <a:rPr lang="en-US" sz="2000" dirty="0"/>
              <a:t>From 0.24 in 2000 to 0.35 in 2020</a:t>
            </a:r>
          </a:p>
          <a:p>
            <a:r>
              <a:rPr lang="en-US" sz="2800" dirty="0"/>
              <a:t>Driving forces:</a:t>
            </a:r>
          </a:p>
          <a:p>
            <a:pPr lvl="1"/>
            <a:r>
              <a:rPr lang="en-US" sz="2400" dirty="0"/>
              <a:t>Volume: number of programs + eligibility</a:t>
            </a:r>
          </a:p>
          <a:p>
            <a:pPr lvl="1"/>
            <a:r>
              <a:rPr lang="en-US" sz="2400" dirty="0"/>
              <a:t>Price: inflation correction / link to income growth</a:t>
            </a:r>
          </a:p>
        </p:txBody>
      </p:sp>
      <p:sp>
        <p:nvSpPr>
          <p:cNvPr id="203781" name="Rectangle 5"/>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spcBef>
                <a:spcPct val="0"/>
              </a:spcBef>
              <a:buFontTx/>
              <a:buNone/>
            </a:pPr>
            <a:r>
              <a:rPr lang="en-US" sz="3600" dirty="0">
                <a:solidFill>
                  <a:schemeClr val="tx2"/>
                </a:solidFill>
              </a:rPr>
              <a:t> 	Redistribution and social security</a:t>
            </a:r>
            <a:endParaRPr lang="nl-NL" sz="3600" dirty="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377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377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377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3778">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3778">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377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lide Number Placeholder 5"/>
          <p:cNvSpPr>
            <a:spLocks noGrp="1"/>
          </p:cNvSpPr>
          <p:nvPr>
            <p:ph type="sldNum" sz="quarter" idx="12"/>
          </p:nvPr>
        </p:nvSpPr>
        <p:spPr/>
        <p:txBody>
          <a:bodyPr/>
          <a:lstStyle/>
          <a:p>
            <a:fld id="{3D7BED4B-6327-4229-9D81-F34509D60635}" type="slidenum">
              <a:rPr lang="en-GB"/>
              <a:pPr/>
              <a:t>15</a:t>
            </a:fld>
            <a:endParaRPr lang="en-GB"/>
          </a:p>
        </p:txBody>
      </p:sp>
      <p:sp>
        <p:nvSpPr>
          <p:cNvPr id="204802" name="Rectangle 2"/>
          <p:cNvSpPr>
            <a:spLocks noGrp="1" noChangeArrowheads="1"/>
          </p:cNvSpPr>
          <p:nvPr>
            <p:ph type="title"/>
          </p:nvPr>
        </p:nvSpPr>
        <p:spPr>
          <a:xfrm>
            <a:off x="685800" y="381001"/>
            <a:ext cx="7772400" cy="743744"/>
          </a:xfrm>
        </p:spPr>
        <p:txBody>
          <a:bodyPr/>
          <a:lstStyle/>
          <a:p>
            <a:pPr marL="762000" indent="-762000"/>
            <a:r>
              <a:rPr lang="en-US" sz="2800" dirty="0"/>
              <a:t>Pub spending on unemployment, sickness &amp; disability insurance 2015, as % GDP</a:t>
            </a:r>
          </a:p>
        </p:txBody>
      </p:sp>
      <p:sp>
        <p:nvSpPr>
          <p:cNvPr id="204859" name="Rectangle 59"/>
          <p:cNvSpPr>
            <a:spLocks noChangeArrowheads="1"/>
          </p:cNvSpPr>
          <p:nvPr/>
        </p:nvSpPr>
        <p:spPr bwMode="auto">
          <a:xfrm>
            <a:off x="251520" y="6248400"/>
            <a:ext cx="1420582" cy="338554"/>
          </a:xfrm>
          <a:prstGeom prst="rect">
            <a:avLst/>
          </a:prstGeom>
          <a:noFill/>
          <a:ln w="9525">
            <a:noFill/>
            <a:miter lim="800000"/>
            <a:headEnd/>
            <a:tailEnd/>
          </a:ln>
          <a:effectLst/>
        </p:spPr>
        <p:txBody>
          <a:bodyPr wrap="none">
            <a:spAutoFit/>
          </a:bodyPr>
          <a:lstStyle/>
          <a:p>
            <a:pPr>
              <a:spcBef>
                <a:spcPct val="0"/>
              </a:spcBef>
              <a:buFontTx/>
              <a:buNone/>
            </a:pPr>
            <a:r>
              <a:rPr lang="nl-NL" sz="1600" dirty="0"/>
              <a:t>Source: OECD</a:t>
            </a:r>
            <a:endParaRPr lang="en-GB" sz="1600" dirty="0">
              <a:solidFill>
                <a:schemeClr val="tx2"/>
              </a:solidFill>
            </a:endParaRPr>
          </a:p>
        </p:txBody>
      </p:sp>
      <p:pic>
        <p:nvPicPr>
          <p:cNvPr id="3" name="Table Placeholder 2"/>
          <p:cNvPicPr>
            <a:picLocks noGrp="1" noChangeAspect="1"/>
          </p:cNvPicPr>
          <p:nvPr>
            <p:ph type="tbl" idx="1"/>
          </p:nvPr>
        </p:nvPicPr>
        <p:blipFill>
          <a:blip r:embed="rId2"/>
          <a:stretch>
            <a:fillRect/>
          </a:stretch>
        </p:blipFill>
        <p:spPr>
          <a:xfrm>
            <a:off x="505182" y="1124745"/>
            <a:ext cx="8626986" cy="5159205"/>
          </a:xfrm>
          <a:prstGeom prst="rect">
            <a:avLst/>
          </a:prstGeom>
        </p:spPr>
      </p:pic>
    </p:spTree>
    <p:extLst>
      <p:ext uri="{BB962C8B-B14F-4D97-AF65-F5344CB8AC3E}">
        <p14:creationId xmlns:p14="http://schemas.microsoft.com/office/powerpoint/2010/main" val="1477211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lide Number Placeholder 5"/>
          <p:cNvSpPr>
            <a:spLocks noGrp="1"/>
          </p:cNvSpPr>
          <p:nvPr>
            <p:ph type="sldNum" sz="quarter" idx="12"/>
          </p:nvPr>
        </p:nvSpPr>
        <p:spPr/>
        <p:txBody>
          <a:bodyPr/>
          <a:lstStyle/>
          <a:p>
            <a:fld id="{3D7BED4B-6327-4229-9D81-F34509D60635}" type="slidenum">
              <a:rPr lang="en-GB"/>
              <a:pPr/>
              <a:t>16</a:t>
            </a:fld>
            <a:endParaRPr lang="en-GB"/>
          </a:p>
        </p:txBody>
      </p:sp>
      <p:sp>
        <p:nvSpPr>
          <p:cNvPr id="204802" name="Rectangle 2"/>
          <p:cNvSpPr>
            <a:spLocks noGrp="1" noChangeArrowheads="1"/>
          </p:cNvSpPr>
          <p:nvPr>
            <p:ph type="title"/>
          </p:nvPr>
        </p:nvSpPr>
        <p:spPr>
          <a:xfrm>
            <a:off x="685800" y="381001"/>
            <a:ext cx="7772400" cy="743744"/>
          </a:xfrm>
        </p:spPr>
        <p:txBody>
          <a:bodyPr/>
          <a:lstStyle/>
          <a:p>
            <a:pPr marL="762000" indent="-762000"/>
            <a:r>
              <a:rPr lang="en-US" sz="2800" dirty="0"/>
              <a:t>Pub spending on pensions, as % GDP</a:t>
            </a:r>
          </a:p>
        </p:txBody>
      </p:sp>
      <p:sp>
        <p:nvSpPr>
          <p:cNvPr id="204859" name="Rectangle 59"/>
          <p:cNvSpPr>
            <a:spLocks noChangeArrowheads="1"/>
          </p:cNvSpPr>
          <p:nvPr/>
        </p:nvSpPr>
        <p:spPr bwMode="auto">
          <a:xfrm>
            <a:off x="251520" y="6248400"/>
            <a:ext cx="1523174" cy="338554"/>
          </a:xfrm>
          <a:prstGeom prst="rect">
            <a:avLst/>
          </a:prstGeom>
          <a:noFill/>
          <a:ln w="9525">
            <a:noFill/>
            <a:miter lim="800000"/>
            <a:headEnd/>
            <a:tailEnd/>
          </a:ln>
          <a:effectLst/>
        </p:spPr>
        <p:txBody>
          <a:bodyPr wrap="none">
            <a:spAutoFit/>
          </a:bodyPr>
          <a:lstStyle/>
          <a:p>
            <a:pPr>
              <a:spcBef>
                <a:spcPct val="0"/>
              </a:spcBef>
              <a:buFontTx/>
              <a:buNone/>
            </a:pPr>
            <a:r>
              <a:rPr lang="nl-NL" sz="1600" dirty="0"/>
              <a:t>Source: OECD </a:t>
            </a:r>
            <a:endParaRPr lang="en-GB" sz="1600" dirty="0">
              <a:solidFill>
                <a:schemeClr val="tx2"/>
              </a:solidFill>
            </a:endParaRPr>
          </a:p>
        </p:txBody>
      </p:sp>
      <p:sp>
        <p:nvSpPr>
          <p:cNvPr id="2" name="Table Placeholder 1"/>
          <p:cNvSpPr>
            <a:spLocks noGrp="1"/>
          </p:cNvSpPr>
          <p:nvPr>
            <p:ph type="tbl" idx="1"/>
          </p:nvPr>
        </p:nvSpPr>
        <p:spPr/>
        <p:txBody>
          <a:bodyPr/>
          <a:lstStyle/>
          <a:p>
            <a:endParaRPr lang="nl-NL"/>
          </a:p>
        </p:txBody>
      </p:sp>
      <p:pic>
        <p:nvPicPr>
          <p:cNvPr id="4" name="Picture 3"/>
          <p:cNvPicPr>
            <a:picLocks noChangeAspect="1"/>
          </p:cNvPicPr>
          <p:nvPr/>
        </p:nvPicPr>
        <p:blipFill>
          <a:blip r:embed="rId2"/>
          <a:stretch>
            <a:fillRect/>
          </a:stretch>
        </p:blipFill>
        <p:spPr>
          <a:xfrm>
            <a:off x="714714" y="1042737"/>
            <a:ext cx="7665412" cy="4742113"/>
          </a:xfrm>
          <a:prstGeom prst="rect">
            <a:avLst/>
          </a:prstGeom>
        </p:spPr>
      </p:pic>
    </p:spTree>
    <p:extLst>
      <p:ext uri="{BB962C8B-B14F-4D97-AF65-F5344CB8AC3E}">
        <p14:creationId xmlns:p14="http://schemas.microsoft.com/office/powerpoint/2010/main" val="511156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061B5FC1-7F46-44C3-975A-8585AA5C2E1B}" type="slidenum">
              <a:rPr lang="en-GB"/>
              <a:pPr/>
              <a:t>17</a:t>
            </a:fld>
            <a:endParaRPr lang="en-GB"/>
          </a:p>
        </p:txBody>
      </p:sp>
      <p:sp>
        <p:nvSpPr>
          <p:cNvPr id="207875" name="Rectangle 3"/>
          <p:cNvSpPr>
            <a:spLocks noGrp="1" noChangeArrowheads="1"/>
          </p:cNvSpPr>
          <p:nvPr>
            <p:ph type="body" idx="1"/>
          </p:nvPr>
        </p:nvSpPr>
        <p:spPr>
          <a:xfrm>
            <a:off x="685800" y="1268413"/>
            <a:ext cx="7772400" cy="4827587"/>
          </a:xfrm>
        </p:spPr>
        <p:txBody>
          <a:bodyPr/>
          <a:lstStyle/>
          <a:p>
            <a:pPr>
              <a:lnSpc>
                <a:spcPct val="90000"/>
              </a:lnSpc>
              <a:buFontTx/>
              <a:buNone/>
            </a:pPr>
            <a:r>
              <a:rPr lang="en-US" sz="2400" dirty="0"/>
              <a:t>Note:</a:t>
            </a:r>
            <a:br>
              <a:rPr lang="en-US" sz="2400" dirty="0"/>
            </a:br>
            <a:r>
              <a:rPr lang="en-US" sz="2400" dirty="0"/>
              <a:t>Fully self-interested rich individuals prefer no redistribution</a:t>
            </a:r>
          </a:p>
          <a:p>
            <a:pPr>
              <a:lnSpc>
                <a:spcPct val="90000"/>
              </a:lnSpc>
              <a:buFontTx/>
              <a:buNone/>
            </a:pPr>
            <a:endParaRPr lang="en-US" sz="1000" dirty="0"/>
          </a:p>
          <a:p>
            <a:pPr>
              <a:lnSpc>
                <a:spcPct val="90000"/>
              </a:lnSpc>
              <a:buFontTx/>
              <a:buNone/>
            </a:pPr>
            <a:r>
              <a:rPr lang="en-US" sz="2400" dirty="0"/>
              <a:t>Normative answer: </a:t>
            </a:r>
            <a:br>
              <a:rPr lang="en-US" sz="2400" dirty="0"/>
            </a:br>
            <a:r>
              <a:rPr lang="en-US" sz="2400" dirty="0"/>
              <a:t>Because ‘society’ prefers a different distribution than the market generates</a:t>
            </a:r>
          </a:p>
          <a:p>
            <a:pPr>
              <a:lnSpc>
                <a:spcPct val="90000"/>
              </a:lnSpc>
              <a:buFontTx/>
              <a:buNone/>
            </a:pPr>
            <a:endParaRPr lang="en-US" sz="1200" dirty="0"/>
          </a:p>
          <a:p>
            <a:pPr>
              <a:lnSpc>
                <a:spcPct val="90000"/>
              </a:lnSpc>
              <a:buFontTx/>
              <a:buNone/>
            </a:pPr>
            <a:r>
              <a:rPr lang="en-US" sz="2400" dirty="0"/>
              <a:t>Using Utilitarian Social Welfare Function:</a:t>
            </a:r>
          </a:p>
          <a:p>
            <a:pPr algn="ctr">
              <a:lnSpc>
                <a:spcPct val="90000"/>
              </a:lnSpc>
              <a:buFontTx/>
              <a:buNone/>
            </a:pPr>
            <a:r>
              <a:rPr lang="en-US" sz="2400" b="1" dirty="0">
                <a:solidFill>
                  <a:schemeClr val="tx2"/>
                </a:solidFill>
              </a:rPr>
              <a:t>W = F(U</a:t>
            </a:r>
            <a:r>
              <a:rPr lang="en-US" sz="2400" b="1" baseline="-25000" dirty="0">
                <a:solidFill>
                  <a:schemeClr val="tx2"/>
                </a:solidFill>
              </a:rPr>
              <a:t>1</a:t>
            </a:r>
            <a:r>
              <a:rPr lang="en-US" sz="2400" b="1" dirty="0">
                <a:solidFill>
                  <a:schemeClr val="tx2"/>
                </a:solidFill>
              </a:rPr>
              <a:t>, U</a:t>
            </a:r>
            <a:r>
              <a:rPr lang="en-US" sz="2400" b="1" baseline="-25000" dirty="0">
                <a:solidFill>
                  <a:schemeClr val="tx2"/>
                </a:solidFill>
              </a:rPr>
              <a:t>2</a:t>
            </a:r>
            <a:r>
              <a:rPr lang="en-US" sz="2400" b="1" dirty="0">
                <a:solidFill>
                  <a:schemeClr val="tx2"/>
                </a:solidFill>
              </a:rPr>
              <a:t>, ,,,, U</a:t>
            </a:r>
            <a:r>
              <a:rPr lang="en-US" sz="2400" b="1" baseline="-25000" dirty="0">
                <a:solidFill>
                  <a:schemeClr val="tx2"/>
                </a:solidFill>
              </a:rPr>
              <a:t>n</a:t>
            </a:r>
            <a:r>
              <a:rPr lang="en-US" sz="2400" b="1" dirty="0">
                <a:solidFill>
                  <a:schemeClr val="tx2"/>
                </a:solidFill>
              </a:rPr>
              <a:t>) ,</a:t>
            </a:r>
          </a:p>
          <a:p>
            <a:pPr>
              <a:lnSpc>
                <a:spcPct val="90000"/>
              </a:lnSpc>
              <a:buFontTx/>
              <a:buNone/>
            </a:pPr>
            <a:endParaRPr lang="en-US" sz="1000" dirty="0">
              <a:solidFill>
                <a:schemeClr val="tx2"/>
              </a:solidFill>
            </a:endParaRPr>
          </a:p>
          <a:p>
            <a:pPr>
              <a:lnSpc>
                <a:spcPct val="90000"/>
              </a:lnSpc>
              <a:buFontTx/>
              <a:buNone/>
            </a:pPr>
            <a:r>
              <a:rPr lang="en-US" sz="2400" dirty="0">
                <a:solidFill>
                  <a:schemeClr val="tx2"/>
                </a:solidFill>
              </a:rPr>
              <a:t>Redistribution aims to </a:t>
            </a:r>
          </a:p>
          <a:p>
            <a:pPr algn="ctr">
              <a:lnSpc>
                <a:spcPct val="90000"/>
              </a:lnSpc>
              <a:buFontTx/>
              <a:buNone/>
            </a:pPr>
            <a:r>
              <a:rPr lang="en-US" sz="2400" i="1" dirty="0"/>
              <a:t>“Promote Greatest Good for Greatest Number”</a:t>
            </a:r>
          </a:p>
          <a:p>
            <a:pPr>
              <a:lnSpc>
                <a:spcPct val="90000"/>
              </a:lnSpc>
              <a:buFontTx/>
              <a:buNone/>
            </a:pPr>
            <a:r>
              <a:rPr lang="en-US" sz="2400" b="1" dirty="0">
                <a:solidFill>
                  <a:schemeClr val="tx2"/>
                </a:solidFill>
              </a:rPr>
              <a:t>						</a:t>
            </a:r>
            <a:r>
              <a:rPr lang="en-US" sz="2400" dirty="0">
                <a:solidFill>
                  <a:schemeClr val="tx2"/>
                </a:solidFill>
              </a:rPr>
              <a:t>(Bentham)</a:t>
            </a:r>
            <a:r>
              <a:rPr lang="en-US" sz="2400" b="1" dirty="0">
                <a:solidFill>
                  <a:schemeClr val="tx2"/>
                </a:solidFill>
              </a:rPr>
              <a:t>	</a:t>
            </a:r>
            <a:endParaRPr lang="en-US" sz="2400" dirty="0"/>
          </a:p>
        </p:txBody>
      </p:sp>
      <p:sp>
        <p:nvSpPr>
          <p:cNvPr id="207876"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p:spPr>
        <p:txBody>
          <a:bodyPr wrap="none" anchor="ctr"/>
          <a:lstStyle/>
          <a:p>
            <a:pPr algn="ctr">
              <a:spcBef>
                <a:spcPct val="0"/>
              </a:spcBef>
              <a:buFontTx/>
              <a:buNone/>
            </a:pPr>
            <a:r>
              <a:rPr lang="en-US" sz="1400" b="1">
                <a:latin typeface="Tahoma" charset="0"/>
              </a:rPr>
              <a:t>0</a:t>
            </a:r>
          </a:p>
        </p:txBody>
      </p:sp>
      <p:sp>
        <p:nvSpPr>
          <p:cNvPr id="207881" name="Rectangle 9"/>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lgn="ctr">
              <a:spcBef>
                <a:spcPct val="0"/>
              </a:spcBef>
              <a:buFontTx/>
              <a:buNone/>
            </a:pPr>
            <a:r>
              <a:rPr lang="en-US" sz="3600">
                <a:solidFill>
                  <a:schemeClr val="tx2"/>
                </a:solidFill>
              </a:rPr>
              <a:t>Why Redistribution?</a:t>
            </a:r>
            <a:endParaRPr lang="nl-NL" sz="3600">
              <a:solidFill>
                <a:schemeClr val="tx2"/>
              </a:solidFill>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7875">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7875">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7875">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7875">
                                            <p:txEl>
                                              <p:pRg st="7" end="7"/>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7875">
                                            <p:txEl>
                                              <p:pRg st="8" end="8"/>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787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5" grpId="0" uiExpand="1" build="p" bldLvl="4"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D151307-87E0-44A5-ACDC-D3A538C66596}" type="slidenum">
              <a:rPr lang="en-GB"/>
              <a:pPr/>
              <a:t>18</a:t>
            </a:fld>
            <a:endParaRPr lang="en-GB"/>
          </a:p>
        </p:txBody>
      </p:sp>
      <p:sp>
        <p:nvSpPr>
          <p:cNvPr id="216067" name="Rectangle 3"/>
          <p:cNvSpPr>
            <a:spLocks noGrp="1" noChangeArrowheads="1"/>
          </p:cNvSpPr>
          <p:nvPr>
            <p:ph type="body" idx="1"/>
          </p:nvPr>
        </p:nvSpPr>
        <p:spPr>
          <a:xfrm>
            <a:off x="685800" y="1341438"/>
            <a:ext cx="7772400" cy="4754562"/>
          </a:xfrm>
        </p:spPr>
        <p:txBody>
          <a:bodyPr/>
          <a:lstStyle/>
          <a:p>
            <a:pPr>
              <a:lnSpc>
                <a:spcPct val="80000"/>
              </a:lnSpc>
              <a:buFontTx/>
              <a:buNone/>
            </a:pPr>
            <a:r>
              <a:rPr lang="en-US" sz="2400" dirty="0"/>
              <a:t>Recall from </a:t>
            </a:r>
            <a:r>
              <a:rPr lang="en-US" sz="2400" dirty="0" err="1"/>
              <a:t>ch.</a:t>
            </a:r>
            <a:r>
              <a:rPr lang="en-US" sz="2400" dirty="0"/>
              <a:t> 3: Second Fundamental Theorem</a:t>
            </a:r>
            <a:br>
              <a:rPr lang="en-US" sz="2400" dirty="0"/>
            </a:br>
            <a:endParaRPr lang="en-US" sz="900" dirty="0"/>
          </a:p>
          <a:p>
            <a:pPr algn="ctr">
              <a:lnSpc>
                <a:spcPct val="80000"/>
              </a:lnSpc>
              <a:buFontTx/>
              <a:buNone/>
            </a:pPr>
            <a:r>
              <a:rPr lang="en-US" sz="2400" i="1" dirty="0"/>
              <a:t>Any Pareto-efficient allocation of goods (and, hence, utility) can be obtained through reallocation of resources</a:t>
            </a:r>
          </a:p>
          <a:p>
            <a:pPr>
              <a:lnSpc>
                <a:spcPct val="80000"/>
              </a:lnSpc>
              <a:buFontTx/>
              <a:buNone/>
            </a:pPr>
            <a:endParaRPr lang="en-US" sz="1000" dirty="0"/>
          </a:p>
          <a:p>
            <a:pPr>
              <a:lnSpc>
                <a:spcPct val="80000"/>
              </a:lnSpc>
              <a:buFontTx/>
              <a:buNone/>
            </a:pPr>
            <a:r>
              <a:rPr lang="en-US" sz="2400" dirty="0"/>
              <a:t>Example:  redistribution with additive SW function:</a:t>
            </a:r>
          </a:p>
          <a:p>
            <a:pPr algn="ctr">
              <a:lnSpc>
                <a:spcPct val="80000"/>
              </a:lnSpc>
              <a:buFontTx/>
              <a:buNone/>
            </a:pPr>
            <a:r>
              <a:rPr lang="en-US" sz="2400" b="1" dirty="0"/>
              <a:t>W = U</a:t>
            </a:r>
            <a:r>
              <a:rPr lang="en-US" sz="2400" b="1" baseline="-25000" dirty="0"/>
              <a:t>1</a:t>
            </a:r>
            <a:r>
              <a:rPr lang="en-US" sz="2400" b="1" dirty="0"/>
              <a:t> + U</a:t>
            </a:r>
            <a:r>
              <a:rPr lang="en-US" sz="2400" b="1" baseline="-25000" dirty="0"/>
              <a:t>2</a:t>
            </a:r>
            <a:r>
              <a:rPr lang="en-US" sz="2400" b="1" dirty="0"/>
              <a:t> + … + U</a:t>
            </a:r>
            <a:r>
              <a:rPr lang="en-US" sz="2400" b="1" baseline="-25000" dirty="0"/>
              <a:t>n</a:t>
            </a:r>
          </a:p>
          <a:p>
            <a:pPr>
              <a:lnSpc>
                <a:spcPct val="80000"/>
              </a:lnSpc>
              <a:buFontTx/>
              <a:buNone/>
            </a:pPr>
            <a:r>
              <a:rPr lang="en-US" sz="2400" dirty="0"/>
              <a:t>Assume:</a:t>
            </a:r>
          </a:p>
          <a:p>
            <a:pPr>
              <a:lnSpc>
                <a:spcPct val="80000"/>
              </a:lnSpc>
            </a:pPr>
            <a:r>
              <a:rPr lang="en-US" sz="2400" dirty="0"/>
              <a:t>Utility of individuals depends only on their income</a:t>
            </a:r>
          </a:p>
          <a:p>
            <a:pPr>
              <a:lnSpc>
                <a:spcPct val="80000"/>
              </a:lnSpc>
            </a:pPr>
            <a:r>
              <a:rPr lang="en-US" sz="2400" dirty="0"/>
              <a:t>Utility functions exhibit diminishing marginal utility of income: </a:t>
            </a:r>
            <a:r>
              <a:rPr lang="en-US" sz="2400" b="1" dirty="0"/>
              <a:t>U’&gt; 0 and</a:t>
            </a:r>
            <a:r>
              <a:rPr lang="en-US" sz="2400" dirty="0"/>
              <a:t> </a:t>
            </a:r>
            <a:r>
              <a:rPr lang="en-US" sz="2400" b="1" dirty="0"/>
              <a:t>U’’&lt; 0</a:t>
            </a:r>
            <a:r>
              <a:rPr lang="en-US" sz="2400" dirty="0"/>
              <a:t> </a:t>
            </a:r>
          </a:p>
          <a:p>
            <a:pPr>
              <a:lnSpc>
                <a:spcPct val="80000"/>
              </a:lnSpc>
            </a:pPr>
            <a:r>
              <a:rPr lang="en-US" sz="2400" dirty="0"/>
              <a:t>Total amount of income is </a:t>
            </a:r>
            <a:r>
              <a:rPr lang="en-US" sz="2400" b="1" dirty="0"/>
              <a:t>fixed </a:t>
            </a:r>
            <a:r>
              <a:rPr lang="en-US" sz="2400" dirty="0"/>
              <a:t>     </a:t>
            </a:r>
          </a:p>
          <a:p>
            <a:pPr>
              <a:lnSpc>
                <a:spcPct val="80000"/>
              </a:lnSpc>
              <a:buFontTx/>
              <a:buNone/>
            </a:pPr>
            <a:endParaRPr lang="en-US" sz="1200" dirty="0"/>
          </a:p>
          <a:p>
            <a:pPr>
              <a:lnSpc>
                <a:spcPct val="80000"/>
              </a:lnSpc>
              <a:buFontTx/>
              <a:buNone/>
            </a:pPr>
            <a:r>
              <a:rPr lang="en-US" sz="2400" dirty="0"/>
              <a:t>Optimal distribution has: </a:t>
            </a:r>
            <a:r>
              <a:rPr lang="en-US" sz="2400" b="1" dirty="0"/>
              <a:t>MU</a:t>
            </a:r>
            <a:r>
              <a:rPr lang="en-US" sz="2400" b="1" baseline="-25000" dirty="0"/>
              <a:t>1</a:t>
            </a:r>
            <a:r>
              <a:rPr lang="en-US" sz="2400" b="1" dirty="0"/>
              <a:t>(I</a:t>
            </a:r>
            <a:r>
              <a:rPr lang="en-US" sz="2400" b="1" baseline="-25000" dirty="0"/>
              <a:t>1</a:t>
            </a:r>
            <a:r>
              <a:rPr lang="en-US" sz="2400" b="1" dirty="0"/>
              <a:t>) = MU</a:t>
            </a:r>
            <a:r>
              <a:rPr lang="en-US" sz="2400" b="1" baseline="-25000" dirty="0"/>
              <a:t>2</a:t>
            </a:r>
            <a:r>
              <a:rPr lang="en-US" sz="2400" b="1" dirty="0"/>
              <a:t>(I</a:t>
            </a:r>
            <a:r>
              <a:rPr lang="en-US" sz="2400" b="1" baseline="-25000" dirty="0"/>
              <a:t>2</a:t>
            </a:r>
            <a:r>
              <a:rPr lang="en-US" sz="2400" b="1" dirty="0"/>
              <a:t>)</a:t>
            </a:r>
            <a:r>
              <a:rPr lang="en-US" sz="2400" dirty="0"/>
              <a:t> = </a:t>
            </a:r>
            <a:r>
              <a:rPr lang="en-US" sz="2400" b="1" dirty="0" err="1"/>
              <a:t>MU</a:t>
            </a:r>
            <a:r>
              <a:rPr lang="en-US" sz="2400" b="1" baseline="-25000" dirty="0" err="1"/>
              <a:t>n</a:t>
            </a:r>
            <a:r>
              <a:rPr lang="en-US" sz="2400" b="1" dirty="0"/>
              <a:t>(I</a:t>
            </a:r>
            <a:r>
              <a:rPr lang="en-US" sz="2400" b="1" baseline="-25000" dirty="0"/>
              <a:t>n</a:t>
            </a:r>
            <a:r>
              <a:rPr lang="en-US" sz="2400" b="1" dirty="0"/>
              <a:t>)</a:t>
            </a:r>
            <a:r>
              <a:rPr lang="en-US" sz="2400" dirty="0"/>
              <a:t> </a:t>
            </a:r>
          </a:p>
        </p:txBody>
      </p:sp>
      <p:sp>
        <p:nvSpPr>
          <p:cNvPr id="216068"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p:spPr>
        <p:txBody>
          <a:bodyPr wrap="none" anchor="ctr"/>
          <a:lstStyle/>
          <a:p>
            <a:pPr algn="ctr">
              <a:spcBef>
                <a:spcPct val="0"/>
              </a:spcBef>
              <a:buFontTx/>
              <a:buNone/>
            </a:pPr>
            <a:r>
              <a:rPr lang="en-US" sz="1400" b="1">
                <a:latin typeface="Tahoma" charset="0"/>
              </a:rPr>
              <a:t>0</a:t>
            </a:r>
          </a:p>
        </p:txBody>
      </p:sp>
      <p:sp>
        <p:nvSpPr>
          <p:cNvPr id="216070" name="Rectangle 6"/>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lgn="ctr">
              <a:spcBef>
                <a:spcPct val="0"/>
              </a:spcBef>
              <a:buFontTx/>
              <a:buNone/>
            </a:pPr>
            <a:r>
              <a:rPr lang="en-US" sz="3600">
                <a:solidFill>
                  <a:schemeClr val="tx2"/>
                </a:solidFill>
              </a:rPr>
              <a:t>Why Redistribution?</a:t>
            </a:r>
            <a:endParaRPr lang="nl-NL" sz="3600">
              <a:solidFill>
                <a:schemeClr val="tx2"/>
              </a:solidFill>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6067">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6067">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6067">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6067">
                                            <p:txEl>
                                              <p:pRg st="6" end="6"/>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6067">
                                            <p:txEl>
                                              <p:pRg st="7" end="7"/>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6067">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606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uiExpand="1" build="p" bldLvl="4"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4"/>
          <p:cNvSpPr>
            <a:spLocks noGrp="1"/>
          </p:cNvSpPr>
          <p:nvPr>
            <p:ph type="sldNum" sz="quarter" idx="12"/>
          </p:nvPr>
        </p:nvSpPr>
        <p:spPr/>
        <p:txBody>
          <a:bodyPr/>
          <a:lstStyle/>
          <a:p>
            <a:fld id="{1D33C1A1-D9CF-4B1D-8448-3859043FDF43}" type="slidenum">
              <a:rPr lang="en-GB"/>
              <a:pPr/>
              <a:t>19</a:t>
            </a:fld>
            <a:endParaRPr lang="en-GB"/>
          </a:p>
        </p:txBody>
      </p:sp>
      <p:sp>
        <p:nvSpPr>
          <p:cNvPr id="209923" name="Text Box 3"/>
          <p:cNvSpPr txBox="1">
            <a:spLocks noChangeArrowheads="1"/>
          </p:cNvSpPr>
          <p:nvPr/>
        </p:nvSpPr>
        <p:spPr bwMode="auto">
          <a:xfrm rot="16200000">
            <a:off x="49212" y="2576513"/>
            <a:ext cx="2009775" cy="336550"/>
          </a:xfrm>
          <a:prstGeom prst="rect">
            <a:avLst/>
          </a:prstGeom>
          <a:noFill/>
          <a:ln w="9525">
            <a:noFill/>
            <a:miter lim="800000"/>
            <a:headEnd/>
            <a:tailEnd/>
          </a:ln>
          <a:effectLst/>
        </p:spPr>
        <p:txBody>
          <a:bodyPr wrap="none">
            <a:spAutoFit/>
          </a:bodyPr>
          <a:lstStyle/>
          <a:p>
            <a:pPr>
              <a:spcBef>
                <a:spcPct val="0"/>
              </a:spcBef>
              <a:buFontTx/>
              <a:buNone/>
            </a:pPr>
            <a:r>
              <a:rPr lang="en-US" sz="1600"/>
              <a:t>Paul’s marginal utility</a:t>
            </a:r>
          </a:p>
        </p:txBody>
      </p:sp>
      <p:sp>
        <p:nvSpPr>
          <p:cNvPr id="209924"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p:spPr>
        <p:txBody>
          <a:bodyPr wrap="none" anchor="ctr"/>
          <a:lstStyle/>
          <a:p>
            <a:pPr algn="ctr">
              <a:spcBef>
                <a:spcPct val="0"/>
              </a:spcBef>
              <a:buFontTx/>
              <a:buNone/>
            </a:pPr>
            <a:r>
              <a:rPr lang="en-US" sz="1400" b="1">
                <a:latin typeface="Tahoma" charset="0"/>
              </a:rPr>
              <a:t>0</a:t>
            </a:r>
          </a:p>
        </p:txBody>
      </p:sp>
      <p:grpSp>
        <p:nvGrpSpPr>
          <p:cNvPr id="209925" name="Group 5"/>
          <p:cNvGrpSpPr>
            <a:grpSpLocks/>
          </p:cNvGrpSpPr>
          <p:nvPr/>
        </p:nvGrpSpPr>
        <p:grpSpPr bwMode="auto">
          <a:xfrm>
            <a:off x="1652588" y="1739900"/>
            <a:ext cx="5791200" cy="4310063"/>
            <a:chOff x="1392" y="1386"/>
            <a:chExt cx="3648" cy="2715"/>
          </a:xfrm>
        </p:grpSpPr>
        <p:sp>
          <p:nvSpPr>
            <p:cNvPr id="209926" name="Line 6"/>
            <p:cNvSpPr>
              <a:spLocks noChangeShapeType="1"/>
            </p:cNvSpPr>
            <p:nvPr/>
          </p:nvSpPr>
          <p:spPr bwMode="auto">
            <a:xfrm>
              <a:off x="1392" y="1386"/>
              <a:ext cx="0" cy="2694"/>
            </a:xfrm>
            <a:prstGeom prst="line">
              <a:avLst/>
            </a:prstGeom>
            <a:noFill/>
            <a:ln w="38100">
              <a:solidFill>
                <a:schemeClr val="tx1"/>
              </a:solidFill>
              <a:miter lim="800000"/>
              <a:headEnd type="triangle" w="med" len="med"/>
              <a:tailEnd/>
            </a:ln>
            <a:effectLst/>
          </p:spPr>
          <p:txBody>
            <a:bodyPr wrap="none"/>
            <a:lstStyle/>
            <a:p>
              <a:endParaRPr lang="en-US"/>
            </a:p>
          </p:txBody>
        </p:sp>
        <p:sp>
          <p:nvSpPr>
            <p:cNvPr id="209927" name="Line 7"/>
            <p:cNvSpPr>
              <a:spLocks noChangeShapeType="1"/>
            </p:cNvSpPr>
            <p:nvPr/>
          </p:nvSpPr>
          <p:spPr bwMode="auto">
            <a:xfrm>
              <a:off x="1392" y="4080"/>
              <a:ext cx="3648" cy="0"/>
            </a:xfrm>
            <a:prstGeom prst="line">
              <a:avLst/>
            </a:prstGeom>
            <a:noFill/>
            <a:ln w="38100">
              <a:solidFill>
                <a:schemeClr val="tx1"/>
              </a:solidFill>
              <a:miter lim="800000"/>
              <a:headEnd/>
              <a:tailEnd/>
            </a:ln>
            <a:effectLst/>
          </p:spPr>
          <p:txBody>
            <a:bodyPr wrap="none"/>
            <a:lstStyle/>
            <a:p>
              <a:endParaRPr lang="en-US"/>
            </a:p>
          </p:txBody>
        </p:sp>
        <p:sp>
          <p:nvSpPr>
            <p:cNvPr id="209928" name="Line 8"/>
            <p:cNvSpPr>
              <a:spLocks noChangeShapeType="1"/>
            </p:cNvSpPr>
            <p:nvPr/>
          </p:nvSpPr>
          <p:spPr bwMode="auto">
            <a:xfrm>
              <a:off x="5033" y="1410"/>
              <a:ext cx="0" cy="2691"/>
            </a:xfrm>
            <a:prstGeom prst="line">
              <a:avLst/>
            </a:prstGeom>
            <a:noFill/>
            <a:ln w="38100">
              <a:solidFill>
                <a:schemeClr val="tx1"/>
              </a:solidFill>
              <a:miter lim="800000"/>
              <a:headEnd type="triangle" w="med" len="med"/>
              <a:tailEnd/>
            </a:ln>
            <a:effectLst/>
          </p:spPr>
          <p:txBody>
            <a:bodyPr wrap="none"/>
            <a:lstStyle/>
            <a:p>
              <a:endParaRPr lang="en-US"/>
            </a:p>
          </p:txBody>
        </p:sp>
      </p:grpSp>
      <p:sp>
        <p:nvSpPr>
          <p:cNvPr id="209929" name="Text Box 9"/>
          <p:cNvSpPr txBox="1">
            <a:spLocks noChangeArrowheads="1"/>
          </p:cNvSpPr>
          <p:nvPr/>
        </p:nvSpPr>
        <p:spPr bwMode="auto">
          <a:xfrm rot="16200000">
            <a:off x="6894512" y="2605088"/>
            <a:ext cx="2066925" cy="336550"/>
          </a:xfrm>
          <a:prstGeom prst="rect">
            <a:avLst/>
          </a:prstGeom>
          <a:noFill/>
          <a:ln w="9525">
            <a:noFill/>
            <a:miter lim="800000"/>
            <a:headEnd/>
            <a:tailEnd/>
          </a:ln>
          <a:effectLst/>
        </p:spPr>
        <p:txBody>
          <a:bodyPr wrap="none">
            <a:spAutoFit/>
          </a:bodyPr>
          <a:lstStyle/>
          <a:p>
            <a:pPr>
              <a:spcBef>
                <a:spcPct val="0"/>
              </a:spcBef>
              <a:buFontTx/>
              <a:buNone/>
            </a:pPr>
            <a:r>
              <a:rPr lang="en-US" sz="1600"/>
              <a:t>Peter’s marginal utility</a:t>
            </a:r>
          </a:p>
        </p:txBody>
      </p:sp>
      <p:sp>
        <p:nvSpPr>
          <p:cNvPr id="209930" name="Text Box 10"/>
          <p:cNvSpPr txBox="1">
            <a:spLocks noChangeArrowheads="1"/>
          </p:cNvSpPr>
          <p:nvPr/>
        </p:nvSpPr>
        <p:spPr bwMode="auto">
          <a:xfrm>
            <a:off x="1460500" y="6156325"/>
            <a:ext cx="1781175" cy="366713"/>
          </a:xfrm>
          <a:prstGeom prst="rect">
            <a:avLst/>
          </a:prstGeom>
          <a:noFill/>
          <a:ln w="9525">
            <a:noFill/>
            <a:miter lim="800000"/>
            <a:headEnd/>
            <a:tailEnd/>
          </a:ln>
          <a:effectLst/>
        </p:spPr>
        <p:txBody>
          <a:bodyPr>
            <a:spAutoFit/>
          </a:bodyPr>
          <a:lstStyle/>
          <a:p>
            <a:pPr>
              <a:spcBef>
                <a:spcPct val="0"/>
              </a:spcBef>
              <a:buFontTx/>
              <a:buNone/>
            </a:pPr>
            <a:r>
              <a:rPr lang="en-US" sz="1200">
                <a:latin typeface="Arial" charset="0"/>
              </a:rPr>
              <a:t>Paul’s income</a:t>
            </a:r>
            <a:r>
              <a:rPr lang="en-US" sz="1800">
                <a:latin typeface="Arial" charset="0"/>
              </a:rPr>
              <a:t> </a:t>
            </a:r>
          </a:p>
        </p:txBody>
      </p:sp>
      <p:sp>
        <p:nvSpPr>
          <p:cNvPr id="209931" name="Text Box 11"/>
          <p:cNvSpPr txBox="1">
            <a:spLocks noChangeArrowheads="1"/>
          </p:cNvSpPr>
          <p:nvPr/>
        </p:nvSpPr>
        <p:spPr bwMode="auto">
          <a:xfrm>
            <a:off x="6592888" y="6194425"/>
            <a:ext cx="1781175" cy="366713"/>
          </a:xfrm>
          <a:prstGeom prst="rect">
            <a:avLst/>
          </a:prstGeom>
          <a:noFill/>
          <a:ln w="9525">
            <a:noFill/>
            <a:miter lim="800000"/>
            <a:headEnd/>
            <a:tailEnd/>
          </a:ln>
          <a:effectLst/>
        </p:spPr>
        <p:txBody>
          <a:bodyPr>
            <a:spAutoFit/>
          </a:bodyPr>
          <a:lstStyle/>
          <a:p>
            <a:pPr>
              <a:spcBef>
                <a:spcPct val="0"/>
              </a:spcBef>
              <a:buFontTx/>
              <a:buNone/>
            </a:pPr>
            <a:r>
              <a:rPr lang="en-US" sz="1200">
                <a:latin typeface="Arial" charset="0"/>
              </a:rPr>
              <a:t>Peter’s income</a:t>
            </a:r>
            <a:r>
              <a:rPr lang="en-US" sz="1800">
                <a:latin typeface="Arial" charset="0"/>
              </a:rPr>
              <a:t> </a:t>
            </a:r>
          </a:p>
        </p:txBody>
      </p:sp>
      <p:sp>
        <p:nvSpPr>
          <p:cNvPr id="209932" name="Line 12"/>
          <p:cNvSpPr>
            <a:spLocks noChangeShapeType="1"/>
          </p:cNvSpPr>
          <p:nvPr/>
        </p:nvSpPr>
        <p:spPr bwMode="auto">
          <a:xfrm>
            <a:off x="2613025" y="6386513"/>
            <a:ext cx="730250" cy="0"/>
          </a:xfrm>
          <a:prstGeom prst="line">
            <a:avLst/>
          </a:prstGeom>
          <a:noFill/>
          <a:ln w="9525">
            <a:solidFill>
              <a:schemeClr val="tx1"/>
            </a:solidFill>
            <a:round/>
            <a:headEnd/>
            <a:tailEnd type="triangle" w="med" len="med"/>
          </a:ln>
          <a:effectLst/>
        </p:spPr>
        <p:txBody>
          <a:bodyPr/>
          <a:lstStyle/>
          <a:p>
            <a:endParaRPr lang="en-US"/>
          </a:p>
        </p:txBody>
      </p:sp>
      <p:sp>
        <p:nvSpPr>
          <p:cNvPr id="209933" name="Line 13"/>
          <p:cNvSpPr>
            <a:spLocks noChangeShapeType="1"/>
          </p:cNvSpPr>
          <p:nvPr/>
        </p:nvSpPr>
        <p:spPr bwMode="auto">
          <a:xfrm rot="10800000">
            <a:off x="5838825" y="6386513"/>
            <a:ext cx="730250" cy="0"/>
          </a:xfrm>
          <a:prstGeom prst="line">
            <a:avLst/>
          </a:prstGeom>
          <a:noFill/>
          <a:ln w="9525">
            <a:solidFill>
              <a:schemeClr val="tx1"/>
            </a:solidFill>
            <a:round/>
            <a:headEnd/>
            <a:tailEnd type="triangle" w="med" len="med"/>
          </a:ln>
          <a:effectLst/>
        </p:spPr>
        <p:txBody>
          <a:bodyPr/>
          <a:lstStyle/>
          <a:p>
            <a:endParaRPr lang="en-US"/>
          </a:p>
        </p:txBody>
      </p:sp>
      <p:sp>
        <p:nvSpPr>
          <p:cNvPr id="209934" name="Text Box 14"/>
          <p:cNvSpPr txBox="1">
            <a:spLocks noChangeArrowheads="1"/>
          </p:cNvSpPr>
          <p:nvPr/>
        </p:nvSpPr>
        <p:spPr bwMode="auto">
          <a:xfrm>
            <a:off x="1408113" y="5848350"/>
            <a:ext cx="311150" cy="366713"/>
          </a:xfrm>
          <a:prstGeom prst="rect">
            <a:avLst/>
          </a:prstGeom>
          <a:noFill/>
          <a:ln w="9525">
            <a:noFill/>
            <a:miter lim="800000"/>
            <a:headEnd/>
            <a:tailEnd/>
          </a:ln>
          <a:effectLst/>
        </p:spPr>
        <p:txBody>
          <a:bodyPr wrap="none">
            <a:spAutoFit/>
          </a:bodyPr>
          <a:lstStyle/>
          <a:p>
            <a:pPr>
              <a:spcBef>
                <a:spcPct val="0"/>
              </a:spcBef>
              <a:buFontTx/>
              <a:buNone/>
            </a:pPr>
            <a:r>
              <a:rPr lang="en-US" sz="1800">
                <a:latin typeface="Arial" charset="0"/>
              </a:rPr>
              <a:t>0</a:t>
            </a:r>
          </a:p>
        </p:txBody>
      </p:sp>
      <p:sp>
        <p:nvSpPr>
          <p:cNvPr id="209935" name="Text Box 15"/>
          <p:cNvSpPr txBox="1">
            <a:spLocks noChangeArrowheads="1"/>
          </p:cNvSpPr>
          <p:nvPr/>
        </p:nvSpPr>
        <p:spPr bwMode="auto">
          <a:xfrm>
            <a:off x="7448550" y="5848350"/>
            <a:ext cx="361950" cy="366713"/>
          </a:xfrm>
          <a:prstGeom prst="rect">
            <a:avLst/>
          </a:prstGeom>
          <a:noFill/>
          <a:ln w="9525">
            <a:noFill/>
            <a:miter lim="800000"/>
            <a:headEnd/>
            <a:tailEnd/>
          </a:ln>
          <a:effectLst/>
        </p:spPr>
        <p:txBody>
          <a:bodyPr wrap="none">
            <a:spAutoFit/>
          </a:bodyPr>
          <a:lstStyle/>
          <a:p>
            <a:pPr>
              <a:spcBef>
                <a:spcPct val="0"/>
              </a:spcBef>
              <a:buFontTx/>
              <a:buNone/>
            </a:pPr>
            <a:r>
              <a:rPr lang="en-US" sz="1800">
                <a:latin typeface="Arial" charset="0"/>
              </a:rPr>
              <a:t>0’</a:t>
            </a:r>
          </a:p>
        </p:txBody>
      </p:sp>
      <p:sp>
        <p:nvSpPr>
          <p:cNvPr id="209936" name="Line 16"/>
          <p:cNvSpPr>
            <a:spLocks noChangeShapeType="1"/>
          </p:cNvSpPr>
          <p:nvPr/>
        </p:nvSpPr>
        <p:spPr bwMode="auto">
          <a:xfrm>
            <a:off x="1652588" y="2122488"/>
            <a:ext cx="5224462" cy="3533775"/>
          </a:xfrm>
          <a:prstGeom prst="line">
            <a:avLst/>
          </a:prstGeom>
          <a:noFill/>
          <a:ln w="28575">
            <a:solidFill>
              <a:schemeClr val="tx1"/>
            </a:solidFill>
            <a:round/>
            <a:headEnd/>
            <a:tailEnd/>
          </a:ln>
          <a:effectLst/>
        </p:spPr>
        <p:txBody>
          <a:bodyPr/>
          <a:lstStyle/>
          <a:p>
            <a:endParaRPr lang="en-US"/>
          </a:p>
        </p:txBody>
      </p:sp>
      <p:sp>
        <p:nvSpPr>
          <p:cNvPr id="209937" name="Text Box 17"/>
          <p:cNvSpPr txBox="1">
            <a:spLocks noChangeArrowheads="1"/>
          </p:cNvSpPr>
          <p:nvPr/>
        </p:nvSpPr>
        <p:spPr bwMode="auto">
          <a:xfrm>
            <a:off x="6378575" y="4983163"/>
            <a:ext cx="842963" cy="366712"/>
          </a:xfrm>
          <a:prstGeom prst="rect">
            <a:avLst/>
          </a:prstGeom>
          <a:noFill/>
          <a:ln w="9525">
            <a:noFill/>
            <a:miter lim="800000"/>
            <a:headEnd/>
            <a:tailEnd/>
          </a:ln>
          <a:effectLst/>
        </p:spPr>
        <p:txBody>
          <a:bodyPr wrap="none">
            <a:spAutoFit/>
          </a:bodyPr>
          <a:lstStyle/>
          <a:p>
            <a:pPr>
              <a:spcBef>
                <a:spcPct val="0"/>
              </a:spcBef>
              <a:buFontTx/>
              <a:buNone/>
            </a:pPr>
            <a:r>
              <a:rPr lang="en-US" sz="1800">
                <a:latin typeface="Arial" charset="0"/>
              </a:rPr>
              <a:t>MU</a:t>
            </a:r>
            <a:r>
              <a:rPr lang="en-US" sz="1800" baseline="-25000">
                <a:latin typeface="Arial" charset="0"/>
              </a:rPr>
              <a:t>Paul</a:t>
            </a:r>
            <a:endParaRPr lang="en-US" sz="1800">
              <a:latin typeface="Arial" charset="0"/>
            </a:endParaRPr>
          </a:p>
        </p:txBody>
      </p:sp>
      <p:sp>
        <p:nvSpPr>
          <p:cNvPr id="209938" name="Line 18"/>
          <p:cNvSpPr>
            <a:spLocks noChangeShapeType="1"/>
          </p:cNvSpPr>
          <p:nvPr/>
        </p:nvSpPr>
        <p:spPr bwMode="auto">
          <a:xfrm flipH="1">
            <a:off x="2382838" y="2276475"/>
            <a:ext cx="5030787" cy="3073400"/>
          </a:xfrm>
          <a:prstGeom prst="line">
            <a:avLst/>
          </a:prstGeom>
          <a:noFill/>
          <a:ln w="28575">
            <a:solidFill>
              <a:schemeClr val="tx1"/>
            </a:solidFill>
            <a:round/>
            <a:headEnd/>
            <a:tailEnd/>
          </a:ln>
          <a:effectLst/>
        </p:spPr>
        <p:txBody>
          <a:bodyPr/>
          <a:lstStyle/>
          <a:p>
            <a:endParaRPr lang="en-US"/>
          </a:p>
        </p:txBody>
      </p:sp>
      <p:sp>
        <p:nvSpPr>
          <p:cNvPr id="209939" name="Text Box 19"/>
          <p:cNvSpPr txBox="1">
            <a:spLocks noChangeArrowheads="1"/>
          </p:cNvSpPr>
          <p:nvPr/>
        </p:nvSpPr>
        <p:spPr bwMode="auto">
          <a:xfrm>
            <a:off x="1692275" y="4867275"/>
            <a:ext cx="903288" cy="366713"/>
          </a:xfrm>
          <a:prstGeom prst="rect">
            <a:avLst/>
          </a:prstGeom>
          <a:noFill/>
          <a:ln w="9525">
            <a:noFill/>
            <a:miter lim="800000"/>
            <a:headEnd/>
            <a:tailEnd/>
          </a:ln>
          <a:effectLst/>
        </p:spPr>
        <p:txBody>
          <a:bodyPr wrap="none">
            <a:spAutoFit/>
          </a:bodyPr>
          <a:lstStyle/>
          <a:p>
            <a:pPr>
              <a:spcBef>
                <a:spcPct val="0"/>
              </a:spcBef>
              <a:buFontTx/>
              <a:buNone/>
            </a:pPr>
            <a:r>
              <a:rPr lang="en-US" sz="1800">
                <a:latin typeface="Arial" charset="0"/>
              </a:rPr>
              <a:t>MU</a:t>
            </a:r>
            <a:r>
              <a:rPr lang="en-US" sz="1800" baseline="-25000">
                <a:latin typeface="Arial" charset="0"/>
              </a:rPr>
              <a:t>Peter</a:t>
            </a:r>
            <a:endParaRPr lang="en-US" sz="1800">
              <a:latin typeface="Arial" charset="0"/>
            </a:endParaRPr>
          </a:p>
        </p:txBody>
      </p:sp>
      <p:sp>
        <p:nvSpPr>
          <p:cNvPr id="209940" name="Line 20"/>
          <p:cNvSpPr>
            <a:spLocks noChangeShapeType="1"/>
          </p:cNvSpPr>
          <p:nvPr/>
        </p:nvSpPr>
        <p:spPr bwMode="auto">
          <a:xfrm>
            <a:off x="3381375" y="3275013"/>
            <a:ext cx="0" cy="2765425"/>
          </a:xfrm>
          <a:prstGeom prst="line">
            <a:avLst/>
          </a:prstGeom>
          <a:noFill/>
          <a:ln w="9525">
            <a:solidFill>
              <a:schemeClr val="tx1"/>
            </a:solidFill>
            <a:prstDash val="dash"/>
            <a:round/>
            <a:headEnd/>
            <a:tailEnd/>
          </a:ln>
          <a:effectLst/>
        </p:spPr>
        <p:txBody>
          <a:bodyPr/>
          <a:lstStyle/>
          <a:p>
            <a:endParaRPr lang="en-US"/>
          </a:p>
        </p:txBody>
      </p:sp>
      <p:sp>
        <p:nvSpPr>
          <p:cNvPr id="209941" name="Text Box 21"/>
          <p:cNvSpPr txBox="1">
            <a:spLocks noChangeArrowheads="1"/>
          </p:cNvSpPr>
          <p:nvPr/>
        </p:nvSpPr>
        <p:spPr bwMode="auto">
          <a:xfrm>
            <a:off x="3251200" y="6005513"/>
            <a:ext cx="296863" cy="336550"/>
          </a:xfrm>
          <a:prstGeom prst="rect">
            <a:avLst/>
          </a:prstGeom>
          <a:noFill/>
          <a:ln w="9525">
            <a:noFill/>
            <a:miter lim="800000"/>
            <a:headEnd/>
            <a:tailEnd/>
          </a:ln>
          <a:effectLst/>
        </p:spPr>
        <p:txBody>
          <a:bodyPr wrap="none">
            <a:spAutoFit/>
          </a:bodyPr>
          <a:lstStyle/>
          <a:p>
            <a:pPr>
              <a:spcBef>
                <a:spcPct val="0"/>
              </a:spcBef>
              <a:buFontTx/>
              <a:buNone/>
            </a:pPr>
            <a:r>
              <a:rPr lang="en-US" sz="1600">
                <a:latin typeface="Arial" charset="0"/>
              </a:rPr>
              <a:t>a</a:t>
            </a:r>
          </a:p>
        </p:txBody>
      </p:sp>
      <p:sp>
        <p:nvSpPr>
          <p:cNvPr id="209942" name="Text Box 22"/>
          <p:cNvSpPr txBox="1">
            <a:spLocks noChangeArrowheads="1"/>
          </p:cNvSpPr>
          <p:nvPr/>
        </p:nvSpPr>
        <p:spPr bwMode="auto">
          <a:xfrm>
            <a:off x="3419475" y="2968625"/>
            <a:ext cx="296863" cy="336550"/>
          </a:xfrm>
          <a:prstGeom prst="rect">
            <a:avLst/>
          </a:prstGeom>
          <a:noFill/>
          <a:ln w="9525">
            <a:noFill/>
            <a:miter lim="800000"/>
            <a:headEnd/>
            <a:tailEnd/>
          </a:ln>
          <a:effectLst/>
        </p:spPr>
        <p:txBody>
          <a:bodyPr wrap="none">
            <a:spAutoFit/>
          </a:bodyPr>
          <a:lstStyle/>
          <a:p>
            <a:pPr>
              <a:spcBef>
                <a:spcPct val="0"/>
              </a:spcBef>
              <a:buFontTx/>
              <a:buNone/>
            </a:pPr>
            <a:r>
              <a:rPr lang="en-US" sz="1600">
                <a:latin typeface="Arial" charset="0"/>
              </a:rPr>
              <a:t>e</a:t>
            </a:r>
          </a:p>
        </p:txBody>
      </p:sp>
      <p:sp>
        <p:nvSpPr>
          <p:cNvPr id="209943" name="Text Box 23"/>
          <p:cNvSpPr txBox="1">
            <a:spLocks noChangeArrowheads="1"/>
          </p:cNvSpPr>
          <p:nvPr/>
        </p:nvSpPr>
        <p:spPr bwMode="auto">
          <a:xfrm>
            <a:off x="3381375" y="4629150"/>
            <a:ext cx="285750" cy="336550"/>
          </a:xfrm>
          <a:prstGeom prst="rect">
            <a:avLst/>
          </a:prstGeom>
          <a:noFill/>
          <a:ln w="9525">
            <a:noFill/>
            <a:miter lim="800000"/>
            <a:headEnd/>
            <a:tailEnd/>
          </a:ln>
          <a:effectLst/>
        </p:spPr>
        <p:txBody>
          <a:bodyPr wrap="none">
            <a:spAutoFit/>
          </a:bodyPr>
          <a:lstStyle/>
          <a:p>
            <a:pPr>
              <a:spcBef>
                <a:spcPct val="0"/>
              </a:spcBef>
              <a:buFontTx/>
              <a:buNone/>
            </a:pPr>
            <a:r>
              <a:rPr lang="en-US" sz="1600">
                <a:latin typeface="Arial" charset="0"/>
              </a:rPr>
              <a:t>c</a:t>
            </a:r>
          </a:p>
        </p:txBody>
      </p:sp>
      <p:sp>
        <p:nvSpPr>
          <p:cNvPr id="209944" name="Text Box 24"/>
          <p:cNvSpPr txBox="1">
            <a:spLocks noChangeArrowheads="1"/>
          </p:cNvSpPr>
          <p:nvPr/>
        </p:nvSpPr>
        <p:spPr bwMode="auto">
          <a:xfrm>
            <a:off x="3709988" y="4119563"/>
            <a:ext cx="296862" cy="336550"/>
          </a:xfrm>
          <a:prstGeom prst="rect">
            <a:avLst/>
          </a:prstGeom>
          <a:noFill/>
          <a:ln w="9525">
            <a:noFill/>
            <a:miter lim="800000"/>
            <a:headEnd/>
            <a:tailEnd/>
          </a:ln>
          <a:effectLst/>
        </p:spPr>
        <p:txBody>
          <a:bodyPr wrap="none">
            <a:spAutoFit/>
          </a:bodyPr>
          <a:lstStyle/>
          <a:p>
            <a:pPr>
              <a:spcBef>
                <a:spcPct val="0"/>
              </a:spcBef>
              <a:buFontTx/>
              <a:buNone/>
            </a:pPr>
            <a:r>
              <a:rPr lang="en-US" sz="1600">
                <a:latin typeface="Arial" charset="0"/>
              </a:rPr>
              <a:t>d</a:t>
            </a:r>
          </a:p>
        </p:txBody>
      </p:sp>
      <p:sp>
        <p:nvSpPr>
          <p:cNvPr id="209945" name="Text Box 25"/>
          <p:cNvSpPr txBox="1">
            <a:spLocks noChangeArrowheads="1"/>
          </p:cNvSpPr>
          <p:nvPr/>
        </p:nvSpPr>
        <p:spPr bwMode="auto">
          <a:xfrm>
            <a:off x="3727450" y="3313113"/>
            <a:ext cx="241300" cy="336550"/>
          </a:xfrm>
          <a:prstGeom prst="rect">
            <a:avLst/>
          </a:prstGeom>
          <a:noFill/>
          <a:ln w="9525">
            <a:noFill/>
            <a:miter lim="800000"/>
            <a:headEnd/>
            <a:tailEnd/>
          </a:ln>
          <a:effectLst/>
        </p:spPr>
        <p:txBody>
          <a:bodyPr wrap="none">
            <a:spAutoFit/>
          </a:bodyPr>
          <a:lstStyle/>
          <a:p>
            <a:pPr>
              <a:spcBef>
                <a:spcPct val="0"/>
              </a:spcBef>
              <a:buFontTx/>
              <a:buNone/>
            </a:pPr>
            <a:r>
              <a:rPr lang="en-US" sz="1600">
                <a:latin typeface="Arial" charset="0"/>
              </a:rPr>
              <a:t>f</a:t>
            </a:r>
          </a:p>
        </p:txBody>
      </p:sp>
      <p:sp>
        <p:nvSpPr>
          <p:cNvPr id="209946" name="Text Box 26"/>
          <p:cNvSpPr txBox="1">
            <a:spLocks noChangeArrowheads="1"/>
          </p:cNvSpPr>
          <p:nvPr/>
        </p:nvSpPr>
        <p:spPr bwMode="auto">
          <a:xfrm>
            <a:off x="4303713" y="6011863"/>
            <a:ext cx="320675" cy="336550"/>
          </a:xfrm>
          <a:prstGeom prst="rect">
            <a:avLst/>
          </a:prstGeom>
          <a:noFill/>
          <a:ln w="9525">
            <a:noFill/>
            <a:miter lim="800000"/>
            <a:headEnd/>
            <a:tailEnd/>
          </a:ln>
          <a:effectLst/>
        </p:spPr>
        <p:txBody>
          <a:bodyPr wrap="none">
            <a:spAutoFit/>
          </a:bodyPr>
          <a:lstStyle/>
          <a:p>
            <a:pPr>
              <a:spcBef>
                <a:spcPct val="0"/>
              </a:spcBef>
              <a:buFontTx/>
              <a:buNone/>
            </a:pPr>
            <a:r>
              <a:rPr lang="en-US" sz="1600">
                <a:latin typeface="Arial" charset="0"/>
              </a:rPr>
              <a:t>I*</a:t>
            </a:r>
          </a:p>
        </p:txBody>
      </p:sp>
      <p:sp>
        <p:nvSpPr>
          <p:cNvPr id="209947" name="Line 27"/>
          <p:cNvSpPr>
            <a:spLocks noChangeShapeType="1"/>
          </p:cNvSpPr>
          <p:nvPr/>
        </p:nvSpPr>
        <p:spPr bwMode="auto">
          <a:xfrm>
            <a:off x="4495800" y="4043363"/>
            <a:ext cx="0" cy="1997075"/>
          </a:xfrm>
          <a:prstGeom prst="line">
            <a:avLst/>
          </a:prstGeom>
          <a:noFill/>
          <a:ln w="9525">
            <a:solidFill>
              <a:schemeClr val="tx1"/>
            </a:solidFill>
            <a:prstDash val="dash"/>
            <a:round/>
            <a:headEnd/>
            <a:tailEnd/>
          </a:ln>
          <a:effectLst/>
        </p:spPr>
        <p:txBody>
          <a:bodyPr/>
          <a:lstStyle/>
          <a:p>
            <a:endParaRPr lang="en-US"/>
          </a:p>
        </p:txBody>
      </p:sp>
      <p:sp>
        <p:nvSpPr>
          <p:cNvPr id="209948" name="Line 28"/>
          <p:cNvSpPr>
            <a:spLocks noChangeShapeType="1"/>
          </p:cNvSpPr>
          <p:nvPr/>
        </p:nvSpPr>
        <p:spPr bwMode="auto">
          <a:xfrm>
            <a:off x="3957638" y="3659188"/>
            <a:ext cx="0" cy="2381250"/>
          </a:xfrm>
          <a:prstGeom prst="line">
            <a:avLst/>
          </a:prstGeom>
          <a:noFill/>
          <a:ln w="9525">
            <a:solidFill>
              <a:schemeClr val="tx1"/>
            </a:solidFill>
            <a:prstDash val="dash"/>
            <a:round/>
            <a:headEnd/>
            <a:tailEnd/>
          </a:ln>
          <a:effectLst/>
        </p:spPr>
        <p:txBody>
          <a:bodyPr/>
          <a:lstStyle/>
          <a:p>
            <a:endParaRPr lang="en-US"/>
          </a:p>
        </p:txBody>
      </p:sp>
      <p:sp>
        <p:nvSpPr>
          <p:cNvPr id="209949" name="Text Box 29"/>
          <p:cNvSpPr txBox="1">
            <a:spLocks noChangeArrowheads="1"/>
          </p:cNvSpPr>
          <p:nvPr/>
        </p:nvSpPr>
        <p:spPr bwMode="auto">
          <a:xfrm>
            <a:off x="3803650" y="6002338"/>
            <a:ext cx="296863" cy="336550"/>
          </a:xfrm>
          <a:prstGeom prst="rect">
            <a:avLst/>
          </a:prstGeom>
          <a:noFill/>
          <a:ln w="9525">
            <a:noFill/>
            <a:miter lim="800000"/>
            <a:headEnd/>
            <a:tailEnd/>
          </a:ln>
          <a:effectLst/>
        </p:spPr>
        <p:txBody>
          <a:bodyPr wrap="none">
            <a:spAutoFit/>
          </a:bodyPr>
          <a:lstStyle/>
          <a:p>
            <a:pPr>
              <a:spcBef>
                <a:spcPct val="0"/>
              </a:spcBef>
              <a:buFontTx/>
              <a:buNone/>
            </a:pPr>
            <a:r>
              <a:rPr lang="en-US" sz="1600">
                <a:latin typeface="Arial" charset="0"/>
              </a:rPr>
              <a:t>b</a:t>
            </a:r>
          </a:p>
        </p:txBody>
      </p:sp>
      <p:sp>
        <p:nvSpPr>
          <p:cNvPr id="209950" name="AutoShape 30"/>
          <p:cNvSpPr>
            <a:spLocks noChangeArrowheads="1"/>
          </p:cNvSpPr>
          <p:nvPr/>
        </p:nvSpPr>
        <p:spPr bwMode="auto">
          <a:xfrm>
            <a:off x="1768475" y="5080000"/>
            <a:ext cx="1304925" cy="768350"/>
          </a:xfrm>
          <a:prstGeom prst="wedgeRoundRectCallout">
            <a:avLst>
              <a:gd name="adj1" fmla="val -58639"/>
              <a:gd name="adj2" fmla="val 66324"/>
              <a:gd name="adj3" fmla="val 16667"/>
            </a:avLst>
          </a:prstGeom>
          <a:solidFill>
            <a:srgbClr val="FFFF00"/>
          </a:solidFill>
          <a:ln w="9525">
            <a:solidFill>
              <a:schemeClr val="tx1"/>
            </a:solidFill>
            <a:miter lim="800000"/>
            <a:headEnd/>
            <a:tailEnd/>
          </a:ln>
          <a:effectLst/>
        </p:spPr>
        <p:txBody>
          <a:bodyPr/>
          <a:lstStyle/>
          <a:p>
            <a:pPr algn="ctr">
              <a:spcBef>
                <a:spcPct val="0"/>
              </a:spcBef>
              <a:buFontTx/>
              <a:buNone/>
            </a:pPr>
            <a:r>
              <a:rPr lang="en-US" sz="1800">
                <a:solidFill>
                  <a:schemeClr val="tx2"/>
                </a:solidFill>
                <a:latin typeface="Arial" charset="0"/>
              </a:rPr>
              <a:t>Paul’s income</a:t>
            </a:r>
          </a:p>
        </p:txBody>
      </p:sp>
      <p:sp>
        <p:nvSpPr>
          <p:cNvPr id="209951" name="AutoShape 31"/>
          <p:cNvSpPr>
            <a:spLocks noChangeArrowheads="1"/>
          </p:cNvSpPr>
          <p:nvPr/>
        </p:nvSpPr>
        <p:spPr bwMode="auto">
          <a:xfrm>
            <a:off x="7453313" y="5118100"/>
            <a:ext cx="1304925" cy="768350"/>
          </a:xfrm>
          <a:prstGeom prst="wedgeRoundRectCallout">
            <a:avLst>
              <a:gd name="adj1" fmla="val -58639"/>
              <a:gd name="adj2" fmla="val 66324"/>
              <a:gd name="adj3" fmla="val 16667"/>
            </a:avLst>
          </a:prstGeom>
          <a:solidFill>
            <a:srgbClr val="FFFF00"/>
          </a:solidFill>
          <a:ln w="9525">
            <a:solidFill>
              <a:schemeClr val="tx1"/>
            </a:solidFill>
            <a:miter lim="800000"/>
            <a:headEnd/>
            <a:tailEnd/>
          </a:ln>
          <a:effectLst/>
        </p:spPr>
        <p:txBody>
          <a:bodyPr/>
          <a:lstStyle/>
          <a:p>
            <a:pPr algn="ctr">
              <a:spcBef>
                <a:spcPct val="0"/>
              </a:spcBef>
              <a:buFontTx/>
              <a:buNone/>
            </a:pPr>
            <a:r>
              <a:rPr lang="en-US" sz="1800">
                <a:solidFill>
                  <a:schemeClr val="tx2"/>
                </a:solidFill>
                <a:latin typeface="Arial" charset="0"/>
              </a:rPr>
              <a:t>Peter’s income</a:t>
            </a:r>
          </a:p>
        </p:txBody>
      </p:sp>
      <p:sp>
        <p:nvSpPr>
          <p:cNvPr id="209952" name="AutoShape 32"/>
          <p:cNvSpPr>
            <a:spLocks noChangeArrowheads="1"/>
          </p:cNvSpPr>
          <p:nvPr/>
        </p:nvSpPr>
        <p:spPr bwMode="auto">
          <a:xfrm>
            <a:off x="3227388" y="4811713"/>
            <a:ext cx="1958975" cy="884237"/>
          </a:xfrm>
          <a:prstGeom prst="wedgeRoundRectCallout">
            <a:avLst>
              <a:gd name="adj1" fmla="val -43519"/>
              <a:gd name="adj2" fmla="val 80880"/>
              <a:gd name="adj3" fmla="val 16667"/>
            </a:avLst>
          </a:prstGeom>
          <a:solidFill>
            <a:srgbClr val="FFFF00"/>
          </a:solidFill>
          <a:ln w="9525">
            <a:solidFill>
              <a:schemeClr val="tx1"/>
            </a:solidFill>
            <a:miter lim="800000"/>
            <a:headEnd/>
            <a:tailEnd/>
          </a:ln>
          <a:effectLst/>
        </p:spPr>
        <p:txBody>
          <a:bodyPr/>
          <a:lstStyle/>
          <a:p>
            <a:pPr algn="ctr">
              <a:spcBef>
                <a:spcPct val="0"/>
              </a:spcBef>
              <a:buFontTx/>
              <a:buNone/>
            </a:pPr>
            <a:r>
              <a:rPr lang="en-US" sz="1800">
                <a:solidFill>
                  <a:schemeClr val="tx2"/>
                </a:solidFill>
                <a:latin typeface="Arial" charset="0"/>
              </a:rPr>
              <a:t>Take ab from Peter and give to Paul</a:t>
            </a:r>
          </a:p>
        </p:txBody>
      </p:sp>
      <p:grpSp>
        <p:nvGrpSpPr>
          <p:cNvPr id="209953" name="Group 33"/>
          <p:cNvGrpSpPr>
            <a:grpSpLocks/>
          </p:cNvGrpSpPr>
          <p:nvPr/>
        </p:nvGrpSpPr>
        <p:grpSpPr bwMode="auto">
          <a:xfrm>
            <a:off x="3381375" y="3236913"/>
            <a:ext cx="576263" cy="2765425"/>
            <a:chOff x="2130" y="2039"/>
            <a:chExt cx="363" cy="1718"/>
          </a:xfrm>
        </p:grpSpPr>
        <p:sp>
          <p:nvSpPr>
            <p:cNvPr id="209954" name="Rectangle 34"/>
            <p:cNvSpPr>
              <a:spLocks noChangeArrowheads="1"/>
            </p:cNvSpPr>
            <p:nvPr/>
          </p:nvSpPr>
          <p:spPr bwMode="auto">
            <a:xfrm>
              <a:off x="2130" y="2329"/>
              <a:ext cx="363" cy="1428"/>
            </a:xfrm>
            <a:prstGeom prst="rect">
              <a:avLst/>
            </a:prstGeom>
            <a:solidFill>
              <a:srgbClr val="FF00FF"/>
            </a:solidFill>
            <a:ln w="9525">
              <a:noFill/>
              <a:miter lim="800000"/>
              <a:headEnd/>
              <a:tailEnd/>
            </a:ln>
            <a:effectLst/>
          </p:spPr>
          <p:txBody>
            <a:bodyPr wrap="none" anchor="ctr"/>
            <a:lstStyle/>
            <a:p>
              <a:endParaRPr lang="en-US"/>
            </a:p>
          </p:txBody>
        </p:sp>
        <p:sp>
          <p:nvSpPr>
            <p:cNvPr id="209955" name="AutoShape 35"/>
            <p:cNvSpPr>
              <a:spLocks noChangeArrowheads="1"/>
            </p:cNvSpPr>
            <p:nvPr/>
          </p:nvSpPr>
          <p:spPr bwMode="auto">
            <a:xfrm>
              <a:off x="2130" y="2039"/>
              <a:ext cx="363" cy="290"/>
            </a:xfrm>
            <a:prstGeom prst="rtTriangle">
              <a:avLst/>
            </a:prstGeom>
            <a:solidFill>
              <a:srgbClr val="FF00FF"/>
            </a:solidFill>
            <a:ln w="9525">
              <a:noFill/>
              <a:miter lim="800000"/>
              <a:headEnd/>
              <a:tailEnd/>
            </a:ln>
            <a:effectLst/>
          </p:spPr>
          <p:txBody>
            <a:bodyPr wrap="none" anchor="ctr"/>
            <a:lstStyle/>
            <a:p>
              <a:endParaRPr lang="en-US"/>
            </a:p>
          </p:txBody>
        </p:sp>
      </p:grpSp>
      <p:sp>
        <p:nvSpPr>
          <p:cNvPr id="209956" name="AutoShape 36"/>
          <p:cNvSpPr>
            <a:spLocks noChangeArrowheads="1"/>
          </p:cNvSpPr>
          <p:nvPr/>
        </p:nvSpPr>
        <p:spPr bwMode="auto">
          <a:xfrm>
            <a:off x="3727450" y="2430463"/>
            <a:ext cx="1382713" cy="882650"/>
          </a:xfrm>
          <a:prstGeom prst="wedgeRoundRectCallout">
            <a:avLst>
              <a:gd name="adj1" fmla="val -43750"/>
              <a:gd name="adj2" fmla="val 70000"/>
              <a:gd name="adj3" fmla="val 16667"/>
            </a:avLst>
          </a:prstGeom>
          <a:solidFill>
            <a:srgbClr val="FFFF00"/>
          </a:solidFill>
          <a:ln w="9525">
            <a:solidFill>
              <a:schemeClr val="tx1"/>
            </a:solidFill>
            <a:miter lim="800000"/>
            <a:headEnd/>
            <a:tailEnd/>
          </a:ln>
          <a:effectLst/>
        </p:spPr>
        <p:txBody>
          <a:bodyPr/>
          <a:lstStyle/>
          <a:p>
            <a:pPr algn="ctr">
              <a:spcBef>
                <a:spcPct val="0"/>
              </a:spcBef>
              <a:buFontTx/>
              <a:buNone/>
            </a:pPr>
            <a:r>
              <a:rPr lang="en-US" sz="1800">
                <a:solidFill>
                  <a:schemeClr val="tx2"/>
                </a:solidFill>
                <a:latin typeface="Arial" charset="0"/>
              </a:rPr>
              <a:t>Paul gains this much  utility</a:t>
            </a:r>
          </a:p>
        </p:txBody>
      </p:sp>
      <p:grpSp>
        <p:nvGrpSpPr>
          <p:cNvPr id="209957" name="Group 37"/>
          <p:cNvGrpSpPr>
            <a:grpSpLocks/>
          </p:cNvGrpSpPr>
          <p:nvPr/>
        </p:nvGrpSpPr>
        <p:grpSpPr bwMode="auto">
          <a:xfrm>
            <a:off x="3381375" y="4389438"/>
            <a:ext cx="576263" cy="1612900"/>
            <a:chOff x="2130" y="2765"/>
            <a:chExt cx="363" cy="1016"/>
          </a:xfrm>
        </p:grpSpPr>
        <p:sp>
          <p:nvSpPr>
            <p:cNvPr id="209958" name="Rectangle 38"/>
            <p:cNvSpPr>
              <a:spLocks noChangeArrowheads="1"/>
            </p:cNvSpPr>
            <p:nvPr/>
          </p:nvSpPr>
          <p:spPr bwMode="auto">
            <a:xfrm>
              <a:off x="2130" y="2958"/>
              <a:ext cx="363" cy="823"/>
            </a:xfrm>
            <a:prstGeom prst="rect">
              <a:avLst/>
            </a:prstGeom>
            <a:solidFill>
              <a:srgbClr val="008000"/>
            </a:solidFill>
            <a:ln w="9525">
              <a:noFill/>
              <a:miter lim="800000"/>
              <a:headEnd/>
              <a:tailEnd/>
            </a:ln>
            <a:effectLst/>
          </p:spPr>
          <p:txBody>
            <a:bodyPr wrap="none" anchor="ctr"/>
            <a:lstStyle/>
            <a:p>
              <a:endParaRPr lang="en-US"/>
            </a:p>
          </p:txBody>
        </p:sp>
        <p:sp>
          <p:nvSpPr>
            <p:cNvPr id="209959" name="AutoShape 39"/>
            <p:cNvSpPr>
              <a:spLocks noChangeArrowheads="1"/>
            </p:cNvSpPr>
            <p:nvPr/>
          </p:nvSpPr>
          <p:spPr bwMode="auto">
            <a:xfrm flipH="1">
              <a:off x="2130" y="2765"/>
              <a:ext cx="363" cy="193"/>
            </a:xfrm>
            <a:prstGeom prst="rtTriangle">
              <a:avLst/>
            </a:prstGeom>
            <a:solidFill>
              <a:srgbClr val="008000"/>
            </a:solidFill>
            <a:ln w="9525">
              <a:noFill/>
              <a:miter lim="800000"/>
              <a:headEnd/>
              <a:tailEnd/>
            </a:ln>
            <a:effectLst/>
          </p:spPr>
          <p:txBody>
            <a:bodyPr wrap="none" anchor="ctr"/>
            <a:lstStyle/>
            <a:p>
              <a:endParaRPr lang="en-US"/>
            </a:p>
          </p:txBody>
        </p:sp>
      </p:grpSp>
      <p:sp>
        <p:nvSpPr>
          <p:cNvPr id="209960" name="AutoShape 40"/>
          <p:cNvSpPr>
            <a:spLocks noChangeArrowheads="1"/>
          </p:cNvSpPr>
          <p:nvPr/>
        </p:nvSpPr>
        <p:spPr bwMode="auto">
          <a:xfrm>
            <a:off x="3957638" y="3390900"/>
            <a:ext cx="1574800" cy="882650"/>
          </a:xfrm>
          <a:prstGeom prst="wedgeRoundRectCallout">
            <a:avLst>
              <a:gd name="adj1" fmla="val -43750"/>
              <a:gd name="adj2" fmla="val 70000"/>
              <a:gd name="adj3" fmla="val 16667"/>
            </a:avLst>
          </a:prstGeom>
          <a:solidFill>
            <a:srgbClr val="FFFF00"/>
          </a:solidFill>
          <a:ln w="9525">
            <a:solidFill>
              <a:schemeClr val="tx1"/>
            </a:solidFill>
            <a:miter lim="800000"/>
            <a:headEnd/>
            <a:tailEnd/>
          </a:ln>
          <a:effectLst/>
        </p:spPr>
        <p:txBody>
          <a:bodyPr/>
          <a:lstStyle/>
          <a:p>
            <a:pPr algn="ctr">
              <a:spcBef>
                <a:spcPct val="0"/>
              </a:spcBef>
              <a:buFontTx/>
              <a:buNone/>
            </a:pPr>
            <a:r>
              <a:rPr lang="en-US" sz="1800">
                <a:solidFill>
                  <a:schemeClr val="tx2"/>
                </a:solidFill>
                <a:latin typeface="Arial" charset="0"/>
              </a:rPr>
              <a:t>Peter loses this much utility</a:t>
            </a:r>
          </a:p>
        </p:txBody>
      </p:sp>
      <p:sp>
        <p:nvSpPr>
          <p:cNvPr id="209961" name="AutoShape 41"/>
          <p:cNvSpPr>
            <a:spLocks noChangeArrowheads="1"/>
          </p:cNvSpPr>
          <p:nvPr/>
        </p:nvSpPr>
        <p:spPr bwMode="auto">
          <a:xfrm>
            <a:off x="3419475" y="2200275"/>
            <a:ext cx="1382713" cy="998538"/>
          </a:xfrm>
          <a:prstGeom prst="wedgeRoundRectCallout">
            <a:avLst>
              <a:gd name="adj1" fmla="val -44602"/>
              <a:gd name="adj2" fmla="val 66852"/>
              <a:gd name="adj3" fmla="val 16667"/>
            </a:avLst>
          </a:prstGeom>
          <a:solidFill>
            <a:srgbClr val="FFFF00"/>
          </a:solidFill>
          <a:ln w="9525">
            <a:solidFill>
              <a:schemeClr val="tx1"/>
            </a:solidFill>
            <a:miter lim="800000"/>
            <a:headEnd/>
            <a:tailEnd/>
          </a:ln>
          <a:effectLst/>
        </p:spPr>
        <p:txBody>
          <a:bodyPr/>
          <a:lstStyle/>
          <a:p>
            <a:pPr algn="ctr">
              <a:spcBef>
                <a:spcPct val="0"/>
              </a:spcBef>
              <a:buFontTx/>
              <a:buNone/>
            </a:pPr>
            <a:r>
              <a:rPr lang="en-US" sz="1800">
                <a:solidFill>
                  <a:schemeClr val="tx2"/>
                </a:solidFill>
                <a:latin typeface="Arial" charset="0"/>
              </a:rPr>
              <a:t>This is the net gain to society</a:t>
            </a:r>
          </a:p>
        </p:txBody>
      </p:sp>
      <p:sp>
        <p:nvSpPr>
          <p:cNvPr id="209962" name="AutoShape 42"/>
          <p:cNvSpPr>
            <a:spLocks noChangeArrowheads="1"/>
          </p:cNvSpPr>
          <p:nvPr/>
        </p:nvSpPr>
        <p:spPr bwMode="auto">
          <a:xfrm>
            <a:off x="4418013" y="4811713"/>
            <a:ext cx="1536700" cy="884237"/>
          </a:xfrm>
          <a:prstGeom prst="wedgeRoundRectCallout">
            <a:avLst>
              <a:gd name="adj1" fmla="val -44421"/>
              <a:gd name="adj2" fmla="val 82856"/>
              <a:gd name="adj3" fmla="val 16667"/>
            </a:avLst>
          </a:prstGeom>
          <a:solidFill>
            <a:srgbClr val="FFFF00"/>
          </a:solidFill>
          <a:ln w="9525">
            <a:solidFill>
              <a:schemeClr val="tx1"/>
            </a:solidFill>
            <a:miter lim="800000"/>
            <a:headEnd/>
            <a:tailEnd/>
          </a:ln>
          <a:effectLst/>
        </p:spPr>
        <p:txBody>
          <a:bodyPr/>
          <a:lstStyle/>
          <a:p>
            <a:pPr algn="ctr">
              <a:spcBef>
                <a:spcPct val="0"/>
              </a:spcBef>
              <a:buFontTx/>
              <a:buNone/>
            </a:pPr>
            <a:r>
              <a:rPr lang="en-US" sz="1800">
                <a:solidFill>
                  <a:schemeClr val="tx2"/>
                </a:solidFill>
                <a:latin typeface="Arial" charset="0"/>
              </a:rPr>
              <a:t>Social welfare maximized</a:t>
            </a:r>
          </a:p>
        </p:txBody>
      </p:sp>
      <p:sp>
        <p:nvSpPr>
          <p:cNvPr id="209964" name="Rectangle 44"/>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lgn="ctr">
              <a:spcBef>
                <a:spcPct val="0"/>
              </a:spcBef>
              <a:buFontTx/>
              <a:buNone/>
            </a:pPr>
            <a:r>
              <a:rPr lang="en-US" sz="3600">
                <a:solidFill>
                  <a:schemeClr val="tx2"/>
                </a:solidFill>
              </a:rPr>
              <a:t>Optimal Redistribution</a:t>
            </a:r>
            <a:endParaRPr lang="nl-NL" sz="3600">
              <a:solidFill>
                <a:schemeClr val="tx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9936"/>
                                        </p:tgtEl>
                                        <p:attrNameLst>
                                          <p:attrName>style.visibility</p:attrName>
                                        </p:attrNameLst>
                                      </p:cBhvr>
                                      <p:to>
                                        <p:strVal val="visible"/>
                                      </p:to>
                                    </p:set>
                                    <p:animEffect transition="in" filter="wipe(left)">
                                      <p:cBhvr>
                                        <p:cTn id="7" dur="2000"/>
                                        <p:tgtEl>
                                          <p:spTgt spid="209936"/>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0"/>
                                          </p:stCondLst>
                                        </p:cTn>
                                        <p:tgtEl>
                                          <p:spTgt spid="2099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209938"/>
                                        </p:tgtEl>
                                        <p:attrNameLst>
                                          <p:attrName>style.visibility</p:attrName>
                                        </p:attrNameLst>
                                      </p:cBhvr>
                                      <p:to>
                                        <p:strVal val="visible"/>
                                      </p:to>
                                    </p:set>
                                    <p:animEffect transition="in" filter="wipe(right)">
                                      <p:cBhvr>
                                        <p:cTn id="15" dur="2000"/>
                                        <p:tgtEl>
                                          <p:spTgt spid="209938"/>
                                        </p:tgtEl>
                                      </p:cBhvr>
                                    </p:animEffec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0"/>
                                          </p:stCondLst>
                                        </p:cTn>
                                        <p:tgtEl>
                                          <p:spTgt spid="2099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09940"/>
                                        </p:tgtEl>
                                        <p:attrNameLst>
                                          <p:attrName>style.visibility</p:attrName>
                                        </p:attrNameLst>
                                      </p:cBhvr>
                                      <p:to>
                                        <p:strVal val="visible"/>
                                      </p:to>
                                    </p:set>
                                    <p:animEffect transition="in" filter="wipe(up)">
                                      <p:cBhvr>
                                        <p:cTn id="23" dur="2000"/>
                                        <p:tgtEl>
                                          <p:spTgt spid="209940"/>
                                        </p:tgtEl>
                                      </p:cBhvr>
                                    </p:animEffect>
                                  </p:childTnLst>
                                </p:cTn>
                              </p:par>
                            </p:childTnLst>
                          </p:cTn>
                        </p:par>
                        <p:par>
                          <p:cTn id="24" fill="hold">
                            <p:stCondLst>
                              <p:cond delay="2000"/>
                            </p:stCondLst>
                            <p:childTnLst>
                              <p:par>
                                <p:cTn id="25" presetID="1" presetClass="entr" presetSubtype="0" fill="hold" grpId="0" nodeType="afterEffect">
                                  <p:stCondLst>
                                    <p:cond delay="0"/>
                                  </p:stCondLst>
                                  <p:childTnLst>
                                    <p:set>
                                      <p:cBhvr>
                                        <p:cTn id="26" dur="1" fill="hold">
                                          <p:stCondLst>
                                            <p:cond delay="0"/>
                                          </p:stCondLst>
                                        </p:cTn>
                                        <p:tgtEl>
                                          <p:spTgt spid="209942"/>
                                        </p:tgtEl>
                                        <p:attrNameLst>
                                          <p:attrName>style.visibility</p:attrName>
                                        </p:attrNameLst>
                                      </p:cBhvr>
                                      <p:to>
                                        <p:strVal val="visible"/>
                                      </p:to>
                                    </p:set>
                                  </p:childTnLst>
                                </p:cTn>
                              </p:par>
                            </p:childTnLst>
                          </p:cTn>
                        </p:par>
                        <p:par>
                          <p:cTn id="27" fill="hold">
                            <p:stCondLst>
                              <p:cond delay="2000"/>
                            </p:stCondLst>
                            <p:childTnLst>
                              <p:par>
                                <p:cTn id="28" presetID="1" presetClass="entr" presetSubtype="0" fill="hold" grpId="0" nodeType="afterEffect">
                                  <p:stCondLst>
                                    <p:cond delay="0"/>
                                  </p:stCondLst>
                                  <p:childTnLst>
                                    <p:set>
                                      <p:cBhvr>
                                        <p:cTn id="29" dur="1" fill="hold">
                                          <p:stCondLst>
                                            <p:cond delay="0"/>
                                          </p:stCondLst>
                                        </p:cTn>
                                        <p:tgtEl>
                                          <p:spTgt spid="209943"/>
                                        </p:tgtEl>
                                        <p:attrNameLst>
                                          <p:attrName>style.visibility</p:attrName>
                                        </p:attrNameLst>
                                      </p:cBhvr>
                                      <p:to>
                                        <p:strVal val="visible"/>
                                      </p:to>
                                    </p:set>
                                  </p:childTnLst>
                                </p:cTn>
                              </p:par>
                            </p:childTnLst>
                          </p:cTn>
                        </p:par>
                        <p:par>
                          <p:cTn id="30" fill="hold">
                            <p:stCondLst>
                              <p:cond delay="2000"/>
                            </p:stCondLst>
                            <p:childTnLst>
                              <p:par>
                                <p:cTn id="31" presetID="1" presetClass="entr" presetSubtype="0" fill="hold" grpId="0" nodeType="afterEffect">
                                  <p:stCondLst>
                                    <p:cond delay="0"/>
                                  </p:stCondLst>
                                  <p:childTnLst>
                                    <p:set>
                                      <p:cBhvr>
                                        <p:cTn id="32" dur="1" fill="hold">
                                          <p:stCondLst>
                                            <p:cond delay="0"/>
                                          </p:stCondLst>
                                        </p:cTn>
                                        <p:tgtEl>
                                          <p:spTgt spid="20994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09950"/>
                                        </p:tgtEl>
                                        <p:attrNameLst>
                                          <p:attrName>style.visibility</p:attrName>
                                        </p:attrNameLst>
                                      </p:cBhvr>
                                      <p:to>
                                        <p:strVal val="visible"/>
                                      </p:to>
                                    </p:set>
                                    <p:anim calcmode="lin" valueType="num">
                                      <p:cBhvr additive="base">
                                        <p:cTn id="37" dur="500" fill="hold"/>
                                        <p:tgtEl>
                                          <p:spTgt spid="209950"/>
                                        </p:tgtEl>
                                        <p:attrNameLst>
                                          <p:attrName>ppt_x</p:attrName>
                                        </p:attrNameLst>
                                      </p:cBhvr>
                                      <p:tavLst>
                                        <p:tav tm="0">
                                          <p:val>
                                            <p:strVal val="#ppt_x"/>
                                          </p:val>
                                        </p:tav>
                                        <p:tav tm="100000">
                                          <p:val>
                                            <p:strVal val="#ppt_x"/>
                                          </p:val>
                                        </p:tav>
                                      </p:tavLst>
                                    </p:anim>
                                    <p:anim calcmode="lin" valueType="num">
                                      <p:cBhvr additive="base">
                                        <p:cTn id="38" dur="500" fill="hold"/>
                                        <p:tgtEl>
                                          <p:spTgt spid="209950"/>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0" presetClass="path" presetSubtype="0" accel="50000" decel="50000" fill="hold" grpId="1" nodeType="afterEffect">
                                  <p:stCondLst>
                                    <p:cond delay="0"/>
                                  </p:stCondLst>
                                  <p:childTnLst>
                                    <p:animMotion origin="layout" path="M 0 0 C 0.06094 -0.02705 0.00313 -0.00208 0.18247 -0.00208 " pathEditMode="relative" ptsTypes="fA">
                                      <p:cBhvr>
                                        <p:cTn id="41" dur="2000" fill="hold"/>
                                        <p:tgtEl>
                                          <p:spTgt spid="209950"/>
                                        </p:tgtEl>
                                        <p:attrNameLst>
                                          <p:attrName>ppt_x</p:attrName>
                                          <p:attrName>ppt_y</p:attrName>
                                        </p:attrNameLst>
                                      </p:cBhvr>
                                    </p:animMotion>
                                  </p:childTnLst>
                                </p:cTn>
                              </p:par>
                            </p:childTnLst>
                          </p:cTn>
                        </p:par>
                        <p:par>
                          <p:cTn id="42" fill="hold">
                            <p:stCondLst>
                              <p:cond delay="2500"/>
                            </p:stCondLst>
                            <p:childTnLst>
                              <p:par>
                                <p:cTn id="43" presetID="2" presetClass="exit" presetSubtype="4" fill="hold" grpId="2" nodeType="afterEffect">
                                  <p:stCondLst>
                                    <p:cond delay="0"/>
                                  </p:stCondLst>
                                  <p:childTnLst>
                                    <p:anim calcmode="lin" valueType="num">
                                      <p:cBhvr additive="base">
                                        <p:cTn id="44" dur="500"/>
                                        <p:tgtEl>
                                          <p:spTgt spid="209950"/>
                                        </p:tgtEl>
                                        <p:attrNameLst>
                                          <p:attrName>ppt_x</p:attrName>
                                        </p:attrNameLst>
                                      </p:cBhvr>
                                      <p:tavLst>
                                        <p:tav tm="0">
                                          <p:val>
                                            <p:strVal val="ppt_x"/>
                                          </p:val>
                                        </p:tav>
                                        <p:tav tm="100000">
                                          <p:val>
                                            <p:strVal val="ppt_x"/>
                                          </p:val>
                                        </p:tav>
                                      </p:tavLst>
                                    </p:anim>
                                    <p:anim calcmode="lin" valueType="num">
                                      <p:cBhvr additive="base">
                                        <p:cTn id="45" dur="500"/>
                                        <p:tgtEl>
                                          <p:spTgt spid="209950"/>
                                        </p:tgtEl>
                                        <p:attrNameLst>
                                          <p:attrName>ppt_y</p:attrName>
                                        </p:attrNameLst>
                                      </p:cBhvr>
                                      <p:tavLst>
                                        <p:tav tm="0">
                                          <p:val>
                                            <p:strVal val="ppt_y"/>
                                          </p:val>
                                        </p:tav>
                                        <p:tav tm="100000">
                                          <p:val>
                                            <p:strVal val="1+ppt_h/2"/>
                                          </p:val>
                                        </p:tav>
                                      </p:tavLst>
                                    </p:anim>
                                    <p:set>
                                      <p:cBhvr>
                                        <p:cTn id="46" dur="1" fill="hold">
                                          <p:stCondLst>
                                            <p:cond delay="499"/>
                                          </p:stCondLst>
                                        </p:cTn>
                                        <p:tgtEl>
                                          <p:spTgt spid="209950"/>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09951"/>
                                        </p:tgtEl>
                                        <p:attrNameLst>
                                          <p:attrName>style.visibility</p:attrName>
                                        </p:attrNameLst>
                                      </p:cBhvr>
                                      <p:to>
                                        <p:strVal val="visible"/>
                                      </p:to>
                                    </p:set>
                                    <p:anim calcmode="lin" valueType="num">
                                      <p:cBhvr additive="base">
                                        <p:cTn id="51" dur="500" fill="hold"/>
                                        <p:tgtEl>
                                          <p:spTgt spid="209951"/>
                                        </p:tgtEl>
                                        <p:attrNameLst>
                                          <p:attrName>ppt_x</p:attrName>
                                        </p:attrNameLst>
                                      </p:cBhvr>
                                      <p:tavLst>
                                        <p:tav tm="0">
                                          <p:val>
                                            <p:strVal val="#ppt_x"/>
                                          </p:val>
                                        </p:tav>
                                        <p:tav tm="100000">
                                          <p:val>
                                            <p:strVal val="#ppt_x"/>
                                          </p:val>
                                        </p:tav>
                                      </p:tavLst>
                                    </p:anim>
                                    <p:anim calcmode="lin" valueType="num">
                                      <p:cBhvr additive="base">
                                        <p:cTn id="52" dur="500" fill="hold"/>
                                        <p:tgtEl>
                                          <p:spTgt spid="209951"/>
                                        </p:tgtEl>
                                        <p:attrNameLst>
                                          <p:attrName>ppt_y</p:attrName>
                                        </p:attrNameLst>
                                      </p:cBhvr>
                                      <p:tavLst>
                                        <p:tav tm="0">
                                          <p:val>
                                            <p:strVal val="1+#ppt_h/2"/>
                                          </p:val>
                                        </p:tav>
                                        <p:tav tm="100000">
                                          <p:val>
                                            <p:strVal val="#ppt_y"/>
                                          </p:val>
                                        </p:tav>
                                      </p:tavLst>
                                    </p:anim>
                                  </p:childTnLst>
                                </p:cTn>
                              </p:par>
                            </p:childTnLst>
                          </p:cTn>
                        </p:par>
                        <p:par>
                          <p:cTn id="53" fill="hold">
                            <p:stCondLst>
                              <p:cond delay="500"/>
                            </p:stCondLst>
                            <p:childTnLst>
                              <p:par>
                                <p:cTn id="54" presetID="0" presetClass="path" presetSubtype="0" accel="50000" decel="50000" fill="hold" grpId="1" nodeType="afterEffect">
                                  <p:stCondLst>
                                    <p:cond delay="0"/>
                                  </p:stCondLst>
                                  <p:childTnLst>
                                    <p:animMotion origin="layout" path="M 0 0 C -0.10851 -0.00069 -0.21684 -0.00092 -0.32535 -0.00208 C -0.3625 -0.00254 -0.39948 -0.00855 -0.43646 -0.00855 " pathEditMode="relative" ptsTypes="ffA">
                                      <p:cBhvr>
                                        <p:cTn id="55" dur="2000" fill="hold"/>
                                        <p:tgtEl>
                                          <p:spTgt spid="209951"/>
                                        </p:tgtEl>
                                        <p:attrNameLst>
                                          <p:attrName>ppt_x</p:attrName>
                                          <p:attrName>ppt_y</p:attrName>
                                        </p:attrNameLst>
                                      </p:cBhvr>
                                    </p:animMotion>
                                  </p:childTnLst>
                                </p:cTn>
                              </p:par>
                            </p:childTnLst>
                          </p:cTn>
                        </p:par>
                        <p:par>
                          <p:cTn id="56" fill="hold">
                            <p:stCondLst>
                              <p:cond delay="2500"/>
                            </p:stCondLst>
                            <p:childTnLst>
                              <p:par>
                                <p:cTn id="57" presetID="2" presetClass="exit" presetSubtype="4" fill="hold" grpId="2" nodeType="afterEffect">
                                  <p:stCondLst>
                                    <p:cond delay="0"/>
                                  </p:stCondLst>
                                  <p:childTnLst>
                                    <p:anim calcmode="lin" valueType="num">
                                      <p:cBhvr additive="base">
                                        <p:cTn id="58" dur="500"/>
                                        <p:tgtEl>
                                          <p:spTgt spid="209951"/>
                                        </p:tgtEl>
                                        <p:attrNameLst>
                                          <p:attrName>ppt_x</p:attrName>
                                        </p:attrNameLst>
                                      </p:cBhvr>
                                      <p:tavLst>
                                        <p:tav tm="0">
                                          <p:val>
                                            <p:strVal val="ppt_x"/>
                                          </p:val>
                                        </p:tav>
                                        <p:tav tm="100000">
                                          <p:val>
                                            <p:strVal val="ppt_x"/>
                                          </p:val>
                                        </p:tav>
                                      </p:tavLst>
                                    </p:anim>
                                    <p:anim calcmode="lin" valueType="num">
                                      <p:cBhvr additive="base">
                                        <p:cTn id="59" dur="500"/>
                                        <p:tgtEl>
                                          <p:spTgt spid="209951"/>
                                        </p:tgtEl>
                                        <p:attrNameLst>
                                          <p:attrName>ppt_y</p:attrName>
                                        </p:attrNameLst>
                                      </p:cBhvr>
                                      <p:tavLst>
                                        <p:tav tm="0">
                                          <p:val>
                                            <p:strVal val="ppt_y"/>
                                          </p:val>
                                        </p:tav>
                                        <p:tav tm="100000">
                                          <p:val>
                                            <p:strVal val="1+ppt_h/2"/>
                                          </p:val>
                                        </p:tav>
                                      </p:tavLst>
                                    </p:anim>
                                    <p:set>
                                      <p:cBhvr>
                                        <p:cTn id="60" dur="1" fill="hold">
                                          <p:stCondLst>
                                            <p:cond delay="499"/>
                                          </p:stCondLst>
                                        </p:cTn>
                                        <p:tgtEl>
                                          <p:spTgt spid="209951"/>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209948"/>
                                        </p:tgtEl>
                                        <p:attrNameLst>
                                          <p:attrName>style.visibility</p:attrName>
                                        </p:attrNameLst>
                                      </p:cBhvr>
                                      <p:to>
                                        <p:strVal val="visible"/>
                                      </p:to>
                                    </p:set>
                                    <p:animEffect transition="in" filter="wipe(up)">
                                      <p:cBhvr>
                                        <p:cTn id="65" dur="2000"/>
                                        <p:tgtEl>
                                          <p:spTgt spid="209948"/>
                                        </p:tgtEl>
                                      </p:cBhvr>
                                    </p:animEffect>
                                  </p:childTnLst>
                                </p:cTn>
                              </p:par>
                            </p:childTnLst>
                          </p:cTn>
                        </p:par>
                        <p:par>
                          <p:cTn id="66" fill="hold">
                            <p:stCondLst>
                              <p:cond delay="2000"/>
                            </p:stCondLst>
                            <p:childTnLst>
                              <p:par>
                                <p:cTn id="67" presetID="1" presetClass="entr" presetSubtype="0" fill="hold" grpId="0" nodeType="afterEffect">
                                  <p:stCondLst>
                                    <p:cond delay="0"/>
                                  </p:stCondLst>
                                  <p:childTnLst>
                                    <p:set>
                                      <p:cBhvr>
                                        <p:cTn id="68" dur="1" fill="hold">
                                          <p:stCondLst>
                                            <p:cond delay="0"/>
                                          </p:stCondLst>
                                        </p:cTn>
                                        <p:tgtEl>
                                          <p:spTgt spid="209945"/>
                                        </p:tgtEl>
                                        <p:attrNameLst>
                                          <p:attrName>style.visibility</p:attrName>
                                        </p:attrNameLst>
                                      </p:cBhvr>
                                      <p:to>
                                        <p:strVal val="visible"/>
                                      </p:to>
                                    </p:set>
                                  </p:childTnLst>
                                </p:cTn>
                              </p:par>
                            </p:childTnLst>
                          </p:cTn>
                        </p:par>
                        <p:par>
                          <p:cTn id="69" fill="hold">
                            <p:stCondLst>
                              <p:cond delay="2000"/>
                            </p:stCondLst>
                            <p:childTnLst>
                              <p:par>
                                <p:cTn id="70" presetID="1" presetClass="entr" presetSubtype="0" fill="hold" grpId="0" nodeType="afterEffect">
                                  <p:stCondLst>
                                    <p:cond delay="0"/>
                                  </p:stCondLst>
                                  <p:childTnLst>
                                    <p:set>
                                      <p:cBhvr>
                                        <p:cTn id="71" dur="1" fill="hold">
                                          <p:stCondLst>
                                            <p:cond delay="0"/>
                                          </p:stCondLst>
                                        </p:cTn>
                                        <p:tgtEl>
                                          <p:spTgt spid="209944"/>
                                        </p:tgtEl>
                                        <p:attrNameLst>
                                          <p:attrName>style.visibility</p:attrName>
                                        </p:attrNameLst>
                                      </p:cBhvr>
                                      <p:to>
                                        <p:strVal val="visible"/>
                                      </p:to>
                                    </p:set>
                                  </p:childTnLst>
                                </p:cTn>
                              </p:par>
                            </p:childTnLst>
                          </p:cTn>
                        </p:par>
                        <p:par>
                          <p:cTn id="72" fill="hold">
                            <p:stCondLst>
                              <p:cond delay="2000"/>
                            </p:stCondLst>
                            <p:childTnLst>
                              <p:par>
                                <p:cTn id="73" presetID="1" presetClass="entr" presetSubtype="0" fill="hold" grpId="0" nodeType="afterEffect">
                                  <p:stCondLst>
                                    <p:cond delay="0"/>
                                  </p:stCondLst>
                                  <p:childTnLst>
                                    <p:set>
                                      <p:cBhvr>
                                        <p:cTn id="74" dur="1" fill="hold">
                                          <p:stCondLst>
                                            <p:cond delay="0"/>
                                          </p:stCondLst>
                                        </p:cTn>
                                        <p:tgtEl>
                                          <p:spTgt spid="20994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09952"/>
                                        </p:tgtEl>
                                        <p:attrNameLst>
                                          <p:attrName>style.visibility</p:attrName>
                                        </p:attrNameLst>
                                      </p:cBhvr>
                                      <p:to>
                                        <p:strVal val="visible"/>
                                      </p:to>
                                    </p:set>
                                    <p:anim calcmode="lin" valueType="num">
                                      <p:cBhvr additive="base">
                                        <p:cTn id="79" dur="2000" fill="hold"/>
                                        <p:tgtEl>
                                          <p:spTgt spid="209952"/>
                                        </p:tgtEl>
                                        <p:attrNameLst>
                                          <p:attrName>ppt_x</p:attrName>
                                        </p:attrNameLst>
                                      </p:cBhvr>
                                      <p:tavLst>
                                        <p:tav tm="0">
                                          <p:val>
                                            <p:strVal val="#ppt_x"/>
                                          </p:val>
                                        </p:tav>
                                        <p:tav tm="100000">
                                          <p:val>
                                            <p:strVal val="#ppt_x"/>
                                          </p:val>
                                        </p:tav>
                                      </p:tavLst>
                                    </p:anim>
                                    <p:anim calcmode="lin" valueType="num">
                                      <p:cBhvr additive="base">
                                        <p:cTn id="80" dur="2000" fill="hold"/>
                                        <p:tgtEl>
                                          <p:spTgt spid="209952"/>
                                        </p:tgtEl>
                                        <p:attrNameLst>
                                          <p:attrName>ppt_y</p:attrName>
                                        </p:attrNameLst>
                                      </p:cBhvr>
                                      <p:tavLst>
                                        <p:tav tm="0">
                                          <p:val>
                                            <p:strVal val="1+#ppt_h/2"/>
                                          </p:val>
                                        </p:tav>
                                        <p:tav tm="100000">
                                          <p:val>
                                            <p:strVal val="#ppt_y"/>
                                          </p:val>
                                        </p:tav>
                                      </p:tavLst>
                                    </p:anim>
                                  </p:childTnLst>
                                </p:cTn>
                              </p:par>
                            </p:childTnLst>
                          </p:cTn>
                        </p:par>
                        <p:par>
                          <p:cTn id="81" fill="hold">
                            <p:stCondLst>
                              <p:cond delay="2000"/>
                            </p:stCondLst>
                            <p:childTnLst>
                              <p:par>
                                <p:cTn id="82" presetID="0" presetClass="path" presetSubtype="0" accel="50000" decel="50000" fill="hold" grpId="1" nodeType="afterEffect">
                                  <p:stCondLst>
                                    <p:cond delay="2000"/>
                                  </p:stCondLst>
                                  <p:childTnLst>
                                    <p:animMotion origin="layout" path="M 0 0 C 0.02813 -0.01225 0.00625 -0.00416 0.06823 -0.00416 " pathEditMode="relative" ptsTypes="fA">
                                      <p:cBhvr>
                                        <p:cTn id="83" dur="2000" fill="hold"/>
                                        <p:tgtEl>
                                          <p:spTgt spid="209952"/>
                                        </p:tgtEl>
                                        <p:attrNameLst>
                                          <p:attrName>ppt_x</p:attrName>
                                          <p:attrName>ppt_y</p:attrName>
                                        </p:attrNameLst>
                                      </p:cBhvr>
                                    </p:animMotion>
                                  </p:childTnLst>
                                </p:cTn>
                              </p:par>
                            </p:childTnLst>
                          </p:cTn>
                        </p:par>
                        <p:par>
                          <p:cTn id="84" fill="hold">
                            <p:stCondLst>
                              <p:cond delay="6000"/>
                            </p:stCondLst>
                            <p:childTnLst>
                              <p:par>
                                <p:cTn id="85" presetID="2" presetClass="exit" presetSubtype="4" fill="hold" grpId="2" nodeType="afterEffect">
                                  <p:stCondLst>
                                    <p:cond delay="2000"/>
                                  </p:stCondLst>
                                  <p:childTnLst>
                                    <p:anim calcmode="lin" valueType="num">
                                      <p:cBhvr additive="base">
                                        <p:cTn id="86" dur="500"/>
                                        <p:tgtEl>
                                          <p:spTgt spid="209952"/>
                                        </p:tgtEl>
                                        <p:attrNameLst>
                                          <p:attrName>ppt_x</p:attrName>
                                        </p:attrNameLst>
                                      </p:cBhvr>
                                      <p:tavLst>
                                        <p:tav tm="0">
                                          <p:val>
                                            <p:strVal val="ppt_x"/>
                                          </p:val>
                                        </p:tav>
                                        <p:tav tm="100000">
                                          <p:val>
                                            <p:strVal val="ppt_x"/>
                                          </p:val>
                                        </p:tav>
                                      </p:tavLst>
                                    </p:anim>
                                    <p:anim calcmode="lin" valueType="num">
                                      <p:cBhvr additive="base">
                                        <p:cTn id="87" dur="500"/>
                                        <p:tgtEl>
                                          <p:spTgt spid="209952"/>
                                        </p:tgtEl>
                                        <p:attrNameLst>
                                          <p:attrName>ppt_y</p:attrName>
                                        </p:attrNameLst>
                                      </p:cBhvr>
                                      <p:tavLst>
                                        <p:tav tm="0">
                                          <p:val>
                                            <p:strVal val="ppt_y"/>
                                          </p:val>
                                        </p:tav>
                                        <p:tav tm="100000">
                                          <p:val>
                                            <p:strVal val="1+ppt_h/2"/>
                                          </p:val>
                                        </p:tav>
                                      </p:tavLst>
                                    </p:anim>
                                    <p:set>
                                      <p:cBhvr>
                                        <p:cTn id="88" dur="1" fill="hold">
                                          <p:stCondLst>
                                            <p:cond delay="499"/>
                                          </p:stCondLst>
                                        </p:cTn>
                                        <p:tgtEl>
                                          <p:spTgt spid="209952"/>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209953"/>
                                        </p:tgtEl>
                                        <p:attrNameLst>
                                          <p:attrName>style.visibility</p:attrName>
                                        </p:attrNameLst>
                                      </p:cBhvr>
                                      <p:to>
                                        <p:strVal val="visible"/>
                                      </p:to>
                                    </p:set>
                                    <p:animEffect transition="in" filter="wipe(left)">
                                      <p:cBhvr>
                                        <p:cTn id="93" dur="2000"/>
                                        <p:tgtEl>
                                          <p:spTgt spid="209953"/>
                                        </p:tgtEl>
                                      </p:cBhvr>
                                    </p:animEffect>
                                  </p:childTnLst>
                                </p:cTn>
                              </p:par>
                            </p:childTnLst>
                          </p:cTn>
                        </p:par>
                        <p:par>
                          <p:cTn id="94" fill="hold">
                            <p:stCondLst>
                              <p:cond delay="2000"/>
                            </p:stCondLst>
                            <p:childTnLst>
                              <p:par>
                                <p:cTn id="95" presetID="2" presetClass="entr" presetSubtype="3" fill="hold" grpId="0" nodeType="afterEffect">
                                  <p:stCondLst>
                                    <p:cond delay="0"/>
                                  </p:stCondLst>
                                  <p:childTnLst>
                                    <p:set>
                                      <p:cBhvr>
                                        <p:cTn id="96" dur="1" fill="hold">
                                          <p:stCondLst>
                                            <p:cond delay="0"/>
                                          </p:stCondLst>
                                        </p:cTn>
                                        <p:tgtEl>
                                          <p:spTgt spid="209956"/>
                                        </p:tgtEl>
                                        <p:attrNameLst>
                                          <p:attrName>style.visibility</p:attrName>
                                        </p:attrNameLst>
                                      </p:cBhvr>
                                      <p:to>
                                        <p:strVal val="visible"/>
                                      </p:to>
                                    </p:set>
                                    <p:anim calcmode="lin" valueType="num">
                                      <p:cBhvr additive="base">
                                        <p:cTn id="97" dur="2000" fill="hold"/>
                                        <p:tgtEl>
                                          <p:spTgt spid="209956"/>
                                        </p:tgtEl>
                                        <p:attrNameLst>
                                          <p:attrName>ppt_x</p:attrName>
                                        </p:attrNameLst>
                                      </p:cBhvr>
                                      <p:tavLst>
                                        <p:tav tm="0">
                                          <p:val>
                                            <p:strVal val="1+#ppt_w/2"/>
                                          </p:val>
                                        </p:tav>
                                        <p:tav tm="100000">
                                          <p:val>
                                            <p:strVal val="#ppt_x"/>
                                          </p:val>
                                        </p:tav>
                                      </p:tavLst>
                                    </p:anim>
                                    <p:anim calcmode="lin" valueType="num">
                                      <p:cBhvr additive="base">
                                        <p:cTn id="98" dur="2000" fill="hold"/>
                                        <p:tgtEl>
                                          <p:spTgt spid="209956"/>
                                        </p:tgtEl>
                                        <p:attrNameLst>
                                          <p:attrName>ppt_y</p:attrName>
                                        </p:attrNameLst>
                                      </p:cBhvr>
                                      <p:tavLst>
                                        <p:tav tm="0">
                                          <p:val>
                                            <p:strVal val="0-#ppt_h/2"/>
                                          </p:val>
                                        </p:tav>
                                        <p:tav tm="100000">
                                          <p:val>
                                            <p:strVal val="#ppt_y"/>
                                          </p:val>
                                        </p:tav>
                                      </p:tavLst>
                                    </p:anim>
                                  </p:childTnLst>
                                </p:cTn>
                              </p:par>
                            </p:childTnLst>
                          </p:cTn>
                        </p:par>
                        <p:par>
                          <p:cTn id="99" fill="hold">
                            <p:stCondLst>
                              <p:cond delay="4000"/>
                            </p:stCondLst>
                            <p:childTnLst>
                              <p:par>
                                <p:cTn id="100" presetID="2" presetClass="exit" presetSubtype="12" fill="hold" grpId="1" nodeType="afterEffect">
                                  <p:stCondLst>
                                    <p:cond delay="2000"/>
                                  </p:stCondLst>
                                  <p:childTnLst>
                                    <p:anim calcmode="lin" valueType="num">
                                      <p:cBhvr additive="base">
                                        <p:cTn id="101" dur="2000"/>
                                        <p:tgtEl>
                                          <p:spTgt spid="209956"/>
                                        </p:tgtEl>
                                        <p:attrNameLst>
                                          <p:attrName>ppt_x</p:attrName>
                                        </p:attrNameLst>
                                      </p:cBhvr>
                                      <p:tavLst>
                                        <p:tav tm="0">
                                          <p:val>
                                            <p:strVal val="ppt_x"/>
                                          </p:val>
                                        </p:tav>
                                        <p:tav tm="100000">
                                          <p:val>
                                            <p:strVal val="0-ppt_w/2"/>
                                          </p:val>
                                        </p:tav>
                                      </p:tavLst>
                                    </p:anim>
                                    <p:anim calcmode="lin" valueType="num">
                                      <p:cBhvr additive="base">
                                        <p:cTn id="102" dur="2000"/>
                                        <p:tgtEl>
                                          <p:spTgt spid="209956"/>
                                        </p:tgtEl>
                                        <p:attrNameLst>
                                          <p:attrName>ppt_y</p:attrName>
                                        </p:attrNameLst>
                                      </p:cBhvr>
                                      <p:tavLst>
                                        <p:tav tm="0">
                                          <p:val>
                                            <p:strVal val="ppt_y"/>
                                          </p:val>
                                        </p:tav>
                                        <p:tav tm="100000">
                                          <p:val>
                                            <p:strVal val="1+ppt_h/2"/>
                                          </p:val>
                                        </p:tav>
                                      </p:tavLst>
                                    </p:anim>
                                    <p:set>
                                      <p:cBhvr>
                                        <p:cTn id="103" dur="1" fill="hold">
                                          <p:stCondLst>
                                            <p:cond delay="1999"/>
                                          </p:stCondLst>
                                        </p:cTn>
                                        <p:tgtEl>
                                          <p:spTgt spid="209956"/>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22" presetClass="entr" presetSubtype="2" fill="hold" nodeType="clickEffect">
                                  <p:stCondLst>
                                    <p:cond delay="0"/>
                                  </p:stCondLst>
                                  <p:childTnLst>
                                    <p:set>
                                      <p:cBhvr>
                                        <p:cTn id="107" dur="1" fill="hold">
                                          <p:stCondLst>
                                            <p:cond delay="0"/>
                                          </p:stCondLst>
                                        </p:cTn>
                                        <p:tgtEl>
                                          <p:spTgt spid="209957"/>
                                        </p:tgtEl>
                                        <p:attrNameLst>
                                          <p:attrName>style.visibility</p:attrName>
                                        </p:attrNameLst>
                                      </p:cBhvr>
                                      <p:to>
                                        <p:strVal val="visible"/>
                                      </p:to>
                                    </p:set>
                                    <p:animEffect transition="in" filter="wipe(right)">
                                      <p:cBhvr>
                                        <p:cTn id="108" dur="2000"/>
                                        <p:tgtEl>
                                          <p:spTgt spid="209957"/>
                                        </p:tgtEl>
                                      </p:cBhvr>
                                    </p:animEffect>
                                  </p:childTnLst>
                                </p:cTn>
                              </p:par>
                            </p:childTnLst>
                          </p:cTn>
                        </p:par>
                        <p:par>
                          <p:cTn id="109" fill="hold">
                            <p:stCondLst>
                              <p:cond delay="2000"/>
                            </p:stCondLst>
                            <p:childTnLst>
                              <p:par>
                                <p:cTn id="110" presetID="2" presetClass="entr" presetSubtype="3" fill="hold" grpId="0" nodeType="afterEffect">
                                  <p:stCondLst>
                                    <p:cond delay="0"/>
                                  </p:stCondLst>
                                  <p:childTnLst>
                                    <p:set>
                                      <p:cBhvr>
                                        <p:cTn id="111" dur="1" fill="hold">
                                          <p:stCondLst>
                                            <p:cond delay="0"/>
                                          </p:stCondLst>
                                        </p:cTn>
                                        <p:tgtEl>
                                          <p:spTgt spid="209960"/>
                                        </p:tgtEl>
                                        <p:attrNameLst>
                                          <p:attrName>style.visibility</p:attrName>
                                        </p:attrNameLst>
                                      </p:cBhvr>
                                      <p:to>
                                        <p:strVal val="visible"/>
                                      </p:to>
                                    </p:set>
                                    <p:anim calcmode="lin" valueType="num">
                                      <p:cBhvr additive="base">
                                        <p:cTn id="112" dur="2000" fill="hold"/>
                                        <p:tgtEl>
                                          <p:spTgt spid="209960"/>
                                        </p:tgtEl>
                                        <p:attrNameLst>
                                          <p:attrName>ppt_x</p:attrName>
                                        </p:attrNameLst>
                                      </p:cBhvr>
                                      <p:tavLst>
                                        <p:tav tm="0">
                                          <p:val>
                                            <p:strVal val="1+#ppt_w/2"/>
                                          </p:val>
                                        </p:tav>
                                        <p:tav tm="100000">
                                          <p:val>
                                            <p:strVal val="#ppt_x"/>
                                          </p:val>
                                        </p:tav>
                                      </p:tavLst>
                                    </p:anim>
                                    <p:anim calcmode="lin" valueType="num">
                                      <p:cBhvr additive="base">
                                        <p:cTn id="113" dur="2000" fill="hold"/>
                                        <p:tgtEl>
                                          <p:spTgt spid="209960"/>
                                        </p:tgtEl>
                                        <p:attrNameLst>
                                          <p:attrName>ppt_y</p:attrName>
                                        </p:attrNameLst>
                                      </p:cBhvr>
                                      <p:tavLst>
                                        <p:tav tm="0">
                                          <p:val>
                                            <p:strVal val="0-#ppt_h/2"/>
                                          </p:val>
                                        </p:tav>
                                        <p:tav tm="100000">
                                          <p:val>
                                            <p:strVal val="#ppt_y"/>
                                          </p:val>
                                        </p:tav>
                                      </p:tavLst>
                                    </p:anim>
                                  </p:childTnLst>
                                </p:cTn>
                              </p:par>
                            </p:childTnLst>
                          </p:cTn>
                        </p:par>
                        <p:par>
                          <p:cTn id="114" fill="hold">
                            <p:stCondLst>
                              <p:cond delay="4000"/>
                            </p:stCondLst>
                            <p:childTnLst>
                              <p:par>
                                <p:cTn id="115" presetID="2" presetClass="exit" presetSubtype="12" fill="hold" grpId="1" nodeType="afterEffect">
                                  <p:stCondLst>
                                    <p:cond delay="2000"/>
                                  </p:stCondLst>
                                  <p:childTnLst>
                                    <p:anim calcmode="lin" valueType="num">
                                      <p:cBhvr additive="base">
                                        <p:cTn id="116" dur="2000"/>
                                        <p:tgtEl>
                                          <p:spTgt spid="209960"/>
                                        </p:tgtEl>
                                        <p:attrNameLst>
                                          <p:attrName>ppt_x</p:attrName>
                                        </p:attrNameLst>
                                      </p:cBhvr>
                                      <p:tavLst>
                                        <p:tav tm="0">
                                          <p:val>
                                            <p:strVal val="ppt_x"/>
                                          </p:val>
                                        </p:tav>
                                        <p:tav tm="100000">
                                          <p:val>
                                            <p:strVal val="0-ppt_w/2"/>
                                          </p:val>
                                        </p:tav>
                                      </p:tavLst>
                                    </p:anim>
                                    <p:anim calcmode="lin" valueType="num">
                                      <p:cBhvr additive="base">
                                        <p:cTn id="117" dur="2000"/>
                                        <p:tgtEl>
                                          <p:spTgt spid="209960"/>
                                        </p:tgtEl>
                                        <p:attrNameLst>
                                          <p:attrName>ppt_y</p:attrName>
                                        </p:attrNameLst>
                                      </p:cBhvr>
                                      <p:tavLst>
                                        <p:tav tm="0">
                                          <p:val>
                                            <p:strVal val="ppt_y"/>
                                          </p:val>
                                        </p:tav>
                                        <p:tav tm="100000">
                                          <p:val>
                                            <p:strVal val="1+ppt_h/2"/>
                                          </p:val>
                                        </p:tav>
                                      </p:tavLst>
                                    </p:anim>
                                    <p:set>
                                      <p:cBhvr>
                                        <p:cTn id="118" dur="1" fill="hold">
                                          <p:stCondLst>
                                            <p:cond delay="1999"/>
                                          </p:stCondLst>
                                        </p:cTn>
                                        <p:tgtEl>
                                          <p:spTgt spid="209960"/>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2" presetClass="entr" presetSubtype="3" fill="hold" grpId="0" nodeType="clickEffect">
                                  <p:stCondLst>
                                    <p:cond delay="0"/>
                                  </p:stCondLst>
                                  <p:childTnLst>
                                    <p:set>
                                      <p:cBhvr>
                                        <p:cTn id="122" dur="1" fill="hold">
                                          <p:stCondLst>
                                            <p:cond delay="0"/>
                                          </p:stCondLst>
                                        </p:cTn>
                                        <p:tgtEl>
                                          <p:spTgt spid="209961"/>
                                        </p:tgtEl>
                                        <p:attrNameLst>
                                          <p:attrName>style.visibility</p:attrName>
                                        </p:attrNameLst>
                                      </p:cBhvr>
                                      <p:to>
                                        <p:strVal val="visible"/>
                                      </p:to>
                                    </p:set>
                                    <p:anim calcmode="lin" valueType="num">
                                      <p:cBhvr additive="base">
                                        <p:cTn id="123" dur="2000" fill="hold"/>
                                        <p:tgtEl>
                                          <p:spTgt spid="209961"/>
                                        </p:tgtEl>
                                        <p:attrNameLst>
                                          <p:attrName>ppt_x</p:attrName>
                                        </p:attrNameLst>
                                      </p:cBhvr>
                                      <p:tavLst>
                                        <p:tav tm="0">
                                          <p:val>
                                            <p:strVal val="1+#ppt_w/2"/>
                                          </p:val>
                                        </p:tav>
                                        <p:tav tm="100000">
                                          <p:val>
                                            <p:strVal val="#ppt_x"/>
                                          </p:val>
                                        </p:tav>
                                      </p:tavLst>
                                    </p:anim>
                                    <p:anim calcmode="lin" valueType="num">
                                      <p:cBhvr additive="base">
                                        <p:cTn id="124" dur="2000" fill="hold"/>
                                        <p:tgtEl>
                                          <p:spTgt spid="209961"/>
                                        </p:tgtEl>
                                        <p:attrNameLst>
                                          <p:attrName>ppt_y</p:attrName>
                                        </p:attrNameLst>
                                      </p:cBhvr>
                                      <p:tavLst>
                                        <p:tav tm="0">
                                          <p:val>
                                            <p:strVal val="0-#ppt_h/2"/>
                                          </p:val>
                                        </p:tav>
                                        <p:tav tm="100000">
                                          <p:val>
                                            <p:strVal val="#ppt_y"/>
                                          </p:val>
                                        </p:tav>
                                      </p:tavLst>
                                    </p:anim>
                                  </p:childTnLst>
                                </p:cTn>
                              </p:par>
                            </p:childTnLst>
                          </p:cTn>
                        </p:par>
                        <p:par>
                          <p:cTn id="125" fill="hold">
                            <p:stCondLst>
                              <p:cond delay="2000"/>
                            </p:stCondLst>
                            <p:childTnLst>
                              <p:par>
                                <p:cTn id="126" presetID="0" presetClass="path" presetSubtype="0" accel="50000" decel="50000" fill="hold" grpId="1" nodeType="afterEffect">
                                  <p:stCondLst>
                                    <p:cond delay="0"/>
                                  </p:stCondLst>
                                  <p:childTnLst>
                                    <p:animMotion origin="layout" path="M 0 0 C 0.00712 0.00347 0.01476 0.00416 0.02222 0.00648 C 0.02864 0.01226 0.03646 0.01133 0.04288 0.01711 C 0.04896 0.02243 0.04583 0.02058 0.05243 0.02335 C 0.05347 0.02775 0.05608 0.03145 0.05712 0.03607 C 0.05885 0.04416 0.06024 0.05688 0.06024 0.06567 C 0.05972 0.08116 0.05955 0.09665 0.05868 0.11214 C 0.05781 0.12902 0.05243 0.14335 0.05243 0.16069 C 0.03976 0.16139 0.02691 0.16069 0.01424 0.16278 C 0.01267 0.16301 0.0125 0.16648 0.01111 0.16717 C 0.00868 0.16856 0.00573 0.16832 0.00312 0.16925 C -0.00017 0.17041 -0.00642 0.17341 -0.00642 0.17341 C -0.0125 0.17896 -0.0158 0.18174 -0.02066 0.18821 C -0.02188 0.14659 -0.02517 0.10682 -0.02865 0.06567 C -0.02691 -0.00509 -0.03924 0.01226 -0.02535 -0.00624 " pathEditMode="relative" ptsTypes="ffffffffffffffA">
                                      <p:cBhvr>
                                        <p:cTn id="127" dur="2000" fill="hold"/>
                                        <p:tgtEl>
                                          <p:spTgt spid="209961"/>
                                        </p:tgtEl>
                                        <p:attrNameLst>
                                          <p:attrName>ppt_x</p:attrName>
                                          <p:attrName>ppt_y</p:attrName>
                                        </p:attrNameLst>
                                      </p:cBhvr>
                                    </p:animMotion>
                                  </p:childTnLst>
                                </p:cTn>
                              </p:par>
                            </p:childTnLst>
                          </p:cTn>
                        </p:par>
                        <p:par>
                          <p:cTn id="128" fill="hold">
                            <p:stCondLst>
                              <p:cond delay="4000"/>
                            </p:stCondLst>
                            <p:childTnLst>
                              <p:par>
                                <p:cTn id="129" presetID="2" presetClass="exit" presetSubtype="9" fill="hold" grpId="2" nodeType="afterEffect">
                                  <p:stCondLst>
                                    <p:cond delay="2000"/>
                                  </p:stCondLst>
                                  <p:childTnLst>
                                    <p:anim calcmode="lin" valueType="num">
                                      <p:cBhvr additive="base">
                                        <p:cTn id="130" dur="2000"/>
                                        <p:tgtEl>
                                          <p:spTgt spid="209961"/>
                                        </p:tgtEl>
                                        <p:attrNameLst>
                                          <p:attrName>ppt_x</p:attrName>
                                        </p:attrNameLst>
                                      </p:cBhvr>
                                      <p:tavLst>
                                        <p:tav tm="0">
                                          <p:val>
                                            <p:strVal val="ppt_x"/>
                                          </p:val>
                                        </p:tav>
                                        <p:tav tm="100000">
                                          <p:val>
                                            <p:strVal val="0-ppt_w/2"/>
                                          </p:val>
                                        </p:tav>
                                      </p:tavLst>
                                    </p:anim>
                                    <p:anim calcmode="lin" valueType="num">
                                      <p:cBhvr additive="base">
                                        <p:cTn id="131" dur="2000"/>
                                        <p:tgtEl>
                                          <p:spTgt spid="209961"/>
                                        </p:tgtEl>
                                        <p:attrNameLst>
                                          <p:attrName>ppt_y</p:attrName>
                                        </p:attrNameLst>
                                      </p:cBhvr>
                                      <p:tavLst>
                                        <p:tav tm="0">
                                          <p:val>
                                            <p:strVal val="ppt_y"/>
                                          </p:val>
                                        </p:tav>
                                        <p:tav tm="100000">
                                          <p:val>
                                            <p:strVal val="0-ppt_h/2"/>
                                          </p:val>
                                        </p:tav>
                                      </p:tavLst>
                                    </p:anim>
                                    <p:set>
                                      <p:cBhvr>
                                        <p:cTn id="132" dur="1" fill="hold">
                                          <p:stCondLst>
                                            <p:cond delay="1999"/>
                                          </p:stCondLst>
                                        </p:cTn>
                                        <p:tgtEl>
                                          <p:spTgt spid="209961"/>
                                        </p:tgtEl>
                                        <p:attrNameLst>
                                          <p:attrName>style.visibility</p:attrName>
                                        </p:attrNameLst>
                                      </p:cBhvr>
                                      <p:to>
                                        <p:strVal val="hidden"/>
                                      </p:to>
                                    </p:set>
                                  </p:childTnLst>
                                </p:cTn>
                              </p:par>
                            </p:childTnLst>
                          </p:cTn>
                        </p:par>
                      </p:childTnLst>
                    </p:cTn>
                  </p:par>
                  <p:par>
                    <p:cTn id="133" fill="hold">
                      <p:stCondLst>
                        <p:cond delay="indefinite"/>
                      </p:stCondLst>
                      <p:childTnLst>
                        <p:par>
                          <p:cTn id="134" fill="hold">
                            <p:stCondLst>
                              <p:cond delay="0"/>
                            </p:stCondLst>
                            <p:childTnLst>
                              <p:par>
                                <p:cTn id="135" presetID="22" presetClass="entr" presetSubtype="1" fill="hold" grpId="0" nodeType="clickEffect">
                                  <p:stCondLst>
                                    <p:cond delay="0"/>
                                  </p:stCondLst>
                                  <p:childTnLst>
                                    <p:set>
                                      <p:cBhvr>
                                        <p:cTn id="136" dur="1" fill="hold">
                                          <p:stCondLst>
                                            <p:cond delay="0"/>
                                          </p:stCondLst>
                                        </p:cTn>
                                        <p:tgtEl>
                                          <p:spTgt spid="209947"/>
                                        </p:tgtEl>
                                        <p:attrNameLst>
                                          <p:attrName>style.visibility</p:attrName>
                                        </p:attrNameLst>
                                      </p:cBhvr>
                                      <p:to>
                                        <p:strVal val="visible"/>
                                      </p:to>
                                    </p:set>
                                    <p:animEffect transition="in" filter="wipe(up)">
                                      <p:cBhvr>
                                        <p:cTn id="137" dur="2000"/>
                                        <p:tgtEl>
                                          <p:spTgt spid="209947"/>
                                        </p:tgtEl>
                                      </p:cBhvr>
                                    </p:animEffect>
                                  </p:childTnLst>
                                </p:cTn>
                              </p:par>
                            </p:childTnLst>
                          </p:cTn>
                        </p:par>
                        <p:par>
                          <p:cTn id="138" fill="hold">
                            <p:stCondLst>
                              <p:cond delay="2000"/>
                            </p:stCondLst>
                            <p:childTnLst>
                              <p:par>
                                <p:cTn id="139" presetID="1" presetClass="entr" presetSubtype="0" fill="hold" grpId="0" nodeType="afterEffect">
                                  <p:stCondLst>
                                    <p:cond delay="0"/>
                                  </p:stCondLst>
                                  <p:childTnLst>
                                    <p:set>
                                      <p:cBhvr>
                                        <p:cTn id="140" dur="1" fill="hold">
                                          <p:stCondLst>
                                            <p:cond delay="0"/>
                                          </p:stCondLst>
                                        </p:cTn>
                                        <p:tgtEl>
                                          <p:spTgt spid="209946"/>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2" presetClass="entr" presetSubtype="1" fill="hold" grpId="0" nodeType="clickEffect">
                                  <p:stCondLst>
                                    <p:cond delay="0"/>
                                  </p:stCondLst>
                                  <p:childTnLst>
                                    <p:set>
                                      <p:cBhvr>
                                        <p:cTn id="144" dur="1" fill="hold">
                                          <p:stCondLst>
                                            <p:cond delay="0"/>
                                          </p:stCondLst>
                                        </p:cTn>
                                        <p:tgtEl>
                                          <p:spTgt spid="209962"/>
                                        </p:tgtEl>
                                        <p:attrNameLst>
                                          <p:attrName>style.visibility</p:attrName>
                                        </p:attrNameLst>
                                      </p:cBhvr>
                                      <p:to>
                                        <p:strVal val="visible"/>
                                      </p:to>
                                    </p:set>
                                    <p:anim calcmode="lin" valueType="num">
                                      <p:cBhvr additive="base">
                                        <p:cTn id="145" dur="2000" fill="hold"/>
                                        <p:tgtEl>
                                          <p:spTgt spid="209962"/>
                                        </p:tgtEl>
                                        <p:attrNameLst>
                                          <p:attrName>ppt_x</p:attrName>
                                        </p:attrNameLst>
                                      </p:cBhvr>
                                      <p:tavLst>
                                        <p:tav tm="0">
                                          <p:val>
                                            <p:strVal val="#ppt_x"/>
                                          </p:val>
                                        </p:tav>
                                        <p:tav tm="100000">
                                          <p:val>
                                            <p:strVal val="#ppt_x"/>
                                          </p:val>
                                        </p:tav>
                                      </p:tavLst>
                                    </p:anim>
                                    <p:anim calcmode="lin" valueType="num">
                                      <p:cBhvr additive="base">
                                        <p:cTn id="146" dur="2000" fill="hold"/>
                                        <p:tgtEl>
                                          <p:spTgt spid="20996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36" grpId="0" animBg="1"/>
      <p:bldP spid="209937" grpId="0"/>
      <p:bldP spid="209938" grpId="0" animBg="1"/>
      <p:bldP spid="209939" grpId="0"/>
      <p:bldP spid="209940" grpId="0" animBg="1"/>
      <p:bldP spid="209941" grpId="0"/>
      <p:bldP spid="209942" grpId="0"/>
      <p:bldP spid="209943" grpId="0"/>
      <p:bldP spid="209944" grpId="0"/>
      <p:bldP spid="209945" grpId="0"/>
      <p:bldP spid="209946" grpId="0"/>
      <p:bldP spid="209947" grpId="0" animBg="1"/>
      <p:bldP spid="209948" grpId="0" animBg="1"/>
      <p:bldP spid="209949" grpId="0"/>
      <p:bldP spid="209950" grpId="0" animBg="1"/>
      <p:bldP spid="209950" grpId="1" animBg="1"/>
      <p:bldP spid="209950" grpId="2" animBg="1"/>
      <p:bldP spid="209951" grpId="0" animBg="1"/>
      <p:bldP spid="209951" grpId="1" animBg="1"/>
      <p:bldP spid="209951" grpId="2" animBg="1"/>
      <p:bldP spid="209952" grpId="0" animBg="1"/>
      <p:bldP spid="209952" grpId="1" animBg="1"/>
      <p:bldP spid="209952" grpId="2" animBg="1"/>
      <p:bldP spid="209956" grpId="0" animBg="1"/>
      <p:bldP spid="209956" grpId="1" animBg="1"/>
      <p:bldP spid="209960" grpId="0" animBg="1"/>
      <p:bldP spid="209960" grpId="1" animBg="1"/>
      <p:bldP spid="209961" grpId="0" animBg="1"/>
      <p:bldP spid="209961" grpId="1" animBg="1"/>
      <p:bldP spid="209961" grpId="2" animBg="1"/>
      <p:bldP spid="209962"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4DE70B8-88EA-44AE-B346-6A00C0FC07F7}" type="slidenum">
              <a:rPr lang="en-GB"/>
              <a:pPr/>
              <a:t>20</a:t>
            </a:fld>
            <a:endParaRPr lang="en-GB"/>
          </a:p>
        </p:txBody>
      </p:sp>
      <p:sp>
        <p:nvSpPr>
          <p:cNvPr id="211971" name="Rectangle 3"/>
          <p:cNvSpPr>
            <a:spLocks noGrp="1" noChangeArrowheads="1"/>
          </p:cNvSpPr>
          <p:nvPr>
            <p:ph type="body" idx="1"/>
          </p:nvPr>
        </p:nvSpPr>
        <p:spPr>
          <a:xfrm>
            <a:off x="684213" y="1268413"/>
            <a:ext cx="7772400" cy="4835525"/>
          </a:xfrm>
        </p:spPr>
        <p:txBody>
          <a:bodyPr/>
          <a:lstStyle/>
          <a:p>
            <a:pPr>
              <a:lnSpc>
                <a:spcPct val="90000"/>
              </a:lnSpc>
              <a:buFontTx/>
              <a:buNone/>
            </a:pPr>
            <a:r>
              <a:rPr lang="en-US" sz="2800" dirty="0"/>
              <a:t>If (and only if) you add the assumption</a:t>
            </a:r>
          </a:p>
          <a:p>
            <a:pPr lvl="1">
              <a:lnSpc>
                <a:spcPct val="90000"/>
              </a:lnSpc>
            </a:pPr>
            <a:r>
              <a:rPr lang="en-US" sz="2400" dirty="0"/>
              <a:t>Individuals have identical utility function</a:t>
            </a:r>
          </a:p>
          <a:p>
            <a:pPr>
              <a:lnSpc>
                <a:spcPct val="90000"/>
              </a:lnSpc>
              <a:buFontTx/>
              <a:buNone/>
            </a:pPr>
            <a:r>
              <a:rPr lang="en-US" sz="2800" dirty="0"/>
              <a:t> </a:t>
            </a:r>
          </a:p>
          <a:p>
            <a:pPr>
              <a:lnSpc>
                <a:spcPct val="90000"/>
              </a:lnSpc>
              <a:buFontTx/>
              <a:buNone/>
            </a:pPr>
            <a:r>
              <a:rPr lang="en-US" sz="2800" dirty="0"/>
              <a:t>Then optimal distribution is </a:t>
            </a:r>
            <a:r>
              <a:rPr lang="en-US" sz="2800" i="1" dirty="0"/>
              <a:t>complete equality</a:t>
            </a:r>
          </a:p>
          <a:p>
            <a:pPr>
              <a:lnSpc>
                <a:spcPct val="90000"/>
              </a:lnSpc>
              <a:buFontTx/>
              <a:buNone/>
            </a:pPr>
            <a:endParaRPr lang="en-US" sz="2800" dirty="0"/>
          </a:p>
          <a:p>
            <a:pPr>
              <a:lnSpc>
                <a:spcPct val="90000"/>
              </a:lnSpc>
              <a:buFontTx/>
              <a:buNone/>
            </a:pPr>
            <a:r>
              <a:rPr lang="en-US" sz="2800" dirty="0"/>
              <a:t>If  </a:t>
            </a:r>
            <a:r>
              <a:rPr lang="en-US" sz="2800" b="1" dirty="0"/>
              <a:t>U</a:t>
            </a:r>
            <a:r>
              <a:rPr lang="en-US" sz="2800" b="1" baseline="-25000" dirty="0"/>
              <a:t>1</a:t>
            </a:r>
            <a:r>
              <a:rPr lang="en-US" sz="2800" b="1" dirty="0"/>
              <a:t>(I) = U</a:t>
            </a:r>
            <a:r>
              <a:rPr lang="en-US" sz="2800" b="1" baseline="-25000" dirty="0"/>
              <a:t>2</a:t>
            </a:r>
            <a:r>
              <a:rPr lang="en-US" sz="2800" b="1" dirty="0"/>
              <a:t>(I) for all I</a:t>
            </a:r>
            <a:r>
              <a:rPr lang="en-US" sz="2800" dirty="0"/>
              <a:t>, and </a:t>
            </a:r>
            <a:r>
              <a:rPr lang="en-US" sz="2800" b="1" dirty="0"/>
              <a:t> U’’&lt; 0, </a:t>
            </a:r>
            <a:r>
              <a:rPr lang="en-US" sz="2800" dirty="0"/>
              <a:t>then</a:t>
            </a:r>
          </a:p>
          <a:p>
            <a:pPr>
              <a:lnSpc>
                <a:spcPct val="90000"/>
              </a:lnSpc>
              <a:buFontTx/>
              <a:buNone/>
            </a:pPr>
            <a:r>
              <a:rPr lang="en-US" sz="2800" b="1" dirty="0"/>
              <a:t>MU</a:t>
            </a:r>
            <a:r>
              <a:rPr lang="en-US" sz="2800" b="1" baseline="-25000" dirty="0"/>
              <a:t>1</a:t>
            </a:r>
            <a:r>
              <a:rPr lang="en-US" sz="2800" b="1" dirty="0"/>
              <a:t>(I</a:t>
            </a:r>
            <a:r>
              <a:rPr lang="en-US" sz="2800" b="1" baseline="-25000" dirty="0"/>
              <a:t>1</a:t>
            </a:r>
            <a:r>
              <a:rPr lang="en-US" sz="2800" b="1" dirty="0"/>
              <a:t>) = MU</a:t>
            </a:r>
            <a:r>
              <a:rPr lang="en-US" sz="2800" b="1" baseline="-25000" dirty="0"/>
              <a:t>2</a:t>
            </a:r>
            <a:r>
              <a:rPr lang="en-US" sz="2800" b="1" dirty="0"/>
              <a:t>(I</a:t>
            </a:r>
            <a:r>
              <a:rPr lang="en-US" sz="2800" b="1" baseline="-25000" dirty="0"/>
              <a:t>2</a:t>
            </a:r>
            <a:r>
              <a:rPr lang="en-US" sz="2800" b="1" dirty="0"/>
              <a:t>) if and only if I</a:t>
            </a:r>
            <a:r>
              <a:rPr lang="en-US" sz="2800" b="1" baseline="-25000" dirty="0"/>
              <a:t>1 </a:t>
            </a:r>
            <a:r>
              <a:rPr lang="en-US" sz="2800" b="1" dirty="0"/>
              <a:t>=</a:t>
            </a:r>
            <a:r>
              <a:rPr lang="en-US" sz="2800" dirty="0"/>
              <a:t> </a:t>
            </a:r>
            <a:r>
              <a:rPr lang="en-US" sz="2800" b="1" dirty="0"/>
              <a:t>I</a:t>
            </a:r>
            <a:r>
              <a:rPr lang="en-US" sz="2800" b="1" baseline="-25000" dirty="0"/>
              <a:t>2</a:t>
            </a:r>
            <a:endParaRPr lang="en-US" sz="2800" dirty="0"/>
          </a:p>
          <a:p>
            <a:pPr>
              <a:lnSpc>
                <a:spcPct val="90000"/>
              </a:lnSpc>
              <a:buFontTx/>
              <a:buNone/>
            </a:pPr>
            <a:endParaRPr lang="en-US" sz="2800" dirty="0"/>
          </a:p>
          <a:p>
            <a:pPr>
              <a:lnSpc>
                <a:spcPct val="90000"/>
              </a:lnSpc>
              <a:buFontTx/>
              <a:buNone/>
            </a:pPr>
            <a:r>
              <a:rPr lang="en-US" sz="2400" dirty="0"/>
              <a:t>(Note: mathematically, MU</a:t>
            </a:r>
            <a:r>
              <a:rPr lang="en-US" sz="2400" baseline="-25000" dirty="0"/>
              <a:t>1</a:t>
            </a:r>
            <a:r>
              <a:rPr lang="en-US" sz="2400" dirty="0"/>
              <a:t>(I</a:t>
            </a:r>
            <a:r>
              <a:rPr lang="en-US" sz="2400" baseline="-25000" dirty="0"/>
              <a:t>1</a:t>
            </a:r>
            <a:r>
              <a:rPr lang="en-US" sz="2400" dirty="0"/>
              <a:t>) = MU</a:t>
            </a:r>
            <a:r>
              <a:rPr lang="en-US" sz="2400" baseline="-25000" dirty="0"/>
              <a:t>2</a:t>
            </a:r>
            <a:r>
              <a:rPr lang="en-US" sz="2400" dirty="0"/>
              <a:t>(I</a:t>
            </a:r>
            <a:r>
              <a:rPr lang="en-US" sz="2400" baseline="-25000" dirty="0"/>
              <a:t>2</a:t>
            </a:r>
            <a:r>
              <a:rPr lang="en-US" sz="2400" dirty="0"/>
              <a:t>) is the result of </a:t>
            </a:r>
            <a:r>
              <a:rPr lang="en-US" sz="2400" dirty="0" err="1"/>
              <a:t>maximisation</a:t>
            </a:r>
            <a:r>
              <a:rPr lang="en-US" sz="2400" dirty="0"/>
              <a:t> of W under constraint I</a:t>
            </a:r>
            <a:r>
              <a:rPr lang="en-US" sz="2400" baseline="-25000" dirty="0"/>
              <a:t>1 </a:t>
            </a:r>
            <a:r>
              <a:rPr lang="en-US" sz="2400" dirty="0"/>
              <a:t>+ I</a:t>
            </a:r>
            <a:r>
              <a:rPr lang="en-US" sz="2400" baseline="-25000" dirty="0"/>
              <a:t>2</a:t>
            </a:r>
            <a:r>
              <a:rPr lang="en-US" sz="2400" dirty="0"/>
              <a:t> = Fixed</a:t>
            </a:r>
            <a:br>
              <a:rPr lang="en-US" sz="2400" dirty="0"/>
            </a:br>
            <a:r>
              <a:rPr lang="en-US" sz="2400" dirty="0">
                <a:sym typeface="Wingdings" pitchFamily="2" charset="2"/>
              </a:rPr>
              <a:t> Lagrange! )</a:t>
            </a:r>
          </a:p>
          <a:p>
            <a:pPr>
              <a:lnSpc>
                <a:spcPct val="90000"/>
              </a:lnSpc>
              <a:buFontTx/>
              <a:buNone/>
            </a:pPr>
            <a:r>
              <a:rPr lang="en-US" sz="2400" dirty="0">
                <a:sym typeface="Wingdings" pitchFamily="2" charset="2"/>
              </a:rPr>
              <a:t>See Exercise set 4</a:t>
            </a:r>
            <a:endParaRPr lang="en-US" sz="2400" dirty="0"/>
          </a:p>
        </p:txBody>
      </p:sp>
      <p:sp>
        <p:nvSpPr>
          <p:cNvPr id="211972"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a:effectLst/>
        </p:spPr>
        <p:txBody>
          <a:bodyPr wrap="none" anchor="ctr"/>
          <a:lstStyle/>
          <a:p>
            <a:pPr algn="ctr">
              <a:spcBef>
                <a:spcPct val="0"/>
              </a:spcBef>
              <a:buFontTx/>
              <a:buNone/>
            </a:pPr>
            <a:r>
              <a:rPr lang="en-US" sz="1400" b="1">
                <a:latin typeface="Tahoma" charset="0"/>
              </a:rPr>
              <a:t>0</a:t>
            </a:r>
          </a:p>
        </p:txBody>
      </p:sp>
      <p:sp>
        <p:nvSpPr>
          <p:cNvPr id="211974" name="Rectangle 6"/>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lgn="ctr">
              <a:spcBef>
                <a:spcPct val="0"/>
              </a:spcBef>
              <a:buFontTx/>
              <a:buNone/>
            </a:pPr>
            <a:r>
              <a:rPr lang="en-US" sz="3600">
                <a:solidFill>
                  <a:schemeClr val="tx2"/>
                </a:solidFill>
              </a:rPr>
              <a:t>Optimal Redistribution</a:t>
            </a:r>
            <a:endParaRPr lang="nl-NL" sz="3600">
              <a:solidFill>
                <a:schemeClr val="tx2"/>
              </a:solidFill>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1971">
                                            <p:txEl>
                                              <p:pRg st="5" end="5"/>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1971">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1971">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197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1" grpId="0" uiExpand="1" build="p" bldLvl="4"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B9AC51AD-9672-4AC0-8F90-F6C2C651528D}" type="slidenum">
              <a:rPr lang="en-GB"/>
              <a:pPr/>
              <a:t>21</a:t>
            </a:fld>
            <a:endParaRPr lang="en-GB"/>
          </a:p>
        </p:txBody>
      </p:sp>
      <p:sp>
        <p:nvSpPr>
          <p:cNvPr id="215043" name="Rectangle 3"/>
          <p:cNvSpPr>
            <a:spLocks noGrp="1" noChangeArrowheads="1"/>
          </p:cNvSpPr>
          <p:nvPr>
            <p:ph type="body" idx="1"/>
          </p:nvPr>
        </p:nvSpPr>
        <p:spPr>
          <a:xfrm>
            <a:off x="685800" y="1412875"/>
            <a:ext cx="7772400" cy="4683125"/>
          </a:xfrm>
        </p:spPr>
        <p:txBody>
          <a:bodyPr/>
          <a:lstStyle/>
          <a:p>
            <a:pPr marL="609600" indent="-609600">
              <a:lnSpc>
                <a:spcPct val="80000"/>
              </a:lnSpc>
              <a:buFontTx/>
              <a:buNone/>
            </a:pPr>
            <a:r>
              <a:rPr lang="en-US" sz="2400" dirty="0"/>
              <a:t>In general:</a:t>
            </a:r>
            <a:br>
              <a:rPr lang="en-US" sz="2400" dirty="0"/>
            </a:br>
            <a:r>
              <a:rPr lang="en-US" sz="2400" dirty="0"/>
              <a:t>Shape of SW-function determines optimal redistribution</a:t>
            </a:r>
            <a:br>
              <a:rPr lang="en-US" sz="2400" dirty="0"/>
            </a:br>
            <a:r>
              <a:rPr lang="en-US" sz="2400" dirty="0"/>
              <a:t>Much room for disagreement (What is ‘just’ or ‘fair’?)</a:t>
            </a:r>
          </a:p>
          <a:p>
            <a:pPr marL="609600" indent="-609600">
              <a:lnSpc>
                <a:spcPct val="80000"/>
              </a:lnSpc>
              <a:buFontTx/>
              <a:buNone/>
            </a:pPr>
            <a:endParaRPr lang="en-US" sz="2400" dirty="0"/>
          </a:p>
          <a:p>
            <a:pPr marL="609600" indent="-609600">
              <a:lnSpc>
                <a:spcPct val="80000"/>
              </a:lnSpc>
              <a:buFontTx/>
              <a:buNone/>
            </a:pPr>
            <a:r>
              <a:rPr lang="en-US" sz="2400" dirty="0"/>
              <a:t>Other theories of distributive justice, including</a:t>
            </a:r>
          </a:p>
          <a:p>
            <a:pPr>
              <a:lnSpc>
                <a:spcPct val="80000"/>
              </a:lnSpc>
              <a:buFontTx/>
              <a:buChar char="-"/>
            </a:pPr>
            <a:r>
              <a:rPr lang="en-US" sz="2400" dirty="0"/>
              <a:t>Rawls (minimax and ‘veil of ignorance’):</a:t>
            </a:r>
          </a:p>
          <a:p>
            <a:pPr marL="609600" indent="-609600" algn="ctr">
              <a:lnSpc>
                <a:spcPct val="80000"/>
              </a:lnSpc>
              <a:buFontTx/>
              <a:buNone/>
            </a:pPr>
            <a:r>
              <a:rPr lang="en-US" sz="2400" b="1" dirty="0">
                <a:solidFill>
                  <a:schemeClr val="tx2"/>
                </a:solidFill>
              </a:rPr>
              <a:t>W = MIN (U</a:t>
            </a:r>
            <a:r>
              <a:rPr lang="en-US" sz="2400" b="1" baseline="-25000" dirty="0">
                <a:solidFill>
                  <a:schemeClr val="tx2"/>
                </a:solidFill>
              </a:rPr>
              <a:t>1</a:t>
            </a:r>
            <a:r>
              <a:rPr lang="en-US" sz="2400" b="1" dirty="0">
                <a:solidFill>
                  <a:schemeClr val="tx2"/>
                </a:solidFill>
              </a:rPr>
              <a:t>, U</a:t>
            </a:r>
            <a:r>
              <a:rPr lang="en-US" sz="2400" b="1" baseline="-25000" dirty="0">
                <a:solidFill>
                  <a:schemeClr val="tx2"/>
                </a:solidFill>
              </a:rPr>
              <a:t>2</a:t>
            </a:r>
            <a:r>
              <a:rPr lang="en-US" sz="2400" b="1" dirty="0">
                <a:solidFill>
                  <a:schemeClr val="tx2"/>
                </a:solidFill>
              </a:rPr>
              <a:t>, ,,,, U</a:t>
            </a:r>
            <a:r>
              <a:rPr lang="en-US" sz="2400" b="1" baseline="-25000" dirty="0">
                <a:solidFill>
                  <a:schemeClr val="tx2"/>
                </a:solidFill>
              </a:rPr>
              <a:t>n</a:t>
            </a:r>
            <a:r>
              <a:rPr lang="en-US" sz="2400" b="1" dirty="0">
                <a:solidFill>
                  <a:schemeClr val="tx2"/>
                </a:solidFill>
              </a:rPr>
              <a:t>)</a:t>
            </a:r>
          </a:p>
          <a:p>
            <a:pPr marL="609600" indent="-609600">
              <a:lnSpc>
                <a:spcPct val="80000"/>
              </a:lnSpc>
              <a:buFontTx/>
              <a:buNone/>
            </a:pPr>
            <a:endParaRPr lang="en-US" sz="900" dirty="0"/>
          </a:p>
          <a:p>
            <a:pPr>
              <a:lnSpc>
                <a:spcPct val="80000"/>
              </a:lnSpc>
              <a:buFontTx/>
              <a:buChar char="-"/>
            </a:pPr>
            <a:r>
              <a:rPr lang="en-US" sz="2400" dirty="0"/>
              <a:t>Egalitarianism</a:t>
            </a:r>
          </a:p>
          <a:p>
            <a:pPr>
              <a:lnSpc>
                <a:spcPct val="80000"/>
              </a:lnSpc>
              <a:buFontTx/>
              <a:buChar char="-"/>
            </a:pPr>
            <a:r>
              <a:rPr lang="en-US" sz="2400" dirty="0"/>
              <a:t>Capabilities approach (Sen)</a:t>
            </a:r>
          </a:p>
          <a:p>
            <a:pPr>
              <a:lnSpc>
                <a:spcPct val="80000"/>
              </a:lnSpc>
              <a:buFontTx/>
              <a:buChar char="-"/>
            </a:pPr>
            <a:r>
              <a:rPr lang="en-US" sz="2400" dirty="0"/>
              <a:t>Libertarianism</a:t>
            </a:r>
          </a:p>
          <a:p>
            <a:pPr>
              <a:lnSpc>
                <a:spcPct val="80000"/>
              </a:lnSpc>
              <a:buFontTx/>
              <a:buChar char="-"/>
            </a:pPr>
            <a:r>
              <a:rPr lang="en-US" sz="2400" dirty="0"/>
              <a:t>…</a:t>
            </a:r>
          </a:p>
        </p:txBody>
      </p:sp>
      <p:sp>
        <p:nvSpPr>
          <p:cNvPr id="215045" name="Rectangle 5"/>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lgn="ctr">
              <a:spcBef>
                <a:spcPct val="0"/>
              </a:spcBef>
              <a:buFontTx/>
              <a:buNone/>
            </a:pPr>
            <a:r>
              <a:rPr lang="en-US" sz="3600">
                <a:solidFill>
                  <a:schemeClr val="tx2"/>
                </a:solidFill>
              </a:rPr>
              <a:t>Optimal Redistribution</a:t>
            </a:r>
            <a:endParaRPr lang="nl-NL" sz="3600">
              <a:solidFill>
                <a:schemeClr val="tx2"/>
              </a:solidFill>
            </a:endParaRPr>
          </a:p>
        </p:txBody>
      </p:sp>
    </p:spTree>
    <p:extLst>
      <p:ext uri="{BB962C8B-B14F-4D97-AF65-F5344CB8AC3E}">
        <p14:creationId xmlns:p14="http://schemas.microsoft.com/office/powerpoint/2010/main" val="1829629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4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504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504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504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504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1504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B9AC51AD-9672-4AC0-8F90-F6C2C651528D}" type="slidenum">
              <a:rPr lang="en-GB"/>
              <a:pPr/>
              <a:t>22</a:t>
            </a:fld>
            <a:endParaRPr lang="en-GB"/>
          </a:p>
        </p:txBody>
      </p:sp>
      <p:sp>
        <p:nvSpPr>
          <p:cNvPr id="215043" name="Rectangle 3"/>
          <p:cNvSpPr>
            <a:spLocks noGrp="1" noChangeArrowheads="1"/>
          </p:cNvSpPr>
          <p:nvPr>
            <p:ph type="body" idx="1"/>
          </p:nvPr>
        </p:nvSpPr>
        <p:spPr>
          <a:xfrm>
            <a:off x="685800" y="1412875"/>
            <a:ext cx="7772400" cy="4683125"/>
          </a:xfrm>
        </p:spPr>
        <p:txBody>
          <a:bodyPr/>
          <a:lstStyle/>
          <a:p>
            <a:pPr marL="609600" indent="-609600">
              <a:lnSpc>
                <a:spcPct val="80000"/>
              </a:lnSpc>
              <a:buFontTx/>
              <a:buNone/>
            </a:pPr>
            <a:r>
              <a:rPr lang="en-US" sz="2400" dirty="0"/>
              <a:t>Complications:</a:t>
            </a:r>
          </a:p>
          <a:p>
            <a:pPr>
              <a:lnSpc>
                <a:spcPct val="80000"/>
              </a:lnSpc>
              <a:buFontTx/>
              <a:buChar char="-"/>
            </a:pPr>
            <a:r>
              <a:rPr lang="en-US" sz="2400" dirty="0"/>
              <a:t>What if people differ in preferences (for instance relative preferences between income and leisure)?</a:t>
            </a:r>
          </a:p>
          <a:p>
            <a:pPr>
              <a:lnSpc>
                <a:spcPct val="80000"/>
              </a:lnSpc>
              <a:buFontTx/>
              <a:buChar char="-"/>
            </a:pPr>
            <a:r>
              <a:rPr lang="en-US" sz="2400" dirty="0"/>
              <a:t>Differences in outcomes due to (good vs bad) luck should be reduced.</a:t>
            </a:r>
            <a:br>
              <a:rPr lang="en-US" sz="2400" dirty="0"/>
            </a:br>
            <a:r>
              <a:rPr lang="en-US" sz="2400" dirty="0"/>
              <a:t>But: what about differences in outcomes due to:</a:t>
            </a:r>
          </a:p>
          <a:p>
            <a:pPr lvl="1">
              <a:lnSpc>
                <a:spcPct val="80000"/>
              </a:lnSpc>
              <a:buFontTx/>
              <a:buChar char="-"/>
            </a:pPr>
            <a:r>
              <a:rPr lang="en-US" sz="2400" dirty="0"/>
              <a:t>Differences in effort?</a:t>
            </a:r>
          </a:p>
          <a:p>
            <a:pPr lvl="1">
              <a:lnSpc>
                <a:spcPct val="80000"/>
              </a:lnSpc>
              <a:buFontTx/>
              <a:buChar char="-"/>
            </a:pPr>
            <a:r>
              <a:rPr lang="en-US" sz="2400" dirty="0"/>
              <a:t>Differences in (innate) ability? </a:t>
            </a:r>
          </a:p>
          <a:p>
            <a:pPr lvl="1">
              <a:lnSpc>
                <a:spcPct val="80000"/>
              </a:lnSpc>
              <a:buFontTx/>
              <a:buChar char="-"/>
            </a:pPr>
            <a:r>
              <a:rPr lang="en-US" sz="2400" dirty="0"/>
              <a:t>Differences in birthplace?</a:t>
            </a:r>
          </a:p>
          <a:p>
            <a:pPr lvl="1">
              <a:lnSpc>
                <a:spcPct val="80000"/>
              </a:lnSpc>
              <a:buFontTx/>
              <a:buChar char="-"/>
            </a:pPr>
            <a:r>
              <a:rPr lang="en-US" sz="2400" dirty="0"/>
              <a:t>Differences in parental income / wealth (e.g. inheritances)? </a:t>
            </a:r>
          </a:p>
          <a:p>
            <a:pPr>
              <a:lnSpc>
                <a:spcPct val="80000"/>
              </a:lnSpc>
              <a:buFontTx/>
              <a:buChar char="-"/>
            </a:pPr>
            <a:r>
              <a:rPr lang="en-US" sz="2400" dirty="0"/>
              <a:t>Relative importance of ability, choices (incl. effort), and luck in determining outcomes?</a:t>
            </a:r>
          </a:p>
          <a:p>
            <a:pPr>
              <a:lnSpc>
                <a:spcPct val="80000"/>
              </a:lnSpc>
              <a:buFontTx/>
              <a:buChar char="-"/>
            </a:pPr>
            <a:endParaRPr lang="en-US" dirty="0"/>
          </a:p>
        </p:txBody>
      </p:sp>
      <p:sp>
        <p:nvSpPr>
          <p:cNvPr id="215045" name="Rectangle 5"/>
          <p:cNvSpPr>
            <a:spLocks noChangeArrowheads="1"/>
          </p:cNvSpPr>
          <p:nvPr/>
        </p:nvSpPr>
        <p:spPr bwMode="auto">
          <a:xfrm>
            <a:off x="611188" y="260350"/>
            <a:ext cx="7847012" cy="720725"/>
          </a:xfrm>
          <a:prstGeom prst="rect">
            <a:avLst/>
          </a:prstGeom>
          <a:noFill/>
          <a:ln w="9525">
            <a:noFill/>
            <a:miter lim="800000"/>
            <a:headEnd/>
            <a:tailEnd/>
          </a:ln>
          <a:effectLst/>
        </p:spPr>
        <p:txBody>
          <a:bodyPr anchor="ctr"/>
          <a:lstStyle/>
          <a:p>
            <a:pPr marL="536575" indent="-536575" algn="ctr">
              <a:spcBef>
                <a:spcPct val="0"/>
              </a:spcBef>
              <a:buFontTx/>
              <a:buNone/>
            </a:pPr>
            <a:r>
              <a:rPr lang="en-US" sz="3600">
                <a:solidFill>
                  <a:schemeClr val="tx2"/>
                </a:solidFill>
              </a:rPr>
              <a:t>Optimal Redistribution</a:t>
            </a:r>
            <a:endParaRPr lang="nl-NL" sz="3600">
              <a:solidFill>
                <a:schemeClr val="tx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14884787-5A04-49C6-B77F-FF73A77280A4}" type="slidenum">
              <a:rPr lang="en-GB"/>
              <a:pPr/>
              <a:t>23</a:t>
            </a:fld>
            <a:endParaRPr lang="en-GB"/>
          </a:p>
        </p:txBody>
      </p:sp>
      <p:sp>
        <p:nvSpPr>
          <p:cNvPr id="161795" name="Rectangle 3"/>
          <p:cNvSpPr>
            <a:spLocks noGrp="1" noChangeArrowheads="1"/>
          </p:cNvSpPr>
          <p:nvPr>
            <p:ph type="body" idx="1"/>
          </p:nvPr>
        </p:nvSpPr>
        <p:spPr>
          <a:xfrm>
            <a:off x="685800" y="1341438"/>
            <a:ext cx="7772400" cy="4754562"/>
          </a:xfrm>
        </p:spPr>
        <p:txBody>
          <a:bodyPr/>
          <a:lstStyle/>
          <a:p>
            <a:pPr>
              <a:lnSpc>
                <a:spcPct val="90000"/>
              </a:lnSpc>
              <a:buFontTx/>
              <a:buNone/>
            </a:pPr>
            <a:r>
              <a:rPr lang="en-US" sz="2800" dirty="0"/>
              <a:t>Why is most redistribution done by the government?</a:t>
            </a:r>
          </a:p>
          <a:p>
            <a:pPr>
              <a:lnSpc>
                <a:spcPct val="90000"/>
              </a:lnSpc>
              <a:buFontTx/>
              <a:buNone/>
            </a:pPr>
            <a:endParaRPr lang="en-US" sz="2800" dirty="0"/>
          </a:p>
          <a:p>
            <a:pPr>
              <a:lnSpc>
                <a:spcPct val="90000"/>
              </a:lnSpc>
              <a:buFontTx/>
              <a:buNone/>
            </a:pPr>
            <a:r>
              <a:rPr lang="en-US" sz="2800" dirty="0"/>
              <a:t>Note: there is private redistribution!</a:t>
            </a:r>
          </a:p>
          <a:p>
            <a:pPr lvl="1">
              <a:lnSpc>
                <a:spcPct val="90000"/>
              </a:lnSpc>
            </a:pPr>
            <a:r>
              <a:rPr lang="en-US" sz="2400" dirty="0"/>
              <a:t>Charities; (Religious) communities; Families</a:t>
            </a:r>
          </a:p>
          <a:p>
            <a:pPr>
              <a:lnSpc>
                <a:spcPct val="90000"/>
              </a:lnSpc>
              <a:buFontTx/>
              <a:buNone/>
            </a:pPr>
            <a:endParaRPr lang="en-US" sz="2800" dirty="0"/>
          </a:p>
          <a:p>
            <a:pPr>
              <a:lnSpc>
                <a:spcPct val="90000"/>
              </a:lnSpc>
              <a:buFontTx/>
              <a:buNone/>
            </a:pPr>
            <a:r>
              <a:rPr lang="en-US" sz="2800" dirty="0"/>
              <a:t>Reason for private redistribution: Altruism</a:t>
            </a:r>
          </a:p>
          <a:p>
            <a:pPr algn="ctr">
              <a:lnSpc>
                <a:spcPct val="90000"/>
              </a:lnSpc>
              <a:buFontTx/>
              <a:buNone/>
            </a:pPr>
            <a:r>
              <a:rPr lang="en-US" sz="2800" dirty="0"/>
              <a:t>U</a:t>
            </a:r>
            <a:r>
              <a:rPr lang="en-US" sz="2800" baseline="-25000" dirty="0"/>
              <a:t>1</a:t>
            </a:r>
            <a:r>
              <a:rPr lang="en-US" sz="2800" dirty="0"/>
              <a:t> = F[I</a:t>
            </a:r>
            <a:r>
              <a:rPr lang="en-US" sz="2800" baseline="-25000" dirty="0"/>
              <a:t>1 </a:t>
            </a:r>
            <a:r>
              <a:rPr lang="en-US" sz="2800" dirty="0"/>
              <a:t>, U</a:t>
            </a:r>
            <a:r>
              <a:rPr lang="en-US" sz="2800" baseline="-25000" dirty="0"/>
              <a:t>2</a:t>
            </a:r>
            <a:r>
              <a:rPr lang="en-US" sz="2800" dirty="0"/>
              <a:t>(I</a:t>
            </a:r>
            <a:r>
              <a:rPr lang="en-US" sz="2800" baseline="-25000" dirty="0"/>
              <a:t>2</a:t>
            </a:r>
            <a:r>
              <a:rPr lang="en-US" sz="2800" dirty="0"/>
              <a:t>)]</a:t>
            </a:r>
          </a:p>
          <a:p>
            <a:pPr algn="ctr">
              <a:lnSpc>
                <a:spcPct val="90000"/>
              </a:lnSpc>
              <a:buFontTx/>
              <a:buNone/>
            </a:pPr>
            <a:endParaRPr lang="en-US" sz="1400" dirty="0"/>
          </a:p>
          <a:p>
            <a:pPr>
              <a:lnSpc>
                <a:spcPct val="90000"/>
              </a:lnSpc>
              <a:buFont typeface="Wingdings" pitchFamily="2" charset="2"/>
              <a:buChar char="à"/>
            </a:pPr>
            <a:r>
              <a:rPr lang="en-US" sz="2800" dirty="0">
                <a:sym typeface="Wingdings" pitchFamily="2" charset="2"/>
              </a:rPr>
              <a:t> </a:t>
            </a:r>
            <a:r>
              <a:rPr lang="en-US" sz="2800" b="1" dirty="0">
                <a:sym typeface="Wingdings" pitchFamily="2" charset="2"/>
              </a:rPr>
              <a:t>Pareto-efficient redistribution</a:t>
            </a:r>
            <a:br>
              <a:rPr lang="en-US" sz="2800" b="1" dirty="0">
                <a:sym typeface="Wingdings" pitchFamily="2" charset="2"/>
              </a:rPr>
            </a:br>
            <a:r>
              <a:rPr lang="en-US" sz="2000" dirty="0">
                <a:sym typeface="Wingdings" pitchFamily="2" charset="2"/>
              </a:rPr>
              <a:t>(better term would be: “Pareto-improving redistribution”)</a:t>
            </a:r>
            <a:endParaRPr lang="en-US" sz="2800" b="1" dirty="0">
              <a:sym typeface="Wingdings" pitchFamily="2" charset="2"/>
            </a:endParaRPr>
          </a:p>
          <a:p>
            <a:pPr>
              <a:lnSpc>
                <a:spcPct val="90000"/>
              </a:lnSpc>
              <a:buFont typeface="Wingdings" pitchFamily="2" charset="2"/>
              <a:buChar char="à"/>
            </a:pPr>
            <a:endParaRPr lang="en-US" sz="1400" dirty="0">
              <a:sym typeface="Wingdings" pitchFamily="2" charset="2"/>
            </a:endParaRPr>
          </a:p>
          <a:p>
            <a:pPr>
              <a:lnSpc>
                <a:spcPct val="90000"/>
              </a:lnSpc>
              <a:buFont typeface="Wingdings" pitchFamily="2" charset="2"/>
              <a:buNone/>
            </a:pPr>
            <a:r>
              <a:rPr lang="en-US" sz="2800" dirty="0">
                <a:sym typeface="Wingdings" pitchFamily="2" charset="2"/>
              </a:rPr>
              <a:t>See exercise set 4 </a:t>
            </a:r>
          </a:p>
          <a:p>
            <a:pPr>
              <a:lnSpc>
                <a:spcPct val="90000"/>
              </a:lnSpc>
              <a:buFont typeface="Wingdings" pitchFamily="2" charset="2"/>
              <a:buNone/>
            </a:pPr>
            <a:endParaRPr lang="en-US" sz="2800" dirty="0"/>
          </a:p>
        </p:txBody>
      </p:sp>
      <p:sp>
        <p:nvSpPr>
          <p:cNvPr id="161799" name="Rectangle 7"/>
          <p:cNvSpPr>
            <a:spLocks noGrp="1" noChangeArrowheads="1"/>
          </p:cNvSpPr>
          <p:nvPr>
            <p:ph type="title"/>
          </p:nvPr>
        </p:nvSpPr>
        <p:spPr>
          <a:xfrm>
            <a:off x="250825" y="260350"/>
            <a:ext cx="8642350" cy="936625"/>
          </a:xfrm>
          <a:noFill/>
          <a:ln/>
        </p:spPr>
        <p:txBody>
          <a:bodyPr/>
          <a:lstStyle/>
          <a:p>
            <a:r>
              <a:rPr lang="en-US" sz="3600"/>
              <a:t>Why Government Involvement?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179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179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1795">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179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2228E57C-95DF-4FCC-9D60-D3ABA0A8BB87}" type="slidenum">
              <a:rPr lang="en-GB"/>
              <a:pPr/>
              <a:t>24</a:t>
            </a:fld>
            <a:endParaRPr lang="en-GB"/>
          </a:p>
        </p:txBody>
      </p:sp>
      <p:sp>
        <p:nvSpPr>
          <p:cNvPr id="162819" name="Rectangle 3"/>
          <p:cNvSpPr>
            <a:spLocks noGrp="1" noChangeArrowheads="1"/>
          </p:cNvSpPr>
          <p:nvPr>
            <p:ph type="body" idx="1"/>
          </p:nvPr>
        </p:nvSpPr>
        <p:spPr>
          <a:xfrm>
            <a:off x="685800" y="1412875"/>
            <a:ext cx="7772400" cy="4683125"/>
          </a:xfrm>
        </p:spPr>
        <p:txBody>
          <a:bodyPr/>
          <a:lstStyle/>
          <a:p>
            <a:pPr marL="609600" indent="-609600">
              <a:buFontTx/>
              <a:buNone/>
            </a:pPr>
            <a:r>
              <a:rPr lang="en-US" sz="2800" dirty="0"/>
              <a:t>Why is most redistribution done by the government?</a:t>
            </a:r>
          </a:p>
          <a:p>
            <a:pPr marL="609600" indent="-609600">
              <a:buFontTx/>
              <a:buNone/>
            </a:pPr>
            <a:endParaRPr lang="en-US" sz="1000" dirty="0"/>
          </a:p>
          <a:p>
            <a:pPr marL="609600" indent="-609600">
              <a:buFontTx/>
              <a:buNone/>
            </a:pPr>
            <a:r>
              <a:rPr lang="en-US" sz="2800" dirty="0"/>
              <a:t>To answer: use framework of previous weeks</a:t>
            </a:r>
          </a:p>
          <a:p>
            <a:pPr marL="609600" indent="-609600">
              <a:buFont typeface="Wingdings" pitchFamily="2" charset="2"/>
              <a:buChar char="à"/>
            </a:pPr>
            <a:r>
              <a:rPr lang="en-US" sz="2400" dirty="0">
                <a:sym typeface="Wingdings" pitchFamily="2" charset="2"/>
              </a:rPr>
              <a:t>Is there market failure on the ‘market for redistribution’?</a:t>
            </a:r>
          </a:p>
          <a:p>
            <a:pPr marL="609600" indent="-609600">
              <a:buFont typeface="Wingdings" pitchFamily="2" charset="2"/>
              <a:buNone/>
            </a:pPr>
            <a:endParaRPr lang="en-US" sz="1200" dirty="0"/>
          </a:p>
          <a:p>
            <a:pPr marL="609600" indent="-609600">
              <a:buFontTx/>
              <a:buAutoNum type="arabicPeriod"/>
            </a:pPr>
            <a:r>
              <a:rPr lang="en-US" sz="2800" dirty="0"/>
              <a:t>Welfare state as a public good</a:t>
            </a:r>
          </a:p>
          <a:p>
            <a:pPr marL="990600" lvl="1" indent="-533400"/>
            <a:r>
              <a:rPr lang="en-US" sz="2400" dirty="0"/>
              <a:t>Rich also benefit from alleviating poverty, but large free-rider problem (see exercise 4.4)</a:t>
            </a:r>
          </a:p>
          <a:p>
            <a:pPr marL="990600" lvl="1" indent="-533400"/>
            <a:r>
              <a:rPr lang="en-US" sz="2400" dirty="0"/>
              <a:t>Government enforces contributions</a:t>
            </a:r>
          </a:p>
          <a:p>
            <a:pPr marL="990600" lvl="1" indent="-533400"/>
            <a:r>
              <a:rPr lang="en-US" sz="2400" dirty="0"/>
              <a:t>Scale effects: defining who is poor; administration</a:t>
            </a:r>
          </a:p>
          <a:p>
            <a:pPr marL="990600" lvl="1" indent="-533400">
              <a:buFontTx/>
              <a:buNone/>
            </a:pPr>
            <a:endParaRPr lang="en-US" sz="2400" dirty="0"/>
          </a:p>
          <a:p>
            <a:pPr marL="990600" lvl="1" indent="-533400"/>
            <a:endParaRPr lang="en-US" sz="2400" dirty="0"/>
          </a:p>
        </p:txBody>
      </p:sp>
      <p:sp>
        <p:nvSpPr>
          <p:cNvPr id="162820" name="Rectangle 4"/>
          <p:cNvSpPr>
            <a:spLocks noGrp="1" noChangeArrowheads="1"/>
          </p:cNvSpPr>
          <p:nvPr>
            <p:ph type="title"/>
          </p:nvPr>
        </p:nvSpPr>
        <p:spPr>
          <a:xfrm>
            <a:off x="250825" y="260350"/>
            <a:ext cx="8642350" cy="936625"/>
          </a:xfrm>
          <a:noFill/>
          <a:ln/>
        </p:spPr>
        <p:txBody>
          <a:bodyPr/>
          <a:lstStyle/>
          <a:p>
            <a:r>
              <a:rPr lang="en-US" sz="3600"/>
              <a:t>Why Government Involvement?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2819">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2819">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2819">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281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8FD3036E-4657-48FA-AA58-181EE7559C6E}" type="slidenum">
              <a:rPr lang="en-GB"/>
              <a:pPr/>
              <a:t>25</a:t>
            </a:fld>
            <a:endParaRPr lang="en-GB"/>
          </a:p>
        </p:txBody>
      </p:sp>
      <p:sp>
        <p:nvSpPr>
          <p:cNvPr id="221186" name="Rectangle 2"/>
          <p:cNvSpPr>
            <a:spLocks noGrp="1" noChangeArrowheads="1"/>
          </p:cNvSpPr>
          <p:nvPr>
            <p:ph type="body" idx="1"/>
          </p:nvPr>
        </p:nvSpPr>
        <p:spPr>
          <a:xfrm>
            <a:off x="685800" y="1412875"/>
            <a:ext cx="7772400" cy="4683125"/>
          </a:xfrm>
        </p:spPr>
        <p:txBody>
          <a:bodyPr/>
          <a:lstStyle/>
          <a:p>
            <a:pPr marL="609600" indent="-609600">
              <a:buFontTx/>
              <a:buNone/>
            </a:pPr>
            <a:endParaRPr lang="en-US" sz="1000" dirty="0"/>
          </a:p>
          <a:p>
            <a:pPr marL="609600" indent="-609600">
              <a:buFontTx/>
              <a:buAutoNum type="arabicPeriod" startAt="2"/>
            </a:pPr>
            <a:r>
              <a:rPr lang="en-US" dirty="0"/>
              <a:t>Externalities of poverty</a:t>
            </a:r>
          </a:p>
          <a:p>
            <a:pPr marL="990600" lvl="1" indent="-533400"/>
            <a:r>
              <a:rPr lang="en-US" dirty="0"/>
              <a:t>Effect of poverty on well-being of others</a:t>
            </a:r>
          </a:p>
          <a:p>
            <a:pPr marL="990600" lvl="1" indent="-533400"/>
            <a:r>
              <a:rPr lang="en-US" dirty="0"/>
              <a:t>Spill-over effects </a:t>
            </a:r>
          </a:p>
          <a:p>
            <a:pPr marL="609600" indent="-609600">
              <a:buFontTx/>
              <a:buNone/>
            </a:pPr>
            <a:endParaRPr lang="en-US" sz="1200" dirty="0"/>
          </a:p>
          <a:p>
            <a:pPr marL="609600" indent="-609600">
              <a:buFontTx/>
              <a:buAutoNum type="arabicPeriod" startAt="3"/>
            </a:pPr>
            <a:r>
              <a:rPr lang="en-US" dirty="0"/>
              <a:t>Incomplete information (?)</a:t>
            </a:r>
          </a:p>
          <a:p>
            <a:pPr marL="990600" lvl="1" indent="-533400"/>
            <a:r>
              <a:rPr lang="en-US" dirty="0"/>
              <a:t>People may be too positive about risk of becoming poor</a:t>
            </a:r>
          </a:p>
          <a:p>
            <a:pPr marL="990600" lvl="1" indent="-533400">
              <a:buFontTx/>
              <a:buNone/>
            </a:pPr>
            <a:r>
              <a:rPr lang="en-US" dirty="0">
                <a:sym typeface="Wingdings" pitchFamily="2" charset="2"/>
              </a:rPr>
              <a:t>  Paternalism</a:t>
            </a:r>
            <a:endParaRPr lang="en-US" dirty="0"/>
          </a:p>
          <a:p>
            <a:pPr marL="609600" indent="-609600">
              <a:buFontTx/>
              <a:buAutoNum type="arabicPeriod" startAt="3"/>
            </a:pPr>
            <a:endParaRPr lang="en-US" sz="1400" dirty="0"/>
          </a:p>
          <a:p>
            <a:pPr marL="990600" lvl="1" indent="-533400"/>
            <a:endParaRPr lang="en-US" dirty="0"/>
          </a:p>
        </p:txBody>
      </p:sp>
      <p:sp>
        <p:nvSpPr>
          <p:cNvPr id="221187" name="Rectangle 3"/>
          <p:cNvSpPr>
            <a:spLocks noGrp="1" noChangeArrowheads="1"/>
          </p:cNvSpPr>
          <p:nvPr>
            <p:ph type="title"/>
          </p:nvPr>
        </p:nvSpPr>
        <p:spPr>
          <a:xfrm>
            <a:off x="250825" y="260350"/>
            <a:ext cx="8642350" cy="936625"/>
          </a:xfrm>
          <a:noFill/>
          <a:ln/>
        </p:spPr>
        <p:txBody>
          <a:bodyPr/>
          <a:lstStyle/>
          <a:p>
            <a:r>
              <a:rPr lang="en-US" sz="3600"/>
              <a:t>Why Government Involvement?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118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118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118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476CE18B-C9EA-4C81-91BE-B374BADEFEB6}" type="slidenum">
              <a:rPr lang="en-GB"/>
              <a:pPr/>
              <a:t>26</a:t>
            </a:fld>
            <a:endParaRPr lang="en-GB"/>
          </a:p>
        </p:txBody>
      </p:sp>
      <p:sp>
        <p:nvSpPr>
          <p:cNvPr id="237570" name="Rectangle 2"/>
          <p:cNvSpPr>
            <a:spLocks noGrp="1" noChangeArrowheads="1"/>
          </p:cNvSpPr>
          <p:nvPr>
            <p:ph type="body" idx="1"/>
          </p:nvPr>
        </p:nvSpPr>
        <p:spPr>
          <a:xfrm>
            <a:off x="684213" y="1412875"/>
            <a:ext cx="7772400" cy="4683125"/>
          </a:xfrm>
        </p:spPr>
        <p:txBody>
          <a:bodyPr/>
          <a:lstStyle/>
          <a:p>
            <a:pPr marL="609600" indent="-609600">
              <a:buFontTx/>
              <a:buNone/>
            </a:pPr>
            <a:endParaRPr lang="en-US" sz="2800" dirty="0"/>
          </a:p>
          <a:p>
            <a:pPr marL="609600" indent="-609600">
              <a:buFontTx/>
              <a:buAutoNum type="arabicPeriod" startAt="4"/>
            </a:pPr>
            <a:r>
              <a:rPr lang="en-US" sz="2400" b="1" dirty="0"/>
              <a:t>Redistribution as poverty insurance </a:t>
            </a:r>
          </a:p>
          <a:p>
            <a:pPr marL="990600" lvl="1" indent="-533400"/>
            <a:r>
              <a:rPr lang="en-US" sz="2400" dirty="0"/>
              <a:t>Market failure due to asymmetric info: Large moral hazard and adverse selection problems in private poverty insurance</a:t>
            </a:r>
          </a:p>
          <a:p>
            <a:pPr marL="990600" lvl="1" indent="-533400">
              <a:buFont typeface="Wingdings" pitchFamily="2" charset="2"/>
              <a:buChar char="à"/>
            </a:pPr>
            <a:r>
              <a:rPr lang="en-US" sz="2400" dirty="0"/>
              <a:t>Government can impose fines for fraud; rules for job search, etc.</a:t>
            </a:r>
          </a:p>
          <a:p>
            <a:pPr marL="990600" lvl="1" indent="-533400">
              <a:buFont typeface="Wingdings" pitchFamily="2" charset="2"/>
              <a:buChar char="à"/>
            </a:pPr>
            <a:r>
              <a:rPr lang="en-US" sz="2400" dirty="0"/>
              <a:t>Government can enforce mandatory participation</a:t>
            </a:r>
          </a:p>
          <a:p>
            <a:pPr marL="457200" lvl="1" indent="0">
              <a:buNone/>
            </a:pPr>
            <a:endParaRPr lang="en-US" sz="2400" dirty="0"/>
          </a:p>
          <a:p>
            <a:pPr marL="457200" lvl="1" indent="0">
              <a:buNone/>
            </a:pPr>
            <a:r>
              <a:rPr lang="en-US" sz="2400" dirty="0"/>
              <a:t>But: also government failure!</a:t>
            </a:r>
          </a:p>
          <a:p>
            <a:pPr marL="990600" lvl="1" indent="-533400">
              <a:buFont typeface="Wingdings" pitchFamily="2" charset="2"/>
              <a:buChar char="à"/>
            </a:pPr>
            <a:endParaRPr lang="en-US" dirty="0"/>
          </a:p>
          <a:p>
            <a:pPr marL="990600" lvl="1" indent="-533400"/>
            <a:endParaRPr lang="en-US" dirty="0"/>
          </a:p>
        </p:txBody>
      </p:sp>
      <p:sp>
        <p:nvSpPr>
          <p:cNvPr id="237571" name="Rectangle 3"/>
          <p:cNvSpPr>
            <a:spLocks noGrp="1" noChangeArrowheads="1"/>
          </p:cNvSpPr>
          <p:nvPr>
            <p:ph type="title"/>
          </p:nvPr>
        </p:nvSpPr>
        <p:spPr>
          <a:xfrm>
            <a:off x="250825" y="260350"/>
            <a:ext cx="8642350" cy="936625"/>
          </a:xfrm>
          <a:noFill/>
          <a:ln/>
        </p:spPr>
        <p:txBody>
          <a:bodyPr/>
          <a:lstStyle/>
          <a:p>
            <a:r>
              <a:rPr lang="en-US" sz="3600"/>
              <a:t>Why Government Involvement?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DF5F8393-8B93-4552-899D-EDBF520BECA8}" type="slidenum">
              <a:rPr lang="en-GB"/>
              <a:pPr/>
              <a:t>27</a:t>
            </a:fld>
            <a:endParaRPr lang="en-GB"/>
          </a:p>
        </p:txBody>
      </p:sp>
      <p:sp>
        <p:nvSpPr>
          <p:cNvPr id="160770" name="Rectangle 2"/>
          <p:cNvSpPr>
            <a:spLocks noGrp="1" noChangeArrowheads="1"/>
          </p:cNvSpPr>
          <p:nvPr>
            <p:ph type="title"/>
          </p:nvPr>
        </p:nvSpPr>
        <p:spPr>
          <a:xfrm>
            <a:off x="685800" y="260350"/>
            <a:ext cx="7772400" cy="936625"/>
          </a:xfrm>
        </p:spPr>
        <p:txBody>
          <a:bodyPr/>
          <a:lstStyle/>
          <a:p>
            <a:r>
              <a:rPr lang="en-US" sz="3600"/>
              <a:t>Efficiency effects</a:t>
            </a:r>
          </a:p>
        </p:txBody>
      </p:sp>
      <p:sp>
        <p:nvSpPr>
          <p:cNvPr id="160771" name="Rectangle 3"/>
          <p:cNvSpPr>
            <a:spLocks noGrp="1" noChangeArrowheads="1"/>
          </p:cNvSpPr>
          <p:nvPr>
            <p:ph type="body" idx="1"/>
          </p:nvPr>
        </p:nvSpPr>
        <p:spPr>
          <a:xfrm>
            <a:off x="685800" y="1412875"/>
            <a:ext cx="7772400" cy="4683125"/>
          </a:xfrm>
        </p:spPr>
        <p:txBody>
          <a:bodyPr/>
          <a:lstStyle/>
          <a:p>
            <a:pPr marL="609600" indent="-609600">
              <a:buFontTx/>
              <a:buNone/>
            </a:pPr>
            <a:r>
              <a:rPr lang="en-US" sz="2800" dirty="0"/>
              <a:t>If the second fundamental theorem of welfare holds, we can separate efficiency from redistribution</a:t>
            </a:r>
          </a:p>
          <a:p>
            <a:pPr marL="609600" indent="-609600">
              <a:buFontTx/>
              <a:buNone/>
            </a:pPr>
            <a:endParaRPr lang="en-US" sz="2800" dirty="0"/>
          </a:p>
          <a:p>
            <a:pPr marL="609600" indent="-609600">
              <a:buFontTx/>
              <a:buNone/>
            </a:pPr>
            <a:r>
              <a:rPr lang="en-US" sz="2800" dirty="0"/>
              <a:t>In practice, redistribution affects efficiency, by affecting people’s </a:t>
            </a:r>
            <a:r>
              <a:rPr lang="en-US" sz="2800" dirty="0" err="1"/>
              <a:t>behaviour</a:t>
            </a:r>
            <a:r>
              <a:rPr lang="en-US" sz="2800" dirty="0"/>
              <a:t> / choices </a:t>
            </a:r>
          </a:p>
          <a:p>
            <a:pPr marL="609600" indent="-609600">
              <a:buFontTx/>
              <a:buNone/>
            </a:pPr>
            <a:r>
              <a:rPr lang="en-US" sz="2800" dirty="0"/>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DF5F8393-8B93-4552-899D-EDBF520BECA8}" type="slidenum">
              <a:rPr lang="en-GB"/>
              <a:pPr/>
              <a:t>28</a:t>
            </a:fld>
            <a:endParaRPr lang="en-GB"/>
          </a:p>
        </p:txBody>
      </p:sp>
      <p:sp>
        <p:nvSpPr>
          <p:cNvPr id="160770" name="Rectangle 2"/>
          <p:cNvSpPr>
            <a:spLocks noGrp="1" noChangeArrowheads="1"/>
          </p:cNvSpPr>
          <p:nvPr>
            <p:ph type="title"/>
          </p:nvPr>
        </p:nvSpPr>
        <p:spPr>
          <a:xfrm>
            <a:off x="685800" y="260350"/>
            <a:ext cx="7772400" cy="936625"/>
          </a:xfrm>
        </p:spPr>
        <p:txBody>
          <a:bodyPr/>
          <a:lstStyle/>
          <a:p>
            <a:r>
              <a:rPr lang="en-US" sz="3600"/>
              <a:t>Efficiency effects</a:t>
            </a:r>
          </a:p>
        </p:txBody>
      </p:sp>
      <p:sp>
        <p:nvSpPr>
          <p:cNvPr id="160771" name="Rectangle 3"/>
          <p:cNvSpPr>
            <a:spLocks noGrp="1" noChangeArrowheads="1"/>
          </p:cNvSpPr>
          <p:nvPr>
            <p:ph type="body" idx="1"/>
          </p:nvPr>
        </p:nvSpPr>
        <p:spPr>
          <a:xfrm>
            <a:off x="685800" y="1412875"/>
            <a:ext cx="7772400" cy="4683125"/>
          </a:xfrm>
        </p:spPr>
        <p:txBody>
          <a:bodyPr/>
          <a:lstStyle/>
          <a:p>
            <a:pPr marL="609600" indent="-609600">
              <a:buFontTx/>
              <a:buNone/>
            </a:pPr>
            <a:r>
              <a:rPr lang="en-US" sz="2800" dirty="0"/>
              <a:t>Four issues:</a:t>
            </a:r>
          </a:p>
          <a:p>
            <a:pPr marL="609600" indent="-609600">
              <a:buFontTx/>
              <a:buAutoNum type="arabicPeriod"/>
            </a:pPr>
            <a:r>
              <a:rPr lang="en-US" sz="2800" dirty="0"/>
              <a:t>Cash versus In-kind (see book)</a:t>
            </a:r>
          </a:p>
          <a:p>
            <a:pPr marL="990600" lvl="1" indent="-533400"/>
            <a:r>
              <a:rPr lang="en-US" sz="2400" dirty="0"/>
              <a:t>Sometimes, poor receive goods rather than cash</a:t>
            </a:r>
          </a:p>
          <a:p>
            <a:pPr marL="990600" lvl="1" indent="-533400">
              <a:buFontTx/>
              <a:buNone/>
            </a:pPr>
            <a:r>
              <a:rPr lang="en-US" sz="2400" dirty="0">
                <a:sym typeface="Wingdings" pitchFamily="2" charset="2"/>
              </a:rPr>
              <a:t>   May be less efficient, see Fig’s 12.3 &amp; 12.4 in book</a:t>
            </a:r>
            <a:endParaRPr lang="en-US" sz="2400" dirty="0"/>
          </a:p>
          <a:p>
            <a:pPr marL="990600" lvl="1" indent="-533400"/>
            <a:r>
              <a:rPr lang="en-US" sz="2400" dirty="0"/>
              <a:t>Main reason: paternalism</a:t>
            </a:r>
          </a:p>
        </p:txBody>
      </p:sp>
    </p:spTree>
    <p:extLst>
      <p:ext uri="{BB962C8B-B14F-4D97-AF65-F5344CB8AC3E}">
        <p14:creationId xmlns:p14="http://schemas.microsoft.com/office/powerpoint/2010/main" val="2283318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077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077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077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07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56AEDDDE-7BA5-42C3-902D-1C46656DEB02}" type="slidenum">
              <a:rPr lang="en-GB"/>
              <a:pPr/>
              <a:t>29</a:t>
            </a:fld>
            <a:endParaRPr lang="en-GB"/>
          </a:p>
        </p:txBody>
      </p:sp>
      <p:sp>
        <p:nvSpPr>
          <p:cNvPr id="219138" name="Rectangle 2"/>
          <p:cNvSpPr>
            <a:spLocks noGrp="1" noChangeArrowheads="1"/>
          </p:cNvSpPr>
          <p:nvPr>
            <p:ph type="title"/>
          </p:nvPr>
        </p:nvSpPr>
        <p:spPr>
          <a:xfrm>
            <a:off x="685800" y="260350"/>
            <a:ext cx="7772400" cy="936625"/>
          </a:xfrm>
        </p:spPr>
        <p:txBody>
          <a:bodyPr/>
          <a:lstStyle/>
          <a:p>
            <a:r>
              <a:rPr lang="en-US" sz="3600"/>
              <a:t>Efficiency effects</a:t>
            </a:r>
          </a:p>
        </p:txBody>
      </p:sp>
      <p:sp>
        <p:nvSpPr>
          <p:cNvPr id="219139" name="Rectangle 3"/>
          <p:cNvSpPr>
            <a:spLocks noGrp="1" noChangeArrowheads="1"/>
          </p:cNvSpPr>
          <p:nvPr>
            <p:ph type="body" idx="1"/>
          </p:nvPr>
        </p:nvSpPr>
        <p:spPr>
          <a:xfrm>
            <a:off x="685800" y="1412875"/>
            <a:ext cx="7772400" cy="4683125"/>
          </a:xfrm>
        </p:spPr>
        <p:txBody>
          <a:bodyPr/>
          <a:lstStyle/>
          <a:p>
            <a:pPr marL="261938" indent="-261938">
              <a:lnSpc>
                <a:spcPct val="90000"/>
              </a:lnSpc>
              <a:buFontTx/>
              <a:buAutoNum type="arabicPeriod" startAt="2"/>
            </a:pPr>
            <a:r>
              <a:rPr lang="en-US" sz="2800" dirty="0"/>
              <a:t>  Crowding out (see book)</a:t>
            </a:r>
          </a:p>
          <a:p>
            <a:pPr marL="449263" lvl="1" indent="-7938">
              <a:lnSpc>
                <a:spcPct val="90000"/>
              </a:lnSpc>
            </a:pPr>
            <a:r>
              <a:rPr lang="en-US" sz="2400" dirty="0"/>
              <a:t>  Public redistribution reduces incentive to initiate private </a:t>
            </a:r>
            <a:r>
              <a:rPr lang="en-US" sz="2400" dirty="0" err="1"/>
              <a:t>redistributional</a:t>
            </a:r>
            <a:r>
              <a:rPr lang="en-US" sz="2400" dirty="0"/>
              <a:t> activities</a:t>
            </a:r>
            <a:br>
              <a:rPr lang="en-US" sz="2400" dirty="0"/>
            </a:br>
            <a:endParaRPr lang="en-US" sz="1000" dirty="0"/>
          </a:p>
          <a:p>
            <a:pPr marL="449263" lvl="1" indent="-7938">
              <a:lnSpc>
                <a:spcPct val="90000"/>
              </a:lnSpc>
              <a:buFontTx/>
              <a:buNone/>
            </a:pPr>
            <a:r>
              <a:rPr lang="nl-NL" sz="2000" dirty="0"/>
              <a:t>(van Prinsterer schreef in 1851: 'Gij geeft aan de kerkelijke en bijzondere liefdadigheid een slaapdrank. Een lokaas om werkeloos te blijven. Gij brengt ze in gedurige verzoeking om met het oog op de armenzorg van de staat eigen roeping uit het oog te verliezen. Alzo vernietigt de wettelijke staats-armenzorg het vrijwillig </a:t>
            </a:r>
            <a:r>
              <a:rPr lang="nl-NL" sz="2000" dirty="0" err="1"/>
              <a:t>liefdebetoon</a:t>
            </a:r>
            <a:r>
              <a:rPr lang="nl-NL" sz="2000" dirty="0"/>
              <a:t>.’)</a:t>
            </a:r>
          </a:p>
          <a:p>
            <a:pPr marL="449263" lvl="1" indent="-7938">
              <a:lnSpc>
                <a:spcPct val="90000"/>
              </a:lnSpc>
              <a:buFontTx/>
              <a:buNone/>
            </a:pPr>
            <a:endParaRPr lang="nl-NL" sz="1200" dirty="0"/>
          </a:p>
          <a:p>
            <a:pPr marL="449263" lvl="1" indent="-7938">
              <a:lnSpc>
                <a:spcPct val="90000"/>
              </a:lnSpc>
            </a:pPr>
            <a:r>
              <a:rPr lang="en-US" sz="2400" dirty="0"/>
              <a:t>  Public social security reduces individuals’ incentive to save for ‘bad’ times and old age</a:t>
            </a:r>
          </a:p>
          <a:p>
            <a:pPr marL="449263" lvl="1" indent="-7938">
              <a:lnSpc>
                <a:spcPct val="90000"/>
              </a:lnSpc>
              <a:buFontTx/>
              <a:buNone/>
            </a:pPr>
            <a:r>
              <a:rPr lang="en-US" sz="2400" dirty="0">
                <a:sym typeface="Wingdings" pitchFamily="2" charset="2"/>
              </a:rPr>
              <a:t> Can be seen as a type of moral hazard</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913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91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AF88217D-DD1D-4F5D-AABD-64BED4F81F2D}" type="slidenum">
              <a:rPr lang="en-GB"/>
              <a:pPr/>
              <a:t>30</a:t>
            </a:fld>
            <a:endParaRPr lang="en-GB"/>
          </a:p>
        </p:txBody>
      </p:sp>
      <p:sp>
        <p:nvSpPr>
          <p:cNvPr id="220162" name="Rectangle 2"/>
          <p:cNvSpPr>
            <a:spLocks noGrp="1" noChangeArrowheads="1"/>
          </p:cNvSpPr>
          <p:nvPr>
            <p:ph type="title"/>
          </p:nvPr>
        </p:nvSpPr>
        <p:spPr>
          <a:xfrm>
            <a:off x="685800" y="260350"/>
            <a:ext cx="7772400" cy="936625"/>
          </a:xfrm>
        </p:spPr>
        <p:txBody>
          <a:bodyPr/>
          <a:lstStyle/>
          <a:p>
            <a:r>
              <a:rPr lang="en-US" sz="3600"/>
              <a:t>Efficiency effects</a:t>
            </a:r>
          </a:p>
        </p:txBody>
      </p:sp>
      <p:sp>
        <p:nvSpPr>
          <p:cNvPr id="220163" name="Rectangle 3"/>
          <p:cNvSpPr>
            <a:spLocks noGrp="1" noChangeArrowheads="1"/>
          </p:cNvSpPr>
          <p:nvPr>
            <p:ph type="body" idx="1"/>
          </p:nvPr>
        </p:nvSpPr>
        <p:spPr>
          <a:xfrm>
            <a:off x="685800" y="1412875"/>
            <a:ext cx="7772400" cy="4683125"/>
          </a:xfrm>
        </p:spPr>
        <p:txBody>
          <a:bodyPr/>
          <a:lstStyle/>
          <a:p>
            <a:pPr marL="0" indent="0">
              <a:lnSpc>
                <a:spcPct val="80000"/>
              </a:lnSpc>
              <a:buNone/>
            </a:pPr>
            <a:r>
              <a:rPr lang="en-US" sz="2400" dirty="0"/>
              <a:t>3. 	Can redistribution </a:t>
            </a:r>
            <a:r>
              <a:rPr lang="en-US" sz="2400" b="1" i="1" dirty="0"/>
              <a:t>improve</a:t>
            </a:r>
            <a:r>
              <a:rPr lang="en-US" sz="2400" dirty="0"/>
              <a:t> efficiency?</a:t>
            </a:r>
          </a:p>
          <a:p>
            <a:pPr marL="0" indent="0">
              <a:lnSpc>
                <a:spcPct val="80000"/>
              </a:lnSpc>
              <a:buNone/>
            </a:pPr>
            <a:endParaRPr lang="en-US" sz="2400" dirty="0">
              <a:sym typeface="Wingdings" pitchFamily="2" charset="2"/>
            </a:endParaRPr>
          </a:p>
          <a:p>
            <a:pPr marL="0" indent="0">
              <a:lnSpc>
                <a:spcPct val="80000"/>
              </a:lnSpc>
              <a:buNone/>
            </a:pPr>
            <a:r>
              <a:rPr lang="en-US" sz="2400" dirty="0">
                <a:sym typeface="Wingdings" pitchFamily="2" charset="2"/>
              </a:rPr>
              <a:t>Perhaps in </a:t>
            </a:r>
            <a:r>
              <a:rPr lang="en-US" sz="2400">
                <a:sym typeface="Wingdings" pitchFamily="2" charset="2"/>
              </a:rPr>
              <a:t>some cases, </a:t>
            </a:r>
            <a:r>
              <a:rPr lang="en-US" sz="2400" dirty="0">
                <a:sym typeface="Wingdings" pitchFamily="2" charset="2"/>
              </a:rPr>
              <a:t>through various channels </a:t>
            </a:r>
          </a:p>
          <a:p>
            <a:pPr>
              <a:lnSpc>
                <a:spcPct val="80000"/>
              </a:lnSpc>
              <a:buFontTx/>
              <a:buChar char="-"/>
            </a:pPr>
            <a:r>
              <a:rPr lang="en-US" sz="2400" dirty="0">
                <a:sym typeface="Wingdings" pitchFamily="2" charset="2"/>
              </a:rPr>
              <a:t>Productivity improvements due to better nutrition</a:t>
            </a:r>
          </a:p>
          <a:p>
            <a:pPr>
              <a:lnSpc>
                <a:spcPct val="80000"/>
              </a:lnSpc>
              <a:buFontTx/>
              <a:buChar char="-"/>
            </a:pPr>
            <a:r>
              <a:rPr lang="en-US" sz="2400" dirty="0">
                <a:sym typeface="Wingdings" pitchFamily="2" charset="2"/>
              </a:rPr>
              <a:t>Recent papers (</a:t>
            </a:r>
            <a:r>
              <a:rPr lang="en-US" sz="2400" dirty="0" err="1">
                <a:sym typeface="Wingdings" pitchFamily="2" charset="2"/>
              </a:rPr>
              <a:t>oa</a:t>
            </a:r>
            <a:r>
              <a:rPr lang="en-US" sz="2400" dirty="0">
                <a:sym typeface="Wingdings" pitchFamily="2" charset="2"/>
              </a:rPr>
              <a:t> by </a:t>
            </a:r>
            <a:r>
              <a:rPr lang="en-US" sz="2400" dirty="0" err="1">
                <a:sym typeface="Wingdings" pitchFamily="2" charset="2"/>
              </a:rPr>
              <a:t>Sendil</a:t>
            </a:r>
            <a:r>
              <a:rPr lang="en-US" sz="2400" dirty="0">
                <a:sym typeface="Wingdings" pitchFamily="2" charset="2"/>
              </a:rPr>
              <a:t> Mullainathan) show that poverty causally reduces quality of people’s decision-making</a:t>
            </a:r>
          </a:p>
          <a:p>
            <a:pPr>
              <a:lnSpc>
                <a:spcPct val="80000"/>
              </a:lnSpc>
              <a:buFontTx/>
              <a:buChar char="-"/>
            </a:pPr>
            <a:endParaRPr lang="en-US" sz="2400" dirty="0">
              <a:sym typeface="Wingdings" pitchFamily="2" charset="2"/>
            </a:endParaRPr>
          </a:p>
          <a:p>
            <a:pPr marL="0" indent="0">
              <a:lnSpc>
                <a:spcPct val="80000"/>
              </a:lnSpc>
              <a:buNone/>
            </a:pPr>
            <a:r>
              <a:rPr lang="en-US" sz="2400" dirty="0">
                <a:sym typeface="Wingdings" pitchFamily="2" charset="2"/>
              </a:rPr>
              <a:t>Open question: how does inequality affect efficiency?</a:t>
            </a:r>
          </a:p>
          <a:p>
            <a:pPr marL="0" indent="0">
              <a:lnSpc>
                <a:spcPct val="80000"/>
              </a:lnSpc>
              <a:buNone/>
            </a:pPr>
            <a:endParaRPr lang="en-US" sz="2400" dirty="0">
              <a:sym typeface="Wingdings" pitchFamily="2" charset="2"/>
            </a:endParaRPr>
          </a:p>
          <a:p>
            <a:pPr marL="0" indent="0">
              <a:lnSpc>
                <a:spcPct val="80000"/>
              </a:lnSpc>
              <a:buNone/>
            </a:pPr>
            <a:r>
              <a:rPr lang="en-US" sz="2400" dirty="0">
                <a:sym typeface="Wingdings" pitchFamily="2" charset="2"/>
              </a:rPr>
              <a:t>Normative prescription: any policy that improves distribution </a:t>
            </a:r>
            <a:r>
              <a:rPr lang="en-US" sz="2400" b="1" i="1" dirty="0">
                <a:sym typeface="Wingdings" pitchFamily="2" charset="2"/>
              </a:rPr>
              <a:t>and</a:t>
            </a:r>
            <a:r>
              <a:rPr lang="en-US" sz="2400" dirty="0">
                <a:sym typeface="Wingdings" pitchFamily="2" charset="2"/>
              </a:rPr>
              <a:t> efficiency should be adopted</a:t>
            </a:r>
          </a:p>
        </p:txBody>
      </p:sp>
    </p:spTree>
    <p:extLst>
      <p:ext uri="{BB962C8B-B14F-4D97-AF65-F5344CB8AC3E}">
        <p14:creationId xmlns:p14="http://schemas.microsoft.com/office/powerpoint/2010/main" val="35559828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AF88217D-DD1D-4F5D-AABD-64BED4F81F2D}" type="slidenum">
              <a:rPr lang="en-GB"/>
              <a:pPr/>
              <a:t>31</a:t>
            </a:fld>
            <a:endParaRPr lang="en-GB"/>
          </a:p>
        </p:txBody>
      </p:sp>
      <p:sp>
        <p:nvSpPr>
          <p:cNvPr id="220162" name="Rectangle 2"/>
          <p:cNvSpPr>
            <a:spLocks noGrp="1" noChangeArrowheads="1"/>
          </p:cNvSpPr>
          <p:nvPr>
            <p:ph type="title"/>
          </p:nvPr>
        </p:nvSpPr>
        <p:spPr>
          <a:xfrm>
            <a:off x="685800" y="260350"/>
            <a:ext cx="7772400" cy="936625"/>
          </a:xfrm>
        </p:spPr>
        <p:txBody>
          <a:bodyPr/>
          <a:lstStyle/>
          <a:p>
            <a:r>
              <a:rPr lang="en-US" sz="3600"/>
              <a:t>Efficiency effects</a:t>
            </a:r>
          </a:p>
        </p:txBody>
      </p:sp>
      <p:sp>
        <p:nvSpPr>
          <p:cNvPr id="220163" name="Rectangle 3"/>
          <p:cNvSpPr>
            <a:spLocks noGrp="1" noChangeArrowheads="1"/>
          </p:cNvSpPr>
          <p:nvPr>
            <p:ph type="body" idx="1"/>
          </p:nvPr>
        </p:nvSpPr>
        <p:spPr>
          <a:xfrm>
            <a:off x="685800" y="1412875"/>
            <a:ext cx="7772400" cy="4683125"/>
          </a:xfrm>
        </p:spPr>
        <p:txBody>
          <a:bodyPr/>
          <a:lstStyle/>
          <a:p>
            <a:pPr marL="0" indent="0">
              <a:lnSpc>
                <a:spcPct val="80000"/>
              </a:lnSpc>
              <a:buNone/>
            </a:pPr>
            <a:r>
              <a:rPr lang="en-US" sz="2400" dirty="0"/>
              <a:t>4. 	Effect on </a:t>
            </a:r>
            <a:r>
              <a:rPr lang="en-US" sz="2400" dirty="0" err="1"/>
              <a:t>labour</a:t>
            </a:r>
            <a:r>
              <a:rPr lang="en-US" sz="2400" dirty="0"/>
              <a:t> supply </a:t>
            </a:r>
          </a:p>
          <a:p>
            <a:pPr marL="609600" indent="-609600">
              <a:lnSpc>
                <a:spcPct val="80000"/>
              </a:lnSpc>
              <a:buFontTx/>
              <a:buNone/>
            </a:pPr>
            <a:endParaRPr lang="en-US" sz="900" dirty="0"/>
          </a:p>
          <a:p>
            <a:pPr marL="609600" indent="-609600">
              <a:lnSpc>
                <a:spcPct val="80000"/>
              </a:lnSpc>
              <a:buFontTx/>
              <a:buNone/>
            </a:pPr>
            <a:r>
              <a:rPr lang="en-US" sz="2400" dirty="0"/>
              <a:t>Generally, anti-poverty programs are ‘means-tested’:</a:t>
            </a:r>
          </a:p>
          <a:p>
            <a:pPr marL="609600" indent="-609600">
              <a:lnSpc>
                <a:spcPct val="80000"/>
              </a:lnSpc>
              <a:buFontTx/>
              <a:buNone/>
            </a:pPr>
            <a:r>
              <a:rPr lang="en-US" sz="2400" dirty="0">
                <a:sym typeface="Wingdings" pitchFamily="2" charset="2"/>
              </a:rPr>
              <a:t> </a:t>
            </a:r>
            <a:r>
              <a:rPr lang="en-US" sz="2400" dirty="0"/>
              <a:t>Eligibility depends on income</a:t>
            </a:r>
          </a:p>
          <a:p>
            <a:pPr marL="609600" indent="-609600">
              <a:lnSpc>
                <a:spcPct val="80000"/>
              </a:lnSpc>
              <a:buFontTx/>
              <a:buNone/>
            </a:pPr>
            <a:r>
              <a:rPr lang="en-US" sz="2400" dirty="0">
                <a:sym typeface="Wingdings" pitchFamily="2" charset="2"/>
              </a:rPr>
              <a:t> </a:t>
            </a:r>
            <a:r>
              <a:rPr lang="en-US" sz="2400" dirty="0"/>
              <a:t>Rich are being taxed, poor receive benefits</a:t>
            </a:r>
          </a:p>
          <a:p>
            <a:pPr marL="609600" indent="-609600">
              <a:lnSpc>
                <a:spcPct val="80000"/>
              </a:lnSpc>
              <a:buFontTx/>
              <a:buNone/>
            </a:pPr>
            <a:endParaRPr lang="en-US" sz="1000" dirty="0"/>
          </a:p>
          <a:p>
            <a:pPr marL="609600" indent="-609600">
              <a:lnSpc>
                <a:spcPct val="80000"/>
              </a:lnSpc>
              <a:buFontTx/>
              <a:buNone/>
            </a:pPr>
            <a:r>
              <a:rPr lang="en-US" sz="2400" dirty="0"/>
              <a:t>Next week: distortionary effect of taxes</a:t>
            </a:r>
          </a:p>
          <a:p>
            <a:pPr marL="609600" indent="-609600">
              <a:lnSpc>
                <a:spcPct val="80000"/>
              </a:lnSpc>
              <a:buFontTx/>
              <a:buNone/>
            </a:pPr>
            <a:endParaRPr lang="en-US" sz="1000" dirty="0"/>
          </a:p>
          <a:p>
            <a:pPr marL="609600" indent="-609600">
              <a:lnSpc>
                <a:spcPct val="80000"/>
              </a:lnSpc>
              <a:buFontTx/>
              <a:buNone/>
            </a:pPr>
            <a:r>
              <a:rPr lang="en-US" sz="2400" dirty="0"/>
              <a:t>Now: At some point benefits must be decreasing in income</a:t>
            </a:r>
          </a:p>
          <a:p>
            <a:pPr marL="609600" indent="-609600">
              <a:lnSpc>
                <a:spcPct val="80000"/>
              </a:lnSpc>
              <a:buFontTx/>
              <a:buNone/>
            </a:pPr>
            <a:r>
              <a:rPr lang="en-US" sz="2400" dirty="0">
                <a:sym typeface="Wingdings" pitchFamily="2" charset="2"/>
              </a:rPr>
              <a:t>	  Effectively, this is identical to a tax on income </a:t>
            </a:r>
          </a:p>
          <a:p>
            <a:pPr marL="609600" indent="-609600">
              <a:lnSpc>
                <a:spcPct val="80000"/>
              </a:lnSpc>
              <a:buFontTx/>
              <a:buNone/>
            </a:pPr>
            <a:endParaRPr lang="en-US" sz="1200" dirty="0">
              <a:sym typeface="Wingdings" pitchFamily="2" charset="2"/>
            </a:endParaRPr>
          </a:p>
          <a:p>
            <a:pPr marL="609600" indent="-609600">
              <a:lnSpc>
                <a:spcPct val="80000"/>
              </a:lnSpc>
              <a:buFontTx/>
              <a:buNone/>
            </a:pPr>
            <a:r>
              <a:rPr lang="en-US" sz="2400" dirty="0">
                <a:sym typeface="Wingdings" pitchFamily="2" charset="2"/>
              </a:rPr>
              <a:t>Result: people may have less incentive to earn income</a:t>
            </a:r>
          </a:p>
          <a:p>
            <a:pPr marL="609600" indent="-609600">
              <a:lnSpc>
                <a:spcPct val="80000"/>
              </a:lnSpc>
              <a:buFontTx/>
              <a:buNone/>
            </a:pPr>
            <a:endParaRPr lang="en-US" sz="1200" dirty="0">
              <a:sym typeface="Wingdings" pitchFamily="2" charset="2"/>
            </a:endParaRPr>
          </a:p>
          <a:p>
            <a:pPr marL="609600" indent="-609600">
              <a:buFontTx/>
              <a:buNone/>
            </a:pPr>
            <a:r>
              <a:rPr lang="en-US" sz="2400" dirty="0"/>
              <a:t>Note:</a:t>
            </a:r>
          </a:p>
          <a:p>
            <a:pPr marL="609600" indent="-609600">
              <a:buFontTx/>
              <a:buNone/>
            </a:pPr>
            <a:r>
              <a:rPr lang="en-US" sz="2400" dirty="0"/>
              <a:t>Effectively, we now relax assumption 3 on slide 17: ‘Total income is fixed’. </a:t>
            </a:r>
          </a:p>
          <a:p>
            <a:pPr marL="609600" indent="-609600">
              <a:lnSpc>
                <a:spcPct val="80000"/>
              </a:lnSpc>
              <a:buFontTx/>
              <a:buNone/>
            </a:pPr>
            <a:endParaRPr lang="en-US" sz="2400" dirty="0">
              <a:sym typeface="Wingdings"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016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016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016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0163">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0163">
                                            <p:txEl>
                                              <p:pRg st="13" end="1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016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7B41A5CB-64AB-4710-BD91-EAC5ADBE2A5C}" type="slidenum">
              <a:rPr lang="en-GB"/>
              <a:pPr/>
              <a:t>32</a:t>
            </a:fld>
            <a:endParaRPr lang="en-GB"/>
          </a:p>
        </p:txBody>
      </p:sp>
      <p:sp>
        <p:nvSpPr>
          <p:cNvPr id="234498" name="Rectangle 2"/>
          <p:cNvSpPr>
            <a:spLocks noGrp="1" noChangeArrowheads="1"/>
          </p:cNvSpPr>
          <p:nvPr>
            <p:ph type="title"/>
          </p:nvPr>
        </p:nvSpPr>
        <p:spPr>
          <a:xfrm>
            <a:off x="685800" y="260350"/>
            <a:ext cx="7772400" cy="936625"/>
          </a:xfrm>
        </p:spPr>
        <p:txBody>
          <a:bodyPr/>
          <a:lstStyle/>
          <a:p>
            <a:r>
              <a:rPr lang="en-US" sz="3600"/>
              <a:t>Work Incentives</a:t>
            </a:r>
          </a:p>
        </p:txBody>
      </p:sp>
      <p:sp>
        <p:nvSpPr>
          <p:cNvPr id="234499" name="Rectangle 3"/>
          <p:cNvSpPr>
            <a:spLocks noGrp="1" noChangeArrowheads="1"/>
          </p:cNvSpPr>
          <p:nvPr>
            <p:ph type="body" idx="1"/>
          </p:nvPr>
        </p:nvSpPr>
        <p:spPr>
          <a:xfrm>
            <a:off x="685800" y="1412875"/>
            <a:ext cx="7772400" cy="4683125"/>
          </a:xfrm>
        </p:spPr>
        <p:txBody>
          <a:bodyPr/>
          <a:lstStyle/>
          <a:p>
            <a:pPr marL="609600" indent="-609600">
              <a:buFontTx/>
              <a:buNone/>
            </a:pPr>
            <a:r>
              <a:rPr lang="en-US" sz="2800" dirty="0"/>
              <a:t>Consider the choice between working and leisure</a:t>
            </a:r>
          </a:p>
          <a:p>
            <a:pPr marL="609600" indent="-609600">
              <a:buFontTx/>
              <a:buNone/>
            </a:pPr>
            <a:r>
              <a:rPr lang="en-US" sz="2800" dirty="0"/>
              <a:t>Suppose utility U(y, L) increases in income y and in number of hours of leisure L</a:t>
            </a:r>
            <a:endParaRPr lang="en-US" sz="2000" dirty="0"/>
          </a:p>
          <a:p>
            <a:pPr marL="609600" indent="-609600">
              <a:buFontTx/>
              <a:buNone/>
            </a:pPr>
            <a:r>
              <a:rPr lang="en-US" sz="2800" dirty="0"/>
              <a:t>Individual has hourly wage w and T hours to divide between work and leisure</a:t>
            </a:r>
          </a:p>
          <a:p>
            <a:pPr marL="609600" indent="-609600">
              <a:buFontTx/>
              <a:buNone/>
            </a:pPr>
            <a:r>
              <a:rPr lang="en-US" sz="2800" dirty="0"/>
              <a:t>Hence, earnings E = w(T – L).</a:t>
            </a:r>
          </a:p>
          <a:p>
            <a:pPr marL="609600" indent="-609600">
              <a:buFontTx/>
              <a:buNone/>
            </a:pPr>
            <a:r>
              <a:rPr lang="en-US" sz="2800" dirty="0"/>
              <a:t>Absent redistribution, we have y = E</a:t>
            </a:r>
          </a:p>
          <a:p>
            <a:pPr marL="609600" indent="-609600">
              <a:buFontTx/>
              <a:buNone/>
            </a:pPr>
            <a:endParaRPr lang="en-US" sz="1800" dirty="0"/>
          </a:p>
          <a:p>
            <a:pPr marL="609600" indent="-609600">
              <a:buFontTx/>
              <a:buNone/>
            </a:pPr>
            <a:r>
              <a:rPr lang="en-US" sz="2800" dirty="0"/>
              <a:t>In terms of consumer theory:</a:t>
            </a:r>
          </a:p>
          <a:p>
            <a:pPr marL="609600" indent="-609600">
              <a:buFontTx/>
              <a:buNone/>
            </a:pPr>
            <a:r>
              <a:rPr lang="en-US" sz="2800" dirty="0"/>
              <a:t>Redistribution affects budget constraint</a:t>
            </a:r>
          </a:p>
          <a:p>
            <a:pPr marL="609600" indent="-609600">
              <a:buFontTx/>
              <a:buNone/>
            </a:pP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4499">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449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735774E-7CFD-46C7-84D2-1DC5A15BEC79}" type="slidenum">
              <a:rPr lang="en-GB"/>
              <a:pPr/>
              <a:t>33</a:t>
            </a:fld>
            <a:endParaRPr lang="en-GB"/>
          </a:p>
        </p:txBody>
      </p:sp>
      <p:sp>
        <p:nvSpPr>
          <p:cNvPr id="235522" name="Rectangle 2"/>
          <p:cNvSpPr>
            <a:spLocks noGrp="1" noChangeArrowheads="1"/>
          </p:cNvSpPr>
          <p:nvPr>
            <p:ph type="title"/>
          </p:nvPr>
        </p:nvSpPr>
        <p:spPr>
          <a:xfrm>
            <a:off x="685800" y="260350"/>
            <a:ext cx="7772400" cy="936625"/>
          </a:xfrm>
        </p:spPr>
        <p:txBody>
          <a:bodyPr/>
          <a:lstStyle/>
          <a:p>
            <a:r>
              <a:rPr lang="en-US" sz="3600"/>
              <a:t>Work Incentives</a:t>
            </a:r>
          </a:p>
        </p:txBody>
      </p:sp>
      <p:sp>
        <p:nvSpPr>
          <p:cNvPr id="235523" name="Rectangle 3"/>
          <p:cNvSpPr>
            <a:spLocks noGrp="1" noChangeArrowheads="1"/>
          </p:cNvSpPr>
          <p:nvPr>
            <p:ph type="body" idx="1"/>
          </p:nvPr>
        </p:nvSpPr>
        <p:spPr>
          <a:xfrm>
            <a:off x="685800" y="1412875"/>
            <a:ext cx="7772400" cy="4683125"/>
          </a:xfrm>
        </p:spPr>
        <p:txBody>
          <a:bodyPr/>
          <a:lstStyle/>
          <a:p>
            <a:pPr marL="609600" indent="-609600">
              <a:lnSpc>
                <a:spcPct val="90000"/>
              </a:lnSpc>
              <a:buFontTx/>
              <a:buNone/>
            </a:pPr>
            <a:r>
              <a:rPr lang="en-US" sz="2400" dirty="0"/>
              <a:t>Basic structure of welfare program:</a:t>
            </a:r>
          </a:p>
          <a:p>
            <a:pPr marL="609600" indent="-609600">
              <a:lnSpc>
                <a:spcPct val="90000"/>
              </a:lnSpc>
            </a:pPr>
            <a:r>
              <a:rPr lang="en-US" sz="2400" dirty="0"/>
              <a:t>Grant G in case of no earnings</a:t>
            </a:r>
          </a:p>
          <a:p>
            <a:pPr marL="609600" indent="-609600">
              <a:lnSpc>
                <a:spcPct val="90000"/>
              </a:lnSpc>
            </a:pPr>
            <a:r>
              <a:rPr lang="en-US" sz="2400" dirty="0"/>
              <a:t>Rate t at which grant is reduced per euro of recipients’ earnings E </a:t>
            </a:r>
          </a:p>
          <a:p>
            <a:pPr marL="609600" indent="-609600">
              <a:lnSpc>
                <a:spcPct val="90000"/>
              </a:lnSpc>
            </a:pPr>
            <a:r>
              <a:rPr lang="en-US" sz="2400" dirty="0"/>
              <a:t>Actual Benefit B received equals </a:t>
            </a:r>
            <a:r>
              <a:rPr lang="en-US" sz="2400" dirty="0">
                <a:sym typeface="Wingdings" pitchFamily="2" charset="2"/>
              </a:rPr>
              <a:t>B = G – </a:t>
            </a:r>
            <a:r>
              <a:rPr lang="en-US" sz="2400" dirty="0" err="1">
                <a:sym typeface="Wingdings" pitchFamily="2" charset="2"/>
              </a:rPr>
              <a:t>tE</a:t>
            </a:r>
            <a:endParaRPr lang="en-US" sz="2400" dirty="0">
              <a:sym typeface="Wingdings" pitchFamily="2" charset="2"/>
            </a:endParaRPr>
          </a:p>
          <a:p>
            <a:pPr marL="609600" indent="-609600">
              <a:lnSpc>
                <a:spcPct val="90000"/>
              </a:lnSpc>
              <a:buFont typeface="Wingdings" pitchFamily="2" charset="2"/>
              <a:buChar char="à"/>
            </a:pPr>
            <a:r>
              <a:rPr lang="en-US" sz="2400" dirty="0">
                <a:sym typeface="Wingdings" pitchFamily="2" charset="2"/>
              </a:rPr>
              <a:t>B = 0 if E </a:t>
            </a:r>
            <a:r>
              <a:rPr lang="en-US" sz="2400" dirty="0">
                <a:cs typeface="Times New Roman" pitchFamily="18" charset="0"/>
                <a:sym typeface="Wingdings" pitchFamily="2" charset="2"/>
              </a:rPr>
              <a:t>≥ G/t</a:t>
            </a:r>
            <a:r>
              <a:rPr lang="en-US" sz="2400" dirty="0">
                <a:sym typeface="Wingdings" pitchFamily="2" charset="2"/>
              </a:rPr>
              <a:t> </a:t>
            </a:r>
            <a:endParaRPr lang="en-US" sz="2400" dirty="0"/>
          </a:p>
          <a:p>
            <a:pPr marL="609600" indent="-609600">
              <a:lnSpc>
                <a:spcPct val="90000"/>
              </a:lnSpc>
              <a:buFontTx/>
              <a:buNone/>
            </a:pPr>
            <a:endParaRPr lang="en-US" sz="1000" dirty="0"/>
          </a:p>
          <a:p>
            <a:pPr marL="609600" indent="-609600">
              <a:lnSpc>
                <a:spcPct val="90000"/>
              </a:lnSpc>
              <a:buFontTx/>
              <a:buNone/>
            </a:pPr>
            <a:r>
              <a:rPr lang="en-US" sz="2400" dirty="0"/>
              <a:t>Variations:</a:t>
            </a:r>
          </a:p>
          <a:p>
            <a:pPr marL="609600" indent="-609600">
              <a:lnSpc>
                <a:spcPct val="90000"/>
              </a:lnSpc>
            </a:pPr>
            <a:r>
              <a:rPr lang="en-US" sz="2400" dirty="0"/>
              <a:t>First X euro of earnings are ‘free’</a:t>
            </a:r>
          </a:p>
          <a:p>
            <a:pPr marL="609600" indent="-609600">
              <a:lnSpc>
                <a:spcPct val="90000"/>
              </a:lnSpc>
            </a:pPr>
            <a:r>
              <a:rPr lang="en-US" sz="2400" dirty="0"/>
              <a:t>Different t’s for different earnings brackets</a:t>
            </a:r>
          </a:p>
          <a:p>
            <a:pPr marL="0" indent="0">
              <a:lnSpc>
                <a:spcPct val="90000"/>
              </a:lnSpc>
              <a:buNone/>
            </a:pPr>
            <a:endParaRPr lang="en-US" sz="2400" dirty="0"/>
          </a:p>
          <a:p>
            <a:pPr marL="0" indent="0">
              <a:lnSpc>
                <a:spcPct val="90000"/>
              </a:lnSpc>
              <a:buNone/>
            </a:pPr>
            <a:r>
              <a:rPr lang="en-US" sz="2400" dirty="0"/>
              <a:t>Income y = E + B</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2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2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2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52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4"/>
          <p:cNvSpPr>
            <a:spLocks noGrp="1"/>
          </p:cNvSpPr>
          <p:nvPr>
            <p:ph type="sldNum" sz="quarter" idx="12"/>
          </p:nvPr>
        </p:nvSpPr>
        <p:spPr/>
        <p:txBody>
          <a:bodyPr/>
          <a:lstStyle/>
          <a:p>
            <a:fld id="{EAD3A9A2-9493-4540-9B1E-56C65B98457B}" type="slidenum">
              <a:rPr lang="en-GB"/>
              <a:pPr/>
              <a:t>34</a:t>
            </a:fld>
            <a:endParaRPr lang="en-GB"/>
          </a:p>
        </p:txBody>
      </p:sp>
      <p:sp>
        <p:nvSpPr>
          <p:cNvPr id="228355" name="Line 3"/>
          <p:cNvSpPr>
            <a:spLocks noChangeShapeType="1"/>
          </p:cNvSpPr>
          <p:nvPr/>
        </p:nvSpPr>
        <p:spPr bwMode="auto">
          <a:xfrm>
            <a:off x="2051050" y="981075"/>
            <a:ext cx="0" cy="4416425"/>
          </a:xfrm>
          <a:prstGeom prst="line">
            <a:avLst/>
          </a:prstGeom>
          <a:noFill/>
          <a:ln w="9525">
            <a:solidFill>
              <a:srgbClr val="4B1500"/>
            </a:solidFill>
            <a:round/>
            <a:headEnd type="triangle" w="med" len="med"/>
            <a:tailEnd/>
          </a:ln>
          <a:effectLst/>
        </p:spPr>
        <p:txBody>
          <a:bodyPr/>
          <a:lstStyle/>
          <a:p>
            <a:endParaRPr lang="en-US"/>
          </a:p>
        </p:txBody>
      </p:sp>
      <p:sp>
        <p:nvSpPr>
          <p:cNvPr id="228356" name="Line 4"/>
          <p:cNvSpPr>
            <a:spLocks noChangeShapeType="1"/>
          </p:cNvSpPr>
          <p:nvPr/>
        </p:nvSpPr>
        <p:spPr bwMode="auto">
          <a:xfrm>
            <a:off x="2051050" y="5373688"/>
            <a:ext cx="6413500" cy="0"/>
          </a:xfrm>
          <a:prstGeom prst="line">
            <a:avLst/>
          </a:prstGeom>
          <a:noFill/>
          <a:ln w="9525">
            <a:solidFill>
              <a:srgbClr val="4B1500"/>
            </a:solidFill>
            <a:round/>
            <a:headEnd/>
            <a:tailEnd type="triangle" w="med" len="med"/>
          </a:ln>
          <a:effectLst/>
        </p:spPr>
        <p:txBody>
          <a:bodyPr/>
          <a:lstStyle/>
          <a:p>
            <a:endParaRPr lang="en-US"/>
          </a:p>
        </p:txBody>
      </p:sp>
      <p:sp>
        <p:nvSpPr>
          <p:cNvPr id="228357" name="Text Box 5"/>
          <p:cNvSpPr txBox="1">
            <a:spLocks noChangeArrowheads="1"/>
          </p:cNvSpPr>
          <p:nvPr/>
        </p:nvSpPr>
        <p:spPr bwMode="auto">
          <a:xfrm>
            <a:off x="6267450" y="5445125"/>
            <a:ext cx="287655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Hours of leisure / month</a:t>
            </a:r>
          </a:p>
        </p:txBody>
      </p:sp>
      <p:sp>
        <p:nvSpPr>
          <p:cNvPr id="228358" name="Text Box 6"/>
          <p:cNvSpPr txBox="1">
            <a:spLocks noChangeArrowheads="1"/>
          </p:cNvSpPr>
          <p:nvPr/>
        </p:nvSpPr>
        <p:spPr bwMode="auto">
          <a:xfrm rot="16200000">
            <a:off x="-1285875" y="3338513"/>
            <a:ext cx="4930775"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Income per month (= earnings + transfers)</a:t>
            </a:r>
          </a:p>
        </p:txBody>
      </p:sp>
      <p:sp>
        <p:nvSpPr>
          <p:cNvPr id="228359" name="Text Box 7"/>
          <p:cNvSpPr txBox="1">
            <a:spLocks noChangeArrowheads="1"/>
          </p:cNvSpPr>
          <p:nvPr/>
        </p:nvSpPr>
        <p:spPr bwMode="auto">
          <a:xfrm>
            <a:off x="1692275" y="5373688"/>
            <a:ext cx="325438"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0</a:t>
            </a:r>
          </a:p>
        </p:txBody>
      </p:sp>
      <p:sp>
        <p:nvSpPr>
          <p:cNvPr id="228360" name="Text Box 8"/>
          <p:cNvSpPr txBox="1">
            <a:spLocks noChangeArrowheads="1"/>
          </p:cNvSpPr>
          <p:nvPr/>
        </p:nvSpPr>
        <p:spPr bwMode="auto">
          <a:xfrm>
            <a:off x="5867400" y="5445125"/>
            <a:ext cx="339725"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T</a:t>
            </a:r>
          </a:p>
        </p:txBody>
      </p:sp>
      <p:sp>
        <p:nvSpPr>
          <p:cNvPr id="228361" name="Line 9"/>
          <p:cNvSpPr>
            <a:spLocks noChangeShapeType="1"/>
          </p:cNvSpPr>
          <p:nvPr/>
        </p:nvSpPr>
        <p:spPr bwMode="auto">
          <a:xfrm flipH="1" flipV="1">
            <a:off x="2051050" y="1412875"/>
            <a:ext cx="4033838" cy="3956050"/>
          </a:xfrm>
          <a:prstGeom prst="line">
            <a:avLst/>
          </a:prstGeom>
          <a:noFill/>
          <a:ln w="9525">
            <a:solidFill>
              <a:srgbClr val="4B1500"/>
            </a:solidFill>
            <a:round/>
            <a:headEnd/>
            <a:tailEnd/>
          </a:ln>
          <a:effectLst/>
        </p:spPr>
        <p:txBody>
          <a:bodyPr/>
          <a:lstStyle/>
          <a:p>
            <a:endParaRPr lang="en-US"/>
          </a:p>
        </p:txBody>
      </p:sp>
      <p:sp>
        <p:nvSpPr>
          <p:cNvPr id="228363" name="Text Box 11"/>
          <p:cNvSpPr txBox="1">
            <a:spLocks noChangeArrowheads="1"/>
          </p:cNvSpPr>
          <p:nvPr/>
        </p:nvSpPr>
        <p:spPr bwMode="auto">
          <a:xfrm>
            <a:off x="3132138" y="1557338"/>
            <a:ext cx="1458912" cy="396875"/>
          </a:xfrm>
          <a:prstGeom prst="rect">
            <a:avLst/>
          </a:prstGeom>
          <a:noFill/>
          <a:ln w="9525">
            <a:noFill/>
            <a:miter lim="800000"/>
            <a:headEnd/>
            <a:tailEnd/>
          </a:ln>
          <a:effectLst/>
        </p:spPr>
        <p:txBody>
          <a:bodyPr>
            <a:spAutoFit/>
          </a:bodyPr>
          <a:lstStyle/>
          <a:p>
            <a:pPr>
              <a:spcBef>
                <a:spcPct val="50000"/>
              </a:spcBef>
              <a:buFontTx/>
              <a:buNone/>
            </a:pPr>
            <a:r>
              <a:rPr lang="en-US">
                <a:solidFill>
                  <a:schemeClr val="tx2"/>
                </a:solidFill>
                <a:latin typeface="Arial" charset="0"/>
                <a:cs typeface="Arial" charset="0"/>
              </a:rPr>
              <a:t>|Slope| = w</a:t>
            </a:r>
          </a:p>
        </p:txBody>
      </p:sp>
      <p:sp>
        <p:nvSpPr>
          <p:cNvPr id="228364" name="Line 12"/>
          <p:cNvSpPr>
            <a:spLocks noChangeShapeType="1"/>
          </p:cNvSpPr>
          <p:nvPr/>
        </p:nvSpPr>
        <p:spPr bwMode="auto">
          <a:xfrm flipH="1">
            <a:off x="3059113" y="1989138"/>
            <a:ext cx="692150" cy="307975"/>
          </a:xfrm>
          <a:prstGeom prst="line">
            <a:avLst/>
          </a:prstGeom>
          <a:noFill/>
          <a:ln w="9525">
            <a:solidFill>
              <a:srgbClr val="4B1500"/>
            </a:solidFill>
            <a:round/>
            <a:headEnd/>
            <a:tailEnd type="triangle" w="med" len="med"/>
          </a:ln>
          <a:effectLst/>
        </p:spPr>
        <p:txBody>
          <a:bodyPr/>
          <a:lstStyle/>
          <a:p>
            <a:endParaRPr lang="en-US"/>
          </a:p>
        </p:txBody>
      </p:sp>
      <p:grpSp>
        <p:nvGrpSpPr>
          <p:cNvPr id="228371" name="Group 19"/>
          <p:cNvGrpSpPr>
            <a:grpSpLocks/>
          </p:cNvGrpSpPr>
          <p:nvPr/>
        </p:nvGrpSpPr>
        <p:grpSpPr bwMode="auto">
          <a:xfrm>
            <a:off x="2051050" y="1412876"/>
            <a:ext cx="3994151" cy="3197226"/>
            <a:chOff x="1283" y="1386"/>
            <a:chExt cx="2516" cy="2014"/>
          </a:xfrm>
        </p:grpSpPr>
        <p:sp>
          <p:nvSpPr>
            <p:cNvPr id="228372" name="Line 20"/>
            <p:cNvSpPr>
              <a:spLocks noChangeShapeType="1"/>
            </p:cNvSpPr>
            <p:nvPr/>
          </p:nvSpPr>
          <p:spPr bwMode="auto">
            <a:xfrm>
              <a:off x="1283" y="1386"/>
              <a:ext cx="1331" cy="1331"/>
            </a:xfrm>
            <a:prstGeom prst="line">
              <a:avLst/>
            </a:prstGeom>
            <a:noFill/>
            <a:ln w="38100">
              <a:solidFill>
                <a:schemeClr val="bg2"/>
              </a:solidFill>
              <a:round/>
              <a:headEnd/>
              <a:tailEnd/>
            </a:ln>
            <a:effectLst/>
          </p:spPr>
          <p:txBody>
            <a:bodyPr/>
            <a:lstStyle/>
            <a:p>
              <a:endParaRPr lang="en-US"/>
            </a:p>
          </p:txBody>
        </p:sp>
        <p:sp>
          <p:nvSpPr>
            <p:cNvPr id="228373" name="Line 21"/>
            <p:cNvSpPr>
              <a:spLocks noChangeShapeType="1"/>
            </p:cNvSpPr>
            <p:nvPr/>
          </p:nvSpPr>
          <p:spPr bwMode="auto">
            <a:xfrm>
              <a:off x="2614" y="2716"/>
              <a:ext cx="1185" cy="684"/>
            </a:xfrm>
            <a:prstGeom prst="line">
              <a:avLst/>
            </a:prstGeom>
            <a:noFill/>
            <a:ln w="38100">
              <a:solidFill>
                <a:schemeClr val="bg2"/>
              </a:solidFill>
              <a:round/>
              <a:headEnd/>
              <a:tailEnd/>
            </a:ln>
            <a:effectLst/>
          </p:spPr>
          <p:txBody>
            <a:bodyPr/>
            <a:lstStyle/>
            <a:p>
              <a:endParaRPr lang="en-US"/>
            </a:p>
          </p:txBody>
        </p:sp>
      </p:grpSp>
      <p:sp>
        <p:nvSpPr>
          <p:cNvPr id="228374" name="Line 22"/>
          <p:cNvSpPr>
            <a:spLocks noChangeShapeType="1"/>
          </p:cNvSpPr>
          <p:nvPr/>
        </p:nvSpPr>
        <p:spPr bwMode="auto">
          <a:xfrm>
            <a:off x="6084888" y="4652963"/>
            <a:ext cx="0" cy="730250"/>
          </a:xfrm>
          <a:prstGeom prst="line">
            <a:avLst/>
          </a:prstGeom>
          <a:noFill/>
          <a:ln w="38100">
            <a:solidFill>
              <a:schemeClr val="tx1"/>
            </a:solidFill>
            <a:prstDash val="dash"/>
            <a:round/>
            <a:headEnd/>
            <a:tailEnd/>
          </a:ln>
          <a:effectLst/>
        </p:spPr>
        <p:txBody>
          <a:bodyPr/>
          <a:lstStyle/>
          <a:p>
            <a:endParaRPr lang="en-US"/>
          </a:p>
        </p:txBody>
      </p:sp>
      <p:sp>
        <p:nvSpPr>
          <p:cNvPr id="228376" name="AutoShape 24"/>
          <p:cNvSpPr>
            <a:spLocks/>
          </p:cNvSpPr>
          <p:nvPr/>
        </p:nvSpPr>
        <p:spPr bwMode="auto">
          <a:xfrm>
            <a:off x="6227763" y="4652963"/>
            <a:ext cx="230187" cy="652462"/>
          </a:xfrm>
          <a:prstGeom prst="rightBrace">
            <a:avLst>
              <a:gd name="adj1" fmla="val 23621"/>
              <a:gd name="adj2" fmla="val 50000"/>
            </a:avLst>
          </a:prstGeom>
          <a:noFill/>
          <a:ln w="9525">
            <a:solidFill>
              <a:schemeClr val="tx1"/>
            </a:solidFill>
            <a:round/>
            <a:headEnd/>
            <a:tailEnd/>
          </a:ln>
          <a:effectLst/>
        </p:spPr>
        <p:txBody>
          <a:bodyPr wrap="none" anchor="ctr"/>
          <a:lstStyle/>
          <a:p>
            <a:endParaRPr lang="en-US"/>
          </a:p>
        </p:txBody>
      </p:sp>
      <p:sp>
        <p:nvSpPr>
          <p:cNvPr id="228377" name="Text Box 25"/>
          <p:cNvSpPr txBox="1">
            <a:spLocks noChangeArrowheads="1"/>
          </p:cNvSpPr>
          <p:nvPr/>
        </p:nvSpPr>
        <p:spPr bwMode="auto">
          <a:xfrm>
            <a:off x="6443663" y="4724400"/>
            <a:ext cx="526106" cy="400110"/>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$G</a:t>
            </a:r>
          </a:p>
        </p:txBody>
      </p:sp>
      <p:sp>
        <p:nvSpPr>
          <p:cNvPr id="228378" name="Line 26"/>
          <p:cNvSpPr>
            <a:spLocks noChangeShapeType="1"/>
          </p:cNvSpPr>
          <p:nvPr/>
        </p:nvSpPr>
        <p:spPr bwMode="auto">
          <a:xfrm>
            <a:off x="4140200" y="3500438"/>
            <a:ext cx="0" cy="1844675"/>
          </a:xfrm>
          <a:prstGeom prst="line">
            <a:avLst/>
          </a:prstGeom>
          <a:noFill/>
          <a:ln w="9525">
            <a:solidFill>
              <a:schemeClr val="tx1"/>
            </a:solidFill>
            <a:prstDash val="dash"/>
            <a:round/>
            <a:headEnd/>
            <a:tailEnd/>
          </a:ln>
          <a:effectLst/>
        </p:spPr>
        <p:txBody>
          <a:bodyPr/>
          <a:lstStyle/>
          <a:p>
            <a:endParaRPr lang="en-US"/>
          </a:p>
        </p:txBody>
      </p:sp>
      <p:sp>
        <p:nvSpPr>
          <p:cNvPr id="228379" name="Text Box 27"/>
          <p:cNvSpPr txBox="1">
            <a:spLocks noChangeArrowheads="1"/>
          </p:cNvSpPr>
          <p:nvPr/>
        </p:nvSpPr>
        <p:spPr bwMode="auto">
          <a:xfrm>
            <a:off x="3924300" y="5445125"/>
            <a:ext cx="370614" cy="400110"/>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H</a:t>
            </a:r>
          </a:p>
        </p:txBody>
      </p:sp>
      <p:sp>
        <p:nvSpPr>
          <p:cNvPr id="228380" name="Text Box 28"/>
          <p:cNvSpPr txBox="1">
            <a:spLocks noChangeArrowheads="1"/>
          </p:cNvSpPr>
          <p:nvPr/>
        </p:nvSpPr>
        <p:spPr bwMode="auto">
          <a:xfrm>
            <a:off x="5003800" y="3284538"/>
            <a:ext cx="1920875" cy="396875"/>
          </a:xfrm>
          <a:prstGeom prst="rect">
            <a:avLst/>
          </a:prstGeom>
          <a:noFill/>
          <a:ln w="9525">
            <a:noFill/>
            <a:miter lim="800000"/>
            <a:headEnd/>
            <a:tailEnd/>
          </a:ln>
          <a:effectLst/>
        </p:spPr>
        <p:txBody>
          <a:bodyPr>
            <a:spAutoFit/>
          </a:bodyPr>
          <a:lstStyle/>
          <a:p>
            <a:pPr>
              <a:spcBef>
                <a:spcPct val="50000"/>
              </a:spcBef>
              <a:buFontTx/>
              <a:buNone/>
            </a:pPr>
            <a:r>
              <a:rPr lang="en-US" dirty="0">
                <a:solidFill>
                  <a:schemeClr val="tx2"/>
                </a:solidFill>
                <a:latin typeface="Arial" charset="0"/>
                <a:cs typeface="Arial" charset="0"/>
              </a:rPr>
              <a:t>|Slope| = (1-t)w</a:t>
            </a:r>
          </a:p>
        </p:txBody>
      </p:sp>
      <p:sp>
        <p:nvSpPr>
          <p:cNvPr id="228381" name="Line 29"/>
          <p:cNvSpPr>
            <a:spLocks noChangeShapeType="1"/>
          </p:cNvSpPr>
          <p:nvPr/>
        </p:nvSpPr>
        <p:spPr bwMode="auto">
          <a:xfrm flipH="1">
            <a:off x="5076825" y="3644900"/>
            <a:ext cx="692150" cy="307975"/>
          </a:xfrm>
          <a:prstGeom prst="line">
            <a:avLst/>
          </a:prstGeom>
          <a:noFill/>
          <a:ln w="9525">
            <a:solidFill>
              <a:srgbClr val="4B1500"/>
            </a:solidFill>
            <a:round/>
            <a:headEnd/>
            <a:tailEnd type="triangle" w="med" len="med"/>
          </a:ln>
          <a:effectLst/>
        </p:spPr>
        <p:txBody>
          <a:bodyPr/>
          <a:lstStyle/>
          <a:p>
            <a:endParaRPr lang="en-US"/>
          </a:p>
        </p:txBody>
      </p:sp>
      <p:sp>
        <p:nvSpPr>
          <p:cNvPr id="228388" name="Rectangle 36"/>
          <p:cNvSpPr>
            <a:spLocks noGrp="1" noChangeArrowheads="1"/>
          </p:cNvSpPr>
          <p:nvPr>
            <p:ph type="title"/>
          </p:nvPr>
        </p:nvSpPr>
        <p:spPr>
          <a:xfrm>
            <a:off x="685800" y="260350"/>
            <a:ext cx="7772400" cy="936625"/>
          </a:xfrm>
          <a:noFill/>
          <a:ln/>
        </p:spPr>
        <p:txBody>
          <a:bodyPr/>
          <a:lstStyle/>
          <a:p>
            <a:r>
              <a:rPr lang="en-US" sz="3600" dirty="0"/>
              <a:t>Work Incentives</a:t>
            </a:r>
            <a:br>
              <a:rPr lang="en-US" sz="3600" dirty="0"/>
            </a:br>
            <a:endParaRPr lang="en-US" sz="3600" dirty="0"/>
          </a:p>
        </p:txBody>
      </p:sp>
      <p:sp>
        <p:nvSpPr>
          <p:cNvPr id="228390" name="Line 38"/>
          <p:cNvSpPr>
            <a:spLocks noChangeShapeType="1"/>
          </p:cNvSpPr>
          <p:nvPr/>
        </p:nvSpPr>
        <p:spPr bwMode="auto">
          <a:xfrm flipH="1">
            <a:off x="2051050" y="3500438"/>
            <a:ext cx="2089150" cy="0"/>
          </a:xfrm>
          <a:prstGeom prst="line">
            <a:avLst/>
          </a:prstGeom>
          <a:noFill/>
          <a:ln w="9525">
            <a:solidFill>
              <a:schemeClr val="tx1"/>
            </a:solidFill>
            <a:prstDash val="dash"/>
            <a:round/>
            <a:headEnd/>
            <a:tailEnd/>
          </a:ln>
          <a:effectLst/>
        </p:spPr>
        <p:txBody>
          <a:bodyPr/>
          <a:lstStyle/>
          <a:p>
            <a:endParaRPr lang="en-US"/>
          </a:p>
        </p:txBody>
      </p:sp>
      <p:sp>
        <p:nvSpPr>
          <p:cNvPr id="228391" name="Text Box 39"/>
          <p:cNvSpPr txBox="1">
            <a:spLocks noChangeArrowheads="1"/>
          </p:cNvSpPr>
          <p:nvPr/>
        </p:nvSpPr>
        <p:spPr bwMode="auto">
          <a:xfrm>
            <a:off x="1403350" y="3213100"/>
            <a:ext cx="524503" cy="400110"/>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G/t</a:t>
            </a:r>
          </a:p>
        </p:txBody>
      </p:sp>
      <p:sp>
        <p:nvSpPr>
          <p:cNvPr id="40" name="Text Box 10">
            <a:extLst>
              <a:ext uri="{FF2B5EF4-FFF2-40B4-BE49-F238E27FC236}">
                <a16:creationId xmlns:a16="http://schemas.microsoft.com/office/drawing/2014/main" id="{0C087096-EACE-4FD1-9A7C-2474385C0BB7}"/>
              </a:ext>
            </a:extLst>
          </p:cNvPr>
          <p:cNvSpPr txBox="1">
            <a:spLocks noChangeArrowheads="1"/>
          </p:cNvSpPr>
          <p:nvPr/>
        </p:nvSpPr>
        <p:spPr bwMode="auto">
          <a:xfrm>
            <a:off x="1546825" y="1252567"/>
            <a:ext cx="527709" cy="400110"/>
          </a:xfrm>
          <a:prstGeom prst="rect">
            <a:avLst/>
          </a:prstGeom>
          <a:noFill/>
          <a:ln w="9525">
            <a:noFill/>
            <a:miter lim="800000"/>
            <a:headEnd/>
            <a:tailEnd/>
          </a:ln>
          <a:effectLst/>
        </p:spPr>
        <p:txBody>
          <a:bodyPr wrap="none">
            <a:spAutoFit/>
          </a:bodyPr>
          <a:lstStyle/>
          <a:p>
            <a:pPr>
              <a:spcBef>
                <a:spcPct val="0"/>
              </a:spcBef>
              <a:buFontTx/>
              <a:buNone/>
            </a:pPr>
            <a:r>
              <a:rPr lang="en-US" dirty="0" err="1">
                <a:solidFill>
                  <a:schemeClr val="tx2"/>
                </a:solidFill>
                <a:latin typeface="Arial" charset="0"/>
              </a:rPr>
              <a:t>wT</a:t>
            </a:r>
            <a:endParaRPr lang="en-US" dirty="0">
              <a:solidFill>
                <a:schemeClr val="tx2"/>
              </a:solidFill>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8374"/>
                                        </p:tgtEl>
                                        <p:attrNameLst>
                                          <p:attrName>style.visibility</p:attrName>
                                        </p:attrNameLst>
                                      </p:cBhvr>
                                      <p:to>
                                        <p:strVal val="visible"/>
                                      </p:to>
                                    </p:set>
                                    <p:animEffect transition="in" filter="wipe(down)">
                                      <p:cBhvr>
                                        <p:cTn id="7" dur="2000"/>
                                        <p:tgtEl>
                                          <p:spTgt spid="228374"/>
                                        </p:tgtEl>
                                      </p:cBhvr>
                                    </p:animEffect>
                                  </p:childTnLst>
                                </p:cTn>
                              </p:par>
                            </p:childTnLst>
                          </p:cTn>
                        </p:par>
                        <p:par>
                          <p:cTn id="8" fill="hold">
                            <p:stCondLst>
                              <p:cond delay="2000"/>
                            </p:stCondLst>
                            <p:childTnLst>
                              <p:par>
                                <p:cTn id="9" presetID="22" presetClass="entr" presetSubtype="4" fill="hold" grpId="0" nodeType="afterEffect">
                                  <p:stCondLst>
                                    <p:cond delay="0"/>
                                  </p:stCondLst>
                                  <p:childTnLst>
                                    <p:set>
                                      <p:cBhvr>
                                        <p:cTn id="10" dur="1" fill="hold">
                                          <p:stCondLst>
                                            <p:cond delay="0"/>
                                          </p:stCondLst>
                                        </p:cTn>
                                        <p:tgtEl>
                                          <p:spTgt spid="228376"/>
                                        </p:tgtEl>
                                        <p:attrNameLst>
                                          <p:attrName>style.visibility</p:attrName>
                                        </p:attrNameLst>
                                      </p:cBhvr>
                                      <p:to>
                                        <p:strVal val="visible"/>
                                      </p:to>
                                    </p:set>
                                    <p:animEffect transition="in" filter="wipe(down)">
                                      <p:cBhvr>
                                        <p:cTn id="11" dur="2000"/>
                                        <p:tgtEl>
                                          <p:spTgt spid="228376"/>
                                        </p:tgtEl>
                                      </p:cBhvr>
                                    </p:animEffect>
                                  </p:childTnLst>
                                </p:cTn>
                              </p:par>
                            </p:childTnLst>
                          </p:cTn>
                        </p:par>
                        <p:par>
                          <p:cTn id="12" fill="hold">
                            <p:stCondLst>
                              <p:cond delay="4000"/>
                            </p:stCondLst>
                            <p:childTnLst>
                              <p:par>
                                <p:cTn id="13" presetID="1" presetClass="entr" presetSubtype="0" fill="hold" grpId="0" nodeType="afterEffect">
                                  <p:stCondLst>
                                    <p:cond delay="0"/>
                                  </p:stCondLst>
                                  <p:childTnLst>
                                    <p:set>
                                      <p:cBhvr>
                                        <p:cTn id="14" dur="1" fill="hold">
                                          <p:stCondLst>
                                            <p:cond delay="0"/>
                                          </p:stCondLst>
                                        </p:cTn>
                                        <p:tgtEl>
                                          <p:spTgt spid="228377"/>
                                        </p:tgtEl>
                                        <p:attrNameLst>
                                          <p:attrName>style.visibility</p:attrName>
                                        </p:attrNameLst>
                                      </p:cBhvr>
                                      <p:to>
                                        <p:strVal val="visible"/>
                                      </p:to>
                                    </p:set>
                                  </p:childTnLst>
                                </p:cTn>
                              </p:par>
                            </p:childTnLst>
                          </p:cTn>
                        </p:par>
                        <p:par>
                          <p:cTn id="15" fill="hold">
                            <p:stCondLst>
                              <p:cond delay="4000"/>
                            </p:stCondLst>
                            <p:childTnLst>
                              <p:par>
                                <p:cTn id="16" presetID="22" presetClass="entr" presetSubtype="4" fill="hold" nodeType="afterEffect">
                                  <p:stCondLst>
                                    <p:cond delay="0"/>
                                  </p:stCondLst>
                                  <p:childTnLst>
                                    <p:set>
                                      <p:cBhvr>
                                        <p:cTn id="17" dur="1" fill="hold">
                                          <p:stCondLst>
                                            <p:cond delay="0"/>
                                          </p:stCondLst>
                                        </p:cTn>
                                        <p:tgtEl>
                                          <p:spTgt spid="228371"/>
                                        </p:tgtEl>
                                        <p:attrNameLst>
                                          <p:attrName>style.visibility</p:attrName>
                                        </p:attrNameLst>
                                      </p:cBhvr>
                                      <p:to>
                                        <p:strVal val="visible"/>
                                      </p:to>
                                    </p:set>
                                    <p:animEffect transition="in" filter="wipe(down)">
                                      <p:cBhvr>
                                        <p:cTn id="18" dur="2000"/>
                                        <p:tgtEl>
                                          <p:spTgt spid="228371"/>
                                        </p:tgtEl>
                                      </p:cBhvr>
                                    </p:animEffect>
                                  </p:childTnLst>
                                </p:cTn>
                              </p:par>
                            </p:childTnLst>
                          </p:cTn>
                        </p:par>
                        <p:par>
                          <p:cTn id="19" fill="hold">
                            <p:stCondLst>
                              <p:cond delay="6000"/>
                            </p:stCondLst>
                            <p:childTnLst>
                              <p:par>
                                <p:cTn id="20" presetID="22" presetClass="entr" presetSubtype="1" fill="hold" grpId="0" nodeType="afterEffect">
                                  <p:stCondLst>
                                    <p:cond delay="0"/>
                                  </p:stCondLst>
                                  <p:childTnLst>
                                    <p:set>
                                      <p:cBhvr>
                                        <p:cTn id="21" dur="1" fill="hold">
                                          <p:stCondLst>
                                            <p:cond delay="0"/>
                                          </p:stCondLst>
                                        </p:cTn>
                                        <p:tgtEl>
                                          <p:spTgt spid="228378"/>
                                        </p:tgtEl>
                                        <p:attrNameLst>
                                          <p:attrName>style.visibility</p:attrName>
                                        </p:attrNameLst>
                                      </p:cBhvr>
                                      <p:to>
                                        <p:strVal val="visible"/>
                                      </p:to>
                                    </p:set>
                                    <p:animEffect transition="in" filter="wipe(up)">
                                      <p:cBhvr>
                                        <p:cTn id="22" dur="2000"/>
                                        <p:tgtEl>
                                          <p:spTgt spid="228378"/>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228390"/>
                                        </p:tgtEl>
                                        <p:attrNameLst>
                                          <p:attrName>style.visibility</p:attrName>
                                        </p:attrNameLst>
                                      </p:cBhvr>
                                      <p:to>
                                        <p:strVal val="visible"/>
                                      </p:to>
                                    </p:set>
                                    <p:animEffect transition="in" filter="wipe(right)">
                                      <p:cBhvr>
                                        <p:cTn id="25" dur="1000"/>
                                        <p:tgtEl>
                                          <p:spTgt spid="228390"/>
                                        </p:tgtEl>
                                      </p:cBhvr>
                                    </p:animEffect>
                                  </p:childTnLst>
                                </p:cTn>
                              </p:par>
                            </p:childTnLst>
                          </p:cTn>
                        </p:par>
                        <p:par>
                          <p:cTn id="26" fill="hold">
                            <p:stCondLst>
                              <p:cond delay="8000"/>
                            </p:stCondLst>
                            <p:childTnLst>
                              <p:par>
                                <p:cTn id="27" presetID="1" presetClass="entr" presetSubtype="0" fill="hold" grpId="0" nodeType="afterEffect">
                                  <p:stCondLst>
                                    <p:cond delay="0"/>
                                  </p:stCondLst>
                                  <p:childTnLst>
                                    <p:set>
                                      <p:cBhvr>
                                        <p:cTn id="28" dur="1" fill="hold">
                                          <p:stCondLst>
                                            <p:cond delay="0"/>
                                          </p:stCondLst>
                                        </p:cTn>
                                        <p:tgtEl>
                                          <p:spTgt spid="228391"/>
                                        </p:tgtEl>
                                        <p:attrNameLst>
                                          <p:attrName>style.visibility</p:attrName>
                                        </p:attrNameLst>
                                      </p:cBhvr>
                                      <p:to>
                                        <p:strVal val="visible"/>
                                      </p:to>
                                    </p:set>
                                  </p:childTnLst>
                                </p:cTn>
                              </p:par>
                            </p:childTnLst>
                          </p:cTn>
                        </p:par>
                        <p:par>
                          <p:cTn id="29" fill="hold">
                            <p:stCondLst>
                              <p:cond delay="8000"/>
                            </p:stCondLst>
                            <p:childTnLst>
                              <p:par>
                                <p:cTn id="30" presetID="1" presetClass="entr" presetSubtype="0" fill="hold" grpId="0" nodeType="afterEffect">
                                  <p:stCondLst>
                                    <p:cond delay="0"/>
                                  </p:stCondLst>
                                  <p:childTnLst>
                                    <p:set>
                                      <p:cBhvr>
                                        <p:cTn id="31" dur="1" fill="hold">
                                          <p:stCondLst>
                                            <p:cond delay="0"/>
                                          </p:stCondLst>
                                        </p:cTn>
                                        <p:tgtEl>
                                          <p:spTgt spid="228380"/>
                                        </p:tgtEl>
                                        <p:attrNameLst>
                                          <p:attrName>style.visibility</p:attrName>
                                        </p:attrNameLst>
                                      </p:cBhvr>
                                      <p:to>
                                        <p:strVal val="visible"/>
                                      </p:to>
                                    </p:set>
                                  </p:childTnLst>
                                </p:cTn>
                              </p:par>
                            </p:childTnLst>
                          </p:cTn>
                        </p:par>
                        <p:par>
                          <p:cTn id="32" fill="hold">
                            <p:stCondLst>
                              <p:cond delay="8000"/>
                            </p:stCondLst>
                            <p:childTnLst>
                              <p:par>
                                <p:cTn id="33" presetID="22" presetClass="entr" presetSubtype="2" fill="hold" grpId="0" nodeType="afterEffect">
                                  <p:stCondLst>
                                    <p:cond delay="0"/>
                                  </p:stCondLst>
                                  <p:childTnLst>
                                    <p:set>
                                      <p:cBhvr>
                                        <p:cTn id="34" dur="1" fill="hold">
                                          <p:stCondLst>
                                            <p:cond delay="0"/>
                                          </p:stCondLst>
                                        </p:cTn>
                                        <p:tgtEl>
                                          <p:spTgt spid="228381"/>
                                        </p:tgtEl>
                                        <p:attrNameLst>
                                          <p:attrName>style.visibility</p:attrName>
                                        </p:attrNameLst>
                                      </p:cBhvr>
                                      <p:to>
                                        <p:strVal val="visible"/>
                                      </p:to>
                                    </p:set>
                                    <p:animEffect transition="in" filter="wipe(right)">
                                      <p:cBhvr>
                                        <p:cTn id="35" dur="2000"/>
                                        <p:tgtEl>
                                          <p:spTgt spid="228381"/>
                                        </p:tgtEl>
                                      </p:cBhvr>
                                    </p:animEffect>
                                  </p:childTnLst>
                                </p:cTn>
                              </p:par>
                            </p:childTnLst>
                          </p:cTn>
                        </p:par>
                        <p:par>
                          <p:cTn id="36" fill="hold">
                            <p:stCondLst>
                              <p:cond delay="10000"/>
                            </p:stCondLst>
                            <p:childTnLst>
                              <p:par>
                                <p:cTn id="37" presetID="1" presetClass="entr" presetSubtype="0" fill="hold" grpId="0" nodeType="afterEffect">
                                  <p:stCondLst>
                                    <p:cond delay="0"/>
                                  </p:stCondLst>
                                  <p:childTnLst>
                                    <p:set>
                                      <p:cBhvr>
                                        <p:cTn id="38" dur="1" fill="hold">
                                          <p:stCondLst>
                                            <p:cond delay="0"/>
                                          </p:stCondLst>
                                        </p:cTn>
                                        <p:tgtEl>
                                          <p:spTgt spid="22837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228380"/>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22838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74" grpId="0" animBg="1"/>
      <p:bldP spid="228376" grpId="0" animBg="1"/>
      <p:bldP spid="228377" grpId="0"/>
      <p:bldP spid="228378" grpId="0" animBg="1"/>
      <p:bldP spid="228379" grpId="0"/>
      <p:bldP spid="228380" grpId="0"/>
      <p:bldP spid="228380" grpId="1"/>
      <p:bldP spid="228381" grpId="0" animBg="1"/>
      <p:bldP spid="228381" grpId="1" animBg="1"/>
      <p:bldP spid="228390" grpId="0" animBg="1"/>
      <p:bldP spid="22839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p:cNvSpPr>
            <a:spLocks noGrp="1"/>
          </p:cNvSpPr>
          <p:nvPr>
            <p:ph type="sldNum" sz="quarter" idx="12"/>
          </p:nvPr>
        </p:nvSpPr>
        <p:spPr/>
        <p:txBody>
          <a:bodyPr/>
          <a:lstStyle/>
          <a:p>
            <a:fld id="{BACE65DF-33FE-4894-BB81-9B5AF44F9018}" type="slidenum">
              <a:rPr lang="en-GB"/>
              <a:pPr/>
              <a:t>35</a:t>
            </a:fld>
            <a:endParaRPr lang="en-GB"/>
          </a:p>
        </p:txBody>
      </p:sp>
      <p:sp>
        <p:nvSpPr>
          <p:cNvPr id="226307" name="Line 3"/>
          <p:cNvSpPr>
            <a:spLocks noChangeShapeType="1"/>
          </p:cNvSpPr>
          <p:nvPr/>
        </p:nvSpPr>
        <p:spPr bwMode="auto">
          <a:xfrm>
            <a:off x="2051050" y="1052513"/>
            <a:ext cx="0" cy="4416425"/>
          </a:xfrm>
          <a:prstGeom prst="line">
            <a:avLst/>
          </a:prstGeom>
          <a:noFill/>
          <a:ln w="9525">
            <a:solidFill>
              <a:srgbClr val="4B1500"/>
            </a:solidFill>
            <a:round/>
            <a:headEnd type="triangle" w="med" len="med"/>
            <a:tailEnd/>
          </a:ln>
          <a:effectLst/>
        </p:spPr>
        <p:txBody>
          <a:bodyPr/>
          <a:lstStyle/>
          <a:p>
            <a:endParaRPr lang="en-US"/>
          </a:p>
        </p:txBody>
      </p:sp>
      <p:sp>
        <p:nvSpPr>
          <p:cNvPr id="226308" name="Line 4"/>
          <p:cNvSpPr>
            <a:spLocks noChangeShapeType="1"/>
          </p:cNvSpPr>
          <p:nvPr/>
        </p:nvSpPr>
        <p:spPr bwMode="auto">
          <a:xfrm>
            <a:off x="2051050" y="5445125"/>
            <a:ext cx="6413500" cy="0"/>
          </a:xfrm>
          <a:prstGeom prst="line">
            <a:avLst/>
          </a:prstGeom>
          <a:noFill/>
          <a:ln w="9525">
            <a:solidFill>
              <a:srgbClr val="4B1500"/>
            </a:solidFill>
            <a:round/>
            <a:headEnd/>
            <a:tailEnd type="triangle" w="med" len="med"/>
          </a:ln>
          <a:effectLst/>
        </p:spPr>
        <p:txBody>
          <a:bodyPr/>
          <a:lstStyle/>
          <a:p>
            <a:endParaRPr lang="en-US"/>
          </a:p>
        </p:txBody>
      </p:sp>
      <p:sp>
        <p:nvSpPr>
          <p:cNvPr id="226309" name="Text Box 5"/>
          <p:cNvSpPr txBox="1">
            <a:spLocks noChangeArrowheads="1"/>
          </p:cNvSpPr>
          <p:nvPr/>
        </p:nvSpPr>
        <p:spPr bwMode="auto">
          <a:xfrm>
            <a:off x="6267450" y="5635625"/>
            <a:ext cx="287655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Hours of leisure / month</a:t>
            </a:r>
          </a:p>
        </p:txBody>
      </p:sp>
      <p:sp>
        <p:nvSpPr>
          <p:cNvPr id="226310" name="Text Box 6"/>
          <p:cNvSpPr txBox="1">
            <a:spLocks noChangeArrowheads="1"/>
          </p:cNvSpPr>
          <p:nvPr/>
        </p:nvSpPr>
        <p:spPr bwMode="auto">
          <a:xfrm rot="16200000">
            <a:off x="61120" y="2278856"/>
            <a:ext cx="2227262"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Income per month</a:t>
            </a:r>
          </a:p>
        </p:txBody>
      </p:sp>
      <p:sp>
        <p:nvSpPr>
          <p:cNvPr id="226311" name="Text Box 7"/>
          <p:cNvSpPr txBox="1">
            <a:spLocks noChangeArrowheads="1"/>
          </p:cNvSpPr>
          <p:nvPr/>
        </p:nvSpPr>
        <p:spPr bwMode="auto">
          <a:xfrm>
            <a:off x="1692275" y="5491163"/>
            <a:ext cx="325438"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0</a:t>
            </a:r>
          </a:p>
        </p:txBody>
      </p:sp>
      <p:sp>
        <p:nvSpPr>
          <p:cNvPr id="226312" name="Text Box 8"/>
          <p:cNvSpPr txBox="1">
            <a:spLocks noChangeArrowheads="1"/>
          </p:cNvSpPr>
          <p:nvPr/>
        </p:nvSpPr>
        <p:spPr bwMode="auto">
          <a:xfrm>
            <a:off x="5940425" y="5491163"/>
            <a:ext cx="339725"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T</a:t>
            </a:r>
          </a:p>
        </p:txBody>
      </p:sp>
      <p:sp>
        <p:nvSpPr>
          <p:cNvPr id="226313" name="Line 9"/>
          <p:cNvSpPr>
            <a:spLocks noChangeShapeType="1"/>
          </p:cNvSpPr>
          <p:nvPr/>
        </p:nvSpPr>
        <p:spPr bwMode="auto">
          <a:xfrm flipH="1" flipV="1">
            <a:off x="2051050" y="1484313"/>
            <a:ext cx="4033838" cy="3956050"/>
          </a:xfrm>
          <a:prstGeom prst="line">
            <a:avLst/>
          </a:prstGeom>
          <a:noFill/>
          <a:ln w="9525">
            <a:solidFill>
              <a:srgbClr val="4B1500"/>
            </a:solidFill>
            <a:round/>
            <a:headEnd/>
            <a:tailEnd/>
          </a:ln>
          <a:effectLst/>
        </p:spPr>
        <p:txBody>
          <a:bodyPr/>
          <a:lstStyle/>
          <a:p>
            <a:endParaRPr lang="en-US"/>
          </a:p>
        </p:txBody>
      </p:sp>
      <p:sp>
        <p:nvSpPr>
          <p:cNvPr id="226314" name="Text Box 10"/>
          <p:cNvSpPr txBox="1">
            <a:spLocks noChangeArrowheads="1"/>
          </p:cNvSpPr>
          <p:nvPr/>
        </p:nvSpPr>
        <p:spPr bwMode="auto">
          <a:xfrm>
            <a:off x="1569079" y="1245647"/>
            <a:ext cx="527709" cy="400110"/>
          </a:xfrm>
          <a:prstGeom prst="rect">
            <a:avLst/>
          </a:prstGeom>
          <a:noFill/>
          <a:ln w="9525">
            <a:noFill/>
            <a:miter lim="800000"/>
            <a:headEnd/>
            <a:tailEnd/>
          </a:ln>
          <a:effectLst/>
        </p:spPr>
        <p:txBody>
          <a:bodyPr wrap="none">
            <a:spAutoFit/>
          </a:bodyPr>
          <a:lstStyle/>
          <a:p>
            <a:pPr>
              <a:spcBef>
                <a:spcPct val="0"/>
              </a:spcBef>
              <a:buFontTx/>
              <a:buNone/>
            </a:pPr>
            <a:r>
              <a:rPr lang="en-US" dirty="0" err="1">
                <a:solidFill>
                  <a:schemeClr val="tx2"/>
                </a:solidFill>
                <a:latin typeface="Arial" charset="0"/>
              </a:rPr>
              <a:t>wT</a:t>
            </a:r>
            <a:endParaRPr lang="en-US" dirty="0">
              <a:solidFill>
                <a:schemeClr val="tx2"/>
              </a:solidFill>
              <a:latin typeface="Arial" charset="0"/>
            </a:endParaRPr>
          </a:p>
        </p:txBody>
      </p:sp>
      <p:sp>
        <p:nvSpPr>
          <p:cNvPr id="226315" name="Text Box 11"/>
          <p:cNvSpPr txBox="1">
            <a:spLocks noChangeArrowheads="1"/>
          </p:cNvSpPr>
          <p:nvPr/>
        </p:nvSpPr>
        <p:spPr bwMode="auto">
          <a:xfrm>
            <a:off x="2987675" y="1628775"/>
            <a:ext cx="1458913" cy="396875"/>
          </a:xfrm>
          <a:prstGeom prst="rect">
            <a:avLst/>
          </a:prstGeom>
          <a:noFill/>
          <a:ln w="9525">
            <a:noFill/>
            <a:miter lim="800000"/>
            <a:headEnd/>
            <a:tailEnd/>
          </a:ln>
          <a:effectLst/>
        </p:spPr>
        <p:txBody>
          <a:bodyPr>
            <a:spAutoFit/>
          </a:bodyPr>
          <a:lstStyle/>
          <a:p>
            <a:pPr>
              <a:spcBef>
                <a:spcPct val="50000"/>
              </a:spcBef>
              <a:buFontTx/>
              <a:buNone/>
            </a:pPr>
            <a:r>
              <a:rPr lang="en-US">
                <a:solidFill>
                  <a:schemeClr val="tx2"/>
                </a:solidFill>
                <a:latin typeface="Arial" charset="0"/>
                <a:cs typeface="Arial" charset="0"/>
              </a:rPr>
              <a:t>|Slope| = w</a:t>
            </a:r>
          </a:p>
        </p:txBody>
      </p:sp>
      <p:sp>
        <p:nvSpPr>
          <p:cNvPr id="226316" name="Line 12"/>
          <p:cNvSpPr>
            <a:spLocks noChangeShapeType="1"/>
          </p:cNvSpPr>
          <p:nvPr/>
        </p:nvSpPr>
        <p:spPr bwMode="auto">
          <a:xfrm flipH="1">
            <a:off x="2916238" y="1989138"/>
            <a:ext cx="692150" cy="307975"/>
          </a:xfrm>
          <a:prstGeom prst="line">
            <a:avLst/>
          </a:prstGeom>
          <a:noFill/>
          <a:ln w="9525">
            <a:solidFill>
              <a:srgbClr val="4B1500"/>
            </a:solidFill>
            <a:round/>
            <a:headEnd/>
            <a:tailEnd type="triangle" w="med" len="med"/>
          </a:ln>
          <a:effectLst/>
        </p:spPr>
        <p:txBody>
          <a:bodyPr/>
          <a:lstStyle/>
          <a:p>
            <a:endParaRPr lang="en-US"/>
          </a:p>
        </p:txBody>
      </p:sp>
      <p:sp>
        <p:nvSpPr>
          <p:cNvPr id="226317" name="Arc 13"/>
          <p:cNvSpPr>
            <a:spLocks/>
          </p:cNvSpPr>
          <p:nvPr/>
        </p:nvSpPr>
        <p:spPr bwMode="auto">
          <a:xfrm rot="9933366">
            <a:off x="4067175" y="2420938"/>
            <a:ext cx="1766888" cy="21510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p:spPr>
        <p:txBody>
          <a:bodyPr rot="10800000" wrap="none" anchor="ctr"/>
          <a:lstStyle/>
          <a:p>
            <a:pPr algn="ctr">
              <a:spcBef>
                <a:spcPct val="0"/>
              </a:spcBef>
              <a:buFontTx/>
              <a:buNone/>
            </a:pPr>
            <a:endParaRPr lang="en-US">
              <a:latin typeface="Arial" charset="0"/>
            </a:endParaRPr>
          </a:p>
        </p:txBody>
      </p:sp>
      <p:sp>
        <p:nvSpPr>
          <p:cNvPr id="226318" name="Arc 14"/>
          <p:cNvSpPr>
            <a:spLocks/>
          </p:cNvSpPr>
          <p:nvPr/>
        </p:nvSpPr>
        <p:spPr bwMode="auto">
          <a:xfrm rot="9933366">
            <a:off x="4572000" y="1989138"/>
            <a:ext cx="1766888" cy="21510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p:spPr>
        <p:txBody>
          <a:bodyPr rot="10800000" wrap="none" anchor="ctr"/>
          <a:lstStyle/>
          <a:p>
            <a:pPr algn="ctr">
              <a:spcBef>
                <a:spcPct val="0"/>
              </a:spcBef>
              <a:buFontTx/>
              <a:buNone/>
            </a:pPr>
            <a:endParaRPr lang="en-US">
              <a:latin typeface="Arial" charset="0"/>
            </a:endParaRPr>
          </a:p>
        </p:txBody>
      </p:sp>
      <p:sp>
        <p:nvSpPr>
          <p:cNvPr id="226319" name="Arc 15"/>
          <p:cNvSpPr>
            <a:spLocks/>
          </p:cNvSpPr>
          <p:nvPr/>
        </p:nvSpPr>
        <p:spPr bwMode="auto">
          <a:xfrm rot="9933366">
            <a:off x="3492500" y="2924175"/>
            <a:ext cx="1766888" cy="21510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p:spPr>
        <p:txBody>
          <a:bodyPr rot="10800000" wrap="none" anchor="ctr"/>
          <a:lstStyle/>
          <a:p>
            <a:pPr algn="ctr">
              <a:spcBef>
                <a:spcPct val="0"/>
              </a:spcBef>
              <a:buFontTx/>
              <a:buNone/>
            </a:pPr>
            <a:endParaRPr lang="en-US">
              <a:latin typeface="Arial" charset="0"/>
            </a:endParaRPr>
          </a:p>
        </p:txBody>
      </p:sp>
      <p:sp>
        <p:nvSpPr>
          <p:cNvPr id="226320" name="Text Box 16"/>
          <p:cNvSpPr txBox="1">
            <a:spLocks noChangeArrowheads="1"/>
          </p:cNvSpPr>
          <p:nvPr/>
        </p:nvSpPr>
        <p:spPr bwMode="auto">
          <a:xfrm>
            <a:off x="5651500" y="4556125"/>
            <a:ext cx="241300" cy="396875"/>
          </a:xfrm>
          <a:prstGeom prst="rect">
            <a:avLst/>
          </a:prstGeom>
          <a:noFill/>
          <a:ln w="9525">
            <a:noFill/>
            <a:miter lim="800000"/>
            <a:headEnd/>
            <a:tailEnd/>
          </a:ln>
          <a:effectLst/>
        </p:spPr>
        <p:txBody>
          <a:bodyPr wrap="none">
            <a:spAutoFit/>
          </a:bodyPr>
          <a:lstStyle/>
          <a:p>
            <a:pPr>
              <a:spcBef>
                <a:spcPct val="0"/>
              </a:spcBef>
              <a:buFontTx/>
              <a:buNone/>
            </a:pPr>
            <a:r>
              <a:rPr lang="en-US">
                <a:latin typeface="Arial" charset="0"/>
              </a:rPr>
              <a:t>i</a:t>
            </a:r>
          </a:p>
        </p:txBody>
      </p:sp>
      <p:sp>
        <p:nvSpPr>
          <p:cNvPr id="226321" name="Text Box 17"/>
          <p:cNvSpPr txBox="1">
            <a:spLocks noChangeArrowheads="1"/>
          </p:cNvSpPr>
          <p:nvPr/>
        </p:nvSpPr>
        <p:spPr bwMode="auto">
          <a:xfrm>
            <a:off x="6227763" y="4124325"/>
            <a:ext cx="298450" cy="396875"/>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ii</a:t>
            </a:r>
          </a:p>
        </p:txBody>
      </p:sp>
      <p:sp>
        <p:nvSpPr>
          <p:cNvPr id="226322" name="Text Box 18"/>
          <p:cNvSpPr txBox="1">
            <a:spLocks noChangeArrowheads="1"/>
          </p:cNvSpPr>
          <p:nvPr/>
        </p:nvSpPr>
        <p:spPr bwMode="auto">
          <a:xfrm>
            <a:off x="6732588" y="3548063"/>
            <a:ext cx="355600" cy="396875"/>
          </a:xfrm>
          <a:prstGeom prst="rect">
            <a:avLst/>
          </a:prstGeom>
          <a:noFill/>
          <a:ln w="9525">
            <a:noFill/>
            <a:miter lim="800000"/>
            <a:headEnd/>
            <a:tailEnd/>
          </a:ln>
          <a:effectLst/>
        </p:spPr>
        <p:txBody>
          <a:bodyPr wrap="none">
            <a:spAutoFit/>
          </a:bodyPr>
          <a:lstStyle/>
          <a:p>
            <a:pPr>
              <a:spcBef>
                <a:spcPct val="0"/>
              </a:spcBef>
              <a:buFontTx/>
              <a:buNone/>
            </a:pPr>
            <a:r>
              <a:rPr lang="en-US">
                <a:latin typeface="Arial" charset="0"/>
              </a:rPr>
              <a:t>iii</a:t>
            </a:r>
          </a:p>
        </p:txBody>
      </p:sp>
      <p:sp>
        <p:nvSpPr>
          <p:cNvPr id="226324" name="Line 20"/>
          <p:cNvSpPr>
            <a:spLocks noChangeShapeType="1"/>
          </p:cNvSpPr>
          <p:nvPr/>
        </p:nvSpPr>
        <p:spPr bwMode="auto">
          <a:xfrm>
            <a:off x="4427538" y="3860800"/>
            <a:ext cx="0" cy="1612900"/>
          </a:xfrm>
          <a:prstGeom prst="line">
            <a:avLst/>
          </a:prstGeom>
          <a:noFill/>
          <a:ln w="9525">
            <a:solidFill>
              <a:schemeClr val="tx1"/>
            </a:solidFill>
            <a:prstDash val="dash"/>
            <a:round/>
            <a:headEnd/>
            <a:tailEnd/>
          </a:ln>
          <a:effectLst/>
        </p:spPr>
        <p:txBody>
          <a:bodyPr/>
          <a:lstStyle/>
          <a:p>
            <a:endParaRPr lang="en-US"/>
          </a:p>
        </p:txBody>
      </p:sp>
      <p:sp>
        <p:nvSpPr>
          <p:cNvPr id="226325" name="Line 21"/>
          <p:cNvSpPr>
            <a:spLocks noChangeShapeType="1"/>
          </p:cNvSpPr>
          <p:nvPr/>
        </p:nvSpPr>
        <p:spPr bwMode="auto">
          <a:xfrm flipH="1">
            <a:off x="2051050" y="3860800"/>
            <a:ext cx="2381250" cy="0"/>
          </a:xfrm>
          <a:prstGeom prst="line">
            <a:avLst/>
          </a:prstGeom>
          <a:noFill/>
          <a:ln w="9525">
            <a:solidFill>
              <a:schemeClr val="tx1"/>
            </a:solidFill>
            <a:prstDash val="dash"/>
            <a:round/>
            <a:headEnd/>
            <a:tailEnd/>
          </a:ln>
          <a:effectLst/>
        </p:spPr>
        <p:txBody>
          <a:bodyPr/>
          <a:lstStyle/>
          <a:p>
            <a:endParaRPr lang="en-US"/>
          </a:p>
        </p:txBody>
      </p:sp>
      <p:sp>
        <p:nvSpPr>
          <p:cNvPr id="226326" name="Text Box 22"/>
          <p:cNvSpPr txBox="1">
            <a:spLocks noChangeArrowheads="1"/>
          </p:cNvSpPr>
          <p:nvPr/>
        </p:nvSpPr>
        <p:spPr bwMode="auto">
          <a:xfrm>
            <a:off x="4284663" y="5491163"/>
            <a:ext cx="339725" cy="396875"/>
          </a:xfrm>
          <a:prstGeom prst="rect">
            <a:avLst/>
          </a:prstGeom>
          <a:noFill/>
          <a:ln w="9525">
            <a:noFill/>
            <a:miter lim="800000"/>
            <a:headEnd/>
            <a:tailEnd/>
          </a:ln>
          <a:effectLst/>
        </p:spPr>
        <p:txBody>
          <a:bodyPr wrap="none">
            <a:spAutoFit/>
          </a:bodyPr>
          <a:lstStyle/>
          <a:p>
            <a:pPr>
              <a:spcBef>
                <a:spcPct val="0"/>
              </a:spcBef>
              <a:buFontTx/>
              <a:buNone/>
            </a:pPr>
            <a:r>
              <a:rPr lang="en-US">
                <a:latin typeface="Arial" charset="0"/>
              </a:rPr>
              <a:t>F</a:t>
            </a:r>
          </a:p>
        </p:txBody>
      </p:sp>
      <p:sp>
        <p:nvSpPr>
          <p:cNvPr id="226327" name="Text Box 23"/>
          <p:cNvSpPr txBox="1">
            <a:spLocks noChangeArrowheads="1"/>
          </p:cNvSpPr>
          <p:nvPr/>
        </p:nvSpPr>
        <p:spPr bwMode="auto">
          <a:xfrm>
            <a:off x="1619250" y="3690938"/>
            <a:ext cx="450764" cy="400110"/>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E</a:t>
            </a:r>
            <a:r>
              <a:rPr lang="en-US" baseline="-25000" dirty="0">
                <a:latin typeface="Arial" charset="0"/>
              </a:rPr>
              <a:t>1</a:t>
            </a:r>
            <a:endParaRPr lang="en-US" dirty="0">
              <a:latin typeface="Arial" charset="0"/>
            </a:endParaRPr>
          </a:p>
        </p:txBody>
      </p:sp>
      <p:sp>
        <p:nvSpPr>
          <p:cNvPr id="226332" name="Rectangle 28"/>
          <p:cNvSpPr>
            <a:spLocks noGrp="1" noChangeArrowheads="1"/>
          </p:cNvSpPr>
          <p:nvPr>
            <p:ph type="title"/>
          </p:nvPr>
        </p:nvSpPr>
        <p:spPr>
          <a:xfrm>
            <a:off x="685800" y="260350"/>
            <a:ext cx="7772400" cy="936625"/>
          </a:xfrm>
          <a:noFill/>
          <a:ln/>
        </p:spPr>
        <p:txBody>
          <a:bodyPr/>
          <a:lstStyle/>
          <a:p>
            <a:r>
              <a:rPr lang="en-US" sz="3600"/>
              <a:t>Work Incentives</a:t>
            </a:r>
          </a:p>
        </p:txBody>
      </p:sp>
      <p:sp>
        <p:nvSpPr>
          <p:cNvPr id="226333" name="AutoShape 29"/>
          <p:cNvSpPr>
            <a:spLocks/>
          </p:cNvSpPr>
          <p:nvPr/>
        </p:nvSpPr>
        <p:spPr bwMode="auto">
          <a:xfrm rot="16200000">
            <a:off x="3058319" y="4869656"/>
            <a:ext cx="288925" cy="2303463"/>
          </a:xfrm>
          <a:prstGeom prst="leftBrace">
            <a:avLst>
              <a:gd name="adj1" fmla="val 66438"/>
              <a:gd name="adj2" fmla="val 50000"/>
            </a:avLst>
          </a:prstGeom>
          <a:noFill/>
          <a:ln w="38100">
            <a:solidFill>
              <a:schemeClr val="tx1"/>
            </a:solidFill>
            <a:round/>
            <a:headEnd/>
            <a:tailEnd/>
          </a:ln>
          <a:effectLst/>
        </p:spPr>
        <p:txBody>
          <a:bodyPr wrap="none" anchor="ctr"/>
          <a:lstStyle/>
          <a:p>
            <a:endParaRPr lang="en-US"/>
          </a:p>
        </p:txBody>
      </p:sp>
      <p:sp>
        <p:nvSpPr>
          <p:cNvPr id="226334" name="Text Box 30"/>
          <p:cNvSpPr txBox="1">
            <a:spLocks noChangeArrowheads="1"/>
          </p:cNvSpPr>
          <p:nvPr/>
        </p:nvSpPr>
        <p:spPr bwMode="auto">
          <a:xfrm>
            <a:off x="2771775" y="6165850"/>
            <a:ext cx="1152525" cy="396875"/>
          </a:xfrm>
          <a:prstGeom prst="rect">
            <a:avLst/>
          </a:prstGeom>
          <a:noFill/>
          <a:ln w="9525" algn="ctr">
            <a:noFill/>
            <a:miter lim="800000"/>
            <a:headEnd/>
            <a:tailEnd/>
          </a:ln>
          <a:effectLst/>
        </p:spPr>
        <p:txBody>
          <a:bodyPr>
            <a:spAutoFit/>
          </a:bodyPr>
          <a:lstStyle/>
          <a:p>
            <a:pPr marL="363538" indent="-363538">
              <a:spcBef>
                <a:spcPct val="50000"/>
              </a:spcBef>
              <a:buFontTx/>
              <a:buNone/>
            </a:pPr>
            <a:r>
              <a:rPr lang="en-US"/>
              <a:t>Leisure</a:t>
            </a:r>
          </a:p>
        </p:txBody>
      </p:sp>
      <p:sp>
        <p:nvSpPr>
          <p:cNvPr id="226335" name="AutoShape 31"/>
          <p:cNvSpPr>
            <a:spLocks/>
          </p:cNvSpPr>
          <p:nvPr/>
        </p:nvSpPr>
        <p:spPr bwMode="auto">
          <a:xfrm rot="16200000">
            <a:off x="5112544" y="5191919"/>
            <a:ext cx="358775" cy="1728787"/>
          </a:xfrm>
          <a:prstGeom prst="leftBrace">
            <a:avLst>
              <a:gd name="adj1" fmla="val 40155"/>
              <a:gd name="adj2" fmla="val 50000"/>
            </a:avLst>
          </a:prstGeom>
          <a:noFill/>
          <a:ln w="38100">
            <a:solidFill>
              <a:schemeClr val="tx1"/>
            </a:solidFill>
            <a:round/>
            <a:headEnd/>
            <a:tailEnd/>
          </a:ln>
          <a:effectLst/>
        </p:spPr>
        <p:txBody>
          <a:bodyPr wrap="none" anchor="ctr"/>
          <a:lstStyle/>
          <a:p>
            <a:endParaRPr lang="en-US"/>
          </a:p>
        </p:txBody>
      </p:sp>
      <p:sp>
        <p:nvSpPr>
          <p:cNvPr id="226336" name="Text Box 32"/>
          <p:cNvSpPr txBox="1">
            <a:spLocks noChangeArrowheads="1"/>
          </p:cNvSpPr>
          <p:nvPr/>
        </p:nvSpPr>
        <p:spPr bwMode="auto">
          <a:xfrm>
            <a:off x="4787900" y="6165850"/>
            <a:ext cx="1152525" cy="396875"/>
          </a:xfrm>
          <a:prstGeom prst="rect">
            <a:avLst/>
          </a:prstGeom>
          <a:noFill/>
          <a:ln w="9525" algn="ctr">
            <a:noFill/>
            <a:miter lim="800000"/>
            <a:headEnd/>
            <a:tailEnd/>
          </a:ln>
          <a:effectLst/>
        </p:spPr>
        <p:txBody>
          <a:bodyPr>
            <a:spAutoFit/>
          </a:bodyPr>
          <a:lstStyle/>
          <a:p>
            <a:pPr marL="363538" indent="-363538">
              <a:spcBef>
                <a:spcPct val="50000"/>
              </a:spcBef>
              <a:buFontTx/>
              <a:buNone/>
            </a:pPr>
            <a:r>
              <a:rPr lang="en-US"/>
              <a:t>Work</a:t>
            </a:r>
          </a:p>
        </p:txBody>
      </p:sp>
      <p:sp>
        <p:nvSpPr>
          <p:cNvPr id="226337" name="Text Box 33"/>
          <p:cNvSpPr txBox="1">
            <a:spLocks noChangeArrowheads="1"/>
          </p:cNvSpPr>
          <p:nvPr/>
        </p:nvSpPr>
        <p:spPr bwMode="auto">
          <a:xfrm>
            <a:off x="4859338" y="981075"/>
            <a:ext cx="4068762" cy="2225675"/>
          </a:xfrm>
          <a:prstGeom prst="rect">
            <a:avLst/>
          </a:prstGeom>
          <a:noFill/>
          <a:ln w="9525" algn="ctr">
            <a:noFill/>
            <a:miter lim="800000"/>
            <a:headEnd/>
            <a:tailEnd/>
          </a:ln>
          <a:effectLst/>
        </p:spPr>
        <p:txBody>
          <a:bodyPr>
            <a:spAutoFit/>
          </a:bodyPr>
          <a:lstStyle/>
          <a:p>
            <a:pPr>
              <a:spcBef>
                <a:spcPct val="50000"/>
              </a:spcBef>
              <a:buFontTx/>
              <a:buNone/>
            </a:pPr>
            <a:r>
              <a:rPr lang="en-US" dirty="0"/>
              <a:t>Assuming competitive </a:t>
            </a:r>
            <a:r>
              <a:rPr lang="en-US" dirty="0" err="1"/>
              <a:t>labour</a:t>
            </a:r>
            <a:r>
              <a:rPr lang="en-US" dirty="0"/>
              <a:t> market, w equals marginal productivity. </a:t>
            </a:r>
          </a:p>
          <a:p>
            <a:pPr>
              <a:spcBef>
                <a:spcPct val="50000"/>
              </a:spcBef>
              <a:buFontTx/>
              <a:buNone/>
            </a:pPr>
            <a:r>
              <a:rPr lang="en-US" dirty="0"/>
              <a:t>In optimum, MRS (=slope ii at D</a:t>
            </a:r>
            <a:r>
              <a:rPr lang="en-US" baseline="-25000" dirty="0"/>
              <a:t>1</a:t>
            </a:r>
            <a:r>
              <a:rPr lang="en-US" dirty="0"/>
              <a:t>) implies individual’s marginal value of leisure = w</a:t>
            </a:r>
          </a:p>
          <a:p>
            <a:pPr>
              <a:spcBef>
                <a:spcPct val="50000"/>
              </a:spcBef>
              <a:buFontTx/>
              <a:buNone/>
            </a:pPr>
            <a:r>
              <a:rPr lang="en-US" dirty="0">
                <a:sym typeface="Wingdings" pitchFamily="2" charset="2"/>
              </a:rPr>
              <a:t> Efficient!!</a:t>
            </a:r>
            <a:endParaRPr lang="en-US" dirty="0"/>
          </a:p>
        </p:txBody>
      </p:sp>
      <p:sp>
        <p:nvSpPr>
          <p:cNvPr id="31" name="Line 26">
            <a:extLst>
              <a:ext uri="{FF2B5EF4-FFF2-40B4-BE49-F238E27FC236}">
                <a16:creationId xmlns:a16="http://schemas.microsoft.com/office/drawing/2014/main" id="{F317E833-CF2B-4F83-A399-58B80D61432D}"/>
              </a:ext>
            </a:extLst>
          </p:cNvPr>
          <p:cNvSpPr>
            <a:spLocks noChangeShapeType="1"/>
          </p:cNvSpPr>
          <p:nvPr/>
        </p:nvSpPr>
        <p:spPr bwMode="auto">
          <a:xfrm>
            <a:off x="4140200" y="3500438"/>
            <a:ext cx="0" cy="1844675"/>
          </a:xfrm>
          <a:prstGeom prst="line">
            <a:avLst/>
          </a:prstGeom>
          <a:noFill/>
          <a:ln w="9525">
            <a:solidFill>
              <a:schemeClr val="tx1"/>
            </a:solidFill>
            <a:prstDash val="dash"/>
            <a:round/>
            <a:headEnd/>
            <a:tailEnd/>
          </a:ln>
          <a:effectLst/>
        </p:spPr>
        <p:txBody>
          <a:bodyPr/>
          <a:lstStyle/>
          <a:p>
            <a:endParaRPr lang="en-US"/>
          </a:p>
        </p:txBody>
      </p:sp>
      <p:sp>
        <p:nvSpPr>
          <p:cNvPr id="32" name="Text Box 27">
            <a:extLst>
              <a:ext uri="{FF2B5EF4-FFF2-40B4-BE49-F238E27FC236}">
                <a16:creationId xmlns:a16="http://schemas.microsoft.com/office/drawing/2014/main" id="{26596937-721F-433F-BE33-85E870502CDF}"/>
              </a:ext>
            </a:extLst>
          </p:cNvPr>
          <p:cNvSpPr txBox="1">
            <a:spLocks noChangeArrowheads="1"/>
          </p:cNvSpPr>
          <p:nvPr/>
        </p:nvSpPr>
        <p:spPr bwMode="auto">
          <a:xfrm>
            <a:off x="3924300" y="5445125"/>
            <a:ext cx="370614" cy="400110"/>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H</a:t>
            </a:r>
          </a:p>
        </p:txBody>
      </p:sp>
      <p:sp>
        <p:nvSpPr>
          <p:cNvPr id="33" name="Line 38">
            <a:extLst>
              <a:ext uri="{FF2B5EF4-FFF2-40B4-BE49-F238E27FC236}">
                <a16:creationId xmlns:a16="http://schemas.microsoft.com/office/drawing/2014/main" id="{283D02F6-C5BD-44DA-8A4A-EC1E3569A2BA}"/>
              </a:ext>
            </a:extLst>
          </p:cNvPr>
          <p:cNvSpPr>
            <a:spLocks noChangeShapeType="1"/>
          </p:cNvSpPr>
          <p:nvPr/>
        </p:nvSpPr>
        <p:spPr bwMode="auto">
          <a:xfrm flipH="1">
            <a:off x="2051050" y="3500438"/>
            <a:ext cx="2089150" cy="0"/>
          </a:xfrm>
          <a:prstGeom prst="line">
            <a:avLst/>
          </a:prstGeom>
          <a:noFill/>
          <a:ln w="9525">
            <a:solidFill>
              <a:schemeClr val="tx1"/>
            </a:solidFill>
            <a:prstDash val="dash"/>
            <a:round/>
            <a:headEnd/>
            <a:tailEnd/>
          </a:ln>
          <a:effectLst/>
        </p:spPr>
        <p:txBody>
          <a:bodyPr/>
          <a:lstStyle/>
          <a:p>
            <a:endParaRPr lang="en-US"/>
          </a:p>
        </p:txBody>
      </p:sp>
      <p:sp>
        <p:nvSpPr>
          <p:cNvPr id="34" name="Text Box 39">
            <a:extLst>
              <a:ext uri="{FF2B5EF4-FFF2-40B4-BE49-F238E27FC236}">
                <a16:creationId xmlns:a16="http://schemas.microsoft.com/office/drawing/2014/main" id="{501841B2-E0A5-4816-9642-B1B1E4C342BD}"/>
              </a:ext>
            </a:extLst>
          </p:cNvPr>
          <p:cNvSpPr txBox="1">
            <a:spLocks noChangeArrowheads="1"/>
          </p:cNvSpPr>
          <p:nvPr/>
        </p:nvSpPr>
        <p:spPr bwMode="auto">
          <a:xfrm>
            <a:off x="1403350" y="3213100"/>
            <a:ext cx="524503" cy="400110"/>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G/t</a:t>
            </a:r>
          </a:p>
        </p:txBody>
      </p:sp>
      <p:sp>
        <p:nvSpPr>
          <p:cNvPr id="35" name="Text Box 10">
            <a:extLst>
              <a:ext uri="{FF2B5EF4-FFF2-40B4-BE49-F238E27FC236}">
                <a16:creationId xmlns:a16="http://schemas.microsoft.com/office/drawing/2014/main" id="{0F3E8C11-DA4B-4D30-93F5-06FD319EABAB}"/>
              </a:ext>
            </a:extLst>
          </p:cNvPr>
          <p:cNvSpPr txBox="1">
            <a:spLocks noChangeArrowheads="1"/>
          </p:cNvSpPr>
          <p:nvPr/>
        </p:nvSpPr>
        <p:spPr bwMode="auto">
          <a:xfrm>
            <a:off x="4487466" y="3481948"/>
            <a:ext cx="465192" cy="400110"/>
          </a:xfrm>
          <a:prstGeom prst="rect">
            <a:avLst/>
          </a:prstGeom>
          <a:noFill/>
          <a:ln w="9525">
            <a:noFill/>
            <a:miter lim="800000"/>
            <a:headEnd/>
            <a:tailEnd/>
          </a:ln>
          <a:effectLst/>
        </p:spPr>
        <p:txBody>
          <a:bodyPr wrap="none">
            <a:spAutoFit/>
          </a:bodyPr>
          <a:lstStyle/>
          <a:p>
            <a:pPr>
              <a:spcBef>
                <a:spcPct val="0"/>
              </a:spcBef>
              <a:buFontTx/>
              <a:buNone/>
            </a:pPr>
            <a:r>
              <a:rPr lang="en-US" dirty="0">
                <a:solidFill>
                  <a:schemeClr val="tx2"/>
                </a:solidFill>
                <a:latin typeface="Arial" charset="0"/>
              </a:rPr>
              <a:t>D</a:t>
            </a:r>
            <a:r>
              <a:rPr lang="en-US" baseline="-25000" dirty="0">
                <a:solidFill>
                  <a:schemeClr val="tx2"/>
                </a:solidFill>
                <a:latin typeface="Arial" charset="0"/>
              </a:rPr>
              <a:t>1</a:t>
            </a:r>
            <a:endParaRPr lang="en-US" dirty="0">
              <a:solidFill>
                <a:schemeClr val="tx2"/>
              </a:solidFill>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6319"/>
                                        </p:tgtEl>
                                        <p:attrNameLst>
                                          <p:attrName>style.visibility</p:attrName>
                                        </p:attrNameLst>
                                      </p:cBhvr>
                                      <p:to>
                                        <p:strVal val="visible"/>
                                      </p:to>
                                    </p:set>
                                    <p:animEffect transition="in" filter="wipe(left)">
                                      <p:cBhvr>
                                        <p:cTn id="7" dur="2000"/>
                                        <p:tgtEl>
                                          <p:spTgt spid="226319"/>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226317"/>
                                        </p:tgtEl>
                                        <p:attrNameLst>
                                          <p:attrName>style.visibility</p:attrName>
                                        </p:attrNameLst>
                                      </p:cBhvr>
                                      <p:to>
                                        <p:strVal val="visible"/>
                                      </p:to>
                                    </p:set>
                                    <p:animEffect transition="in" filter="wipe(left)">
                                      <p:cBhvr>
                                        <p:cTn id="11" dur="2000"/>
                                        <p:tgtEl>
                                          <p:spTgt spid="226317"/>
                                        </p:tgtEl>
                                      </p:cBhvr>
                                    </p:animEffect>
                                  </p:childTnLst>
                                </p:cTn>
                              </p:par>
                            </p:childTnLst>
                          </p:cTn>
                        </p:par>
                        <p:par>
                          <p:cTn id="12" fill="hold">
                            <p:stCondLst>
                              <p:cond delay="4000"/>
                            </p:stCondLst>
                            <p:childTnLst>
                              <p:par>
                                <p:cTn id="13" presetID="22" presetClass="entr" presetSubtype="8" fill="hold" grpId="0" nodeType="afterEffect">
                                  <p:stCondLst>
                                    <p:cond delay="0"/>
                                  </p:stCondLst>
                                  <p:childTnLst>
                                    <p:set>
                                      <p:cBhvr>
                                        <p:cTn id="14" dur="1" fill="hold">
                                          <p:stCondLst>
                                            <p:cond delay="0"/>
                                          </p:stCondLst>
                                        </p:cTn>
                                        <p:tgtEl>
                                          <p:spTgt spid="226318"/>
                                        </p:tgtEl>
                                        <p:attrNameLst>
                                          <p:attrName>style.visibility</p:attrName>
                                        </p:attrNameLst>
                                      </p:cBhvr>
                                      <p:to>
                                        <p:strVal val="visible"/>
                                      </p:to>
                                    </p:set>
                                    <p:animEffect transition="in" filter="wipe(left)">
                                      <p:cBhvr>
                                        <p:cTn id="15" dur="2000"/>
                                        <p:tgtEl>
                                          <p:spTgt spid="226318"/>
                                        </p:tgtEl>
                                      </p:cBhvr>
                                    </p:animEffect>
                                  </p:childTnLst>
                                </p:cTn>
                              </p:par>
                            </p:childTnLst>
                          </p:cTn>
                        </p:par>
                        <p:par>
                          <p:cTn id="16" fill="hold">
                            <p:stCondLst>
                              <p:cond delay="6000"/>
                            </p:stCondLst>
                            <p:childTnLst>
                              <p:par>
                                <p:cTn id="17" presetID="1" presetClass="entr" presetSubtype="0" fill="hold" grpId="0" nodeType="afterEffect">
                                  <p:stCondLst>
                                    <p:cond delay="0"/>
                                  </p:stCondLst>
                                  <p:childTnLst>
                                    <p:set>
                                      <p:cBhvr>
                                        <p:cTn id="18" dur="1" fill="hold">
                                          <p:stCondLst>
                                            <p:cond delay="0"/>
                                          </p:stCondLst>
                                        </p:cTn>
                                        <p:tgtEl>
                                          <p:spTgt spid="226320"/>
                                        </p:tgtEl>
                                        <p:attrNameLst>
                                          <p:attrName>style.visibility</p:attrName>
                                        </p:attrNameLst>
                                      </p:cBhvr>
                                      <p:to>
                                        <p:strVal val="visible"/>
                                      </p:to>
                                    </p:set>
                                  </p:childTnLst>
                                </p:cTn>
                              </p:par>
                            </p:childTnLst>
                          </p:cTn>
                        </p:par>
                        <p:par>
                          <p:cTn id="19" fill="hold">
                            <p:stCondLst>
                              <p:cond delay="6000"/>
                            </p:stCondLst>
                            <p:childTnLst>
                              <p:par>
                                <p:cTn id="20" presetID="1" presetClass="entr" presetSubtype="0" fill="hold" grpId="0" nodeType="afterEffect">
                                  <p:stCondLst>
                                    <p:cond delay="0"/>
                                  </p:stCondLst>
                                  <p:childTnLst>
                                    <p:set>
                                      <p:cBhvr>
                                        <p:cTn id="21" dur="1" fill="hold">
                                          <p:stCondLst>
                                            <p:cond delay="0"/>
                                          </p:stCondLst>
                                        </p:cTn>
                                        <p:tgtEl>
                                          <p:spTgt spid="226321"/>
                                        </p:tgtEl>
                                        <p:attrNameLst>
                                          <p:attrName>style.visibility</p:attrName>
                                        </p:attrNameLst>
                                      </p:cBhvr>
                                      <p:to>
                                        <p:strVal val="visible"/>
                                      </p:to>
                                    </p:set>
                                  </p:childTnLst>
                                </p:cTn>
                              </p:par>
                            </p:childTnLst>
                          </p:cTn>
                        </p:par>
                        <p:par>
                          <p:cTn id="22" fill="hold">
                            <p:stCondLst>
                              <p:cond delay="6000"/>
                            </p:stCondLst>
                            <p:childTnLst>
                              <p:par>
                                <p:cTn id="23" presetID="1" presetClass="entr" presetSubtype="0" fill="hold" grpId="0" nodeType="afterEffect">
                                  <p:stCondLst>
                                    <p:cond delay="0"/>
                                  </p:stCondLst>
                                  <p:childTnLst>
                                    <p:set>
                                      <p:cBhvr>
                                        <p:cTn id="24" dur="1" fill="hold">
                                          <p:stCondLst>
                                            <p:cond delay="0"/>
                                          </p:stCondLst>
                                        </p:cTn>
                                        <p:tgtEl>
                                          <p:spTgt spid="2263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26324"/>
                                        </p:tgtEl>
                                        <p:attrNameLst>
                                          <p:attrName>style.visibility</p:attrName>
                                        </p:attrNameLst>
                                      </p:cBhvr>
                                      <p:to>
                                        <p:strVal val="visible"/>
                                      </p:to>
                                    </p:set>
                                    <p:animEffect transition="in" filter="wipe(up)">
                                      <p:cBhvr>
                                        <p:cTn id="29" dur="2000"/>
                                        <p:tgtEl>
                                          <p:spTgt spid="226324"/>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childTnLst>
                                </p:cTn>
                              </p:par>
                            </p:childTnLst>
                          </p:cTn>
                        </p:par>
                        <p:par>
                          <p:cTn id="32" fill="hold">
                            <p:stCondLst>
                              <p:cond delay="2000"/>
                            </p:stCondLst>
                            <p:childTnLst>
                              <p:par>
                                <p:cTn id="33" presetID="1" presetClass="entr" presetSubtype="0" fill="hold" grpId="0" nodeType="afterEffect">
                                  <p:stCondLst>
                                    <p:cond delay="0"/>
                                  </p:stCondLst>
                                  <p:childTnLst>
                                    <p:set>
                                      <p:cBhvr>
                                        <p:cTn id="34" dur="1" fill="hold">
                                          <p:stCondLst>
                                            <p:cond delay="0"/>
                                          </p:stCondLst>
                                        </p:cTn>
                                        <p:tgtEl>
                                          <p:spTgt spid="226326"/>
                                        </p:tgtEl>
                                        <p:attrNameLst>
                                          <p:attrName>style.visibility</p:attrName>
                                        </p:attrNameLst>
                                      </p:cBhvr>
                                      <p:to>
                                        <p:strVal val="visible"/>
                                      </p:to>
                                    </p:set>
                                  </p:childTnLst>
                                </p:cTn>
                              </p:par>
                            </p:childTnLst>
                          </p:cTn>
                        </p:par>
                        <p:par>
                          <p:cTn id="35" fill="hold">
                            <p:stCondLst>
                              <p:cond delay="2000"/>
                            </p:stCondLst>
                            <p:childTnLst>
                              <p:par>
                                <p:cTn id="36" presetID="22" presetClass="entr" presetSubtype="2" fill="hold" grpId="0" nodeType="afterEffect">
                                  <p:stCondLst>
                                    <p:cond delay="0"/>
                                  </p:stCondLst>
                                  <p:childTnLst>
                                    <p:set>
                                      <p:cBhvr>
                                        <p:cTn id="37" dur="1" fill="hold">
                                          <p:stCondLst>
                                            <p:cond delay="0"/>
                                          </p:stCondLst>
                                        </p:cTn>
                                        <p:tgtEl>
                                          <p:spTgt spid="226325"/>
                                        </p:tgtEl>
                                        <p:attrNameLst>
                                          <p:attrName>style.visibility</p:attrName>
                                        </p:attrNameLst>
                                      </p:cBhvr>
                                      <p:to>
                                        <p:strVal val="visible"/>
                                      </p:to>
                                    </p:set>
                                    <p:animEffect transition="in" filter="wipe(right)">
                                      <p:cBhvr>
                                        <p:cTn id="38" dur="2000"/>
                                        <p:tgtEl>
                                          <p:spTgt spid="226325"/>
                                        </p:tgtEl>
                                      </p:cBhvr>
                                    </p:animEffect>
                                  </p:childTnLst>
                                </p:cTn>
                              </p:par>
                            </p:childTnLst>
                          </p:cTn>
                        </p:par>
                        <p:par>
                          <p:cTn id="39" fill="hold">
                            <p:stCondLst>
                              <p:cond delay="4000"/>
                            </p:stCondLst>
                            <p:childTnLst>
                              <p:par>
                                <p:cTn id="40" presetID="1" presetClass="entr" presetSubtype="0" fill="hold" grpId="0" nodeType="afterEffect">
                                  <p:stCondLst>
                                    <p:cond delay="0"/>
                                  </p:stCondLst>
                                  <p:childTnLst>
                                    <p:set>
                                      <p:cBhvr>
                                        <p:cTn id="41" dur="1" fill="hold">
                                          <p:stCondLst>
                                            <p:cond delay="0"/>
                                          </p:stCondLst>
                                        </p:cTn>
                                        <p:tgtEl>
                                          <p:spTgt spid="22632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26333"/>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26334"/>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26335"/>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2633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263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17" grpId="0" animBg="1"/>
      <p:bldP spid="226318" grpId="0" animBg="1"/>
      <p:bldP spid="226319" grpId="0" animBg="1"/>
      <p:bldP spid="226320" grpId="0"/>
      <p:bldP spid="226321" grpId="0"/>
      <p:bldP spid="226322" grpId="0"/>
      <p:bldP spid="226324" grpId="0" animBg="1"/>
      <p:bldP spid="226325" grpId="0" animBg="1"/>
      <p:bldP spid="226326" grpId="0"/>
      <p:bldP spid="226327" grpId="0"/>
      <p:bldP spid="226333" grpId="0" animBg="1"/>
      <p:bldP spid="226334" grpId="0"/>
      <p:bldP spid="226335" grpId="0" animBg="1"/>
      <p:bldP spid="226336" grpId="0"/>
      <p:bldP spid="226337" grpId="0"/>
      <p:bldP spid="3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4"/>
          <p:cNvSpPr>
            <a:spLocks noGrp="1"/>
          </p:cNvSpPr>
          <p:nvPr>
            <p:ph type="sldNum" sz="quarter" idx="12"/>
          </p:nvPr>
        </p:nvSpPr>
        <p:spPr/>
        <p:txBody>
          <a:bodyPr/>
          <a:lstStyle/>
          <a:p>
            <a:fld id="{EAD3A9A2-9493-4540-9B1E-56C65B98457B}" type="slidenum">
              <a:rPr lang="en-GB"/>
              <a:pPr/>
              <a:t>36</a:t>
            </a:fld>
            <a:endParaRPr lang="en-GB" dirty="0"/>
          </a:p>
        </p:txBody>
      </p:sp>
      <p:sp>
        <p:nvSpPr>
          <p:cNvPr id="228355" name="Line 3"/>
          <p:cNvSpPr>
            <a:spLocks noChangeShapeType="1"/>
          </p:cNvSpPr>
          <p:nvPr/>
        </p:nvSpPr>
        <p:spPr bwMode="auto">
          <a:xfrm>
            <a:off x="2051050" y="981075"/>
            <a:ext cx="0" cy="4416425"/>
          </a:xfrm>
          <a:prstGeom prst="line">
            <a:avLst/>
          </a:prstGeom>
          <a:noFill/>
          <a:ln w="9525">
            <a:solidFill>
              <a:srgbClr val="4B1500"/>
            </a:solidFill>
            <a:round/>
            <a:headEnd type="triangle" w="med" len="med"/>
            <a:tailEnd/>
          </a:ln>
          <a:effectLst/>
        </p:spPr>
        <p:txBody>
          <a:bodyPr/>
          <a:lstStyle/>
          <a:p>
            <a:endParaRPr lang="en-US"/>
          </a:p>
        </p:txBody>
      </p:sp>
      <p:sp>
        <p:nvSpPr>
          <p:cNvPr id="228356" name="Line 4"/>
          <p:cNvSpPr>
            <a:spLocks noChangeShapeType="1"/>
          </p:cNvSpPr>
          <p:nvPr/>
        </p:nvSpPr>
        <p:spPr bwMode="auto">
          <a:xfrm>
            <a:off x="2051050" y="5373688"/>
            <a:ext cx="6413500" cy="0"/>
          </a:xfrm>
          <a:prstGeom prst="line">
            <a:avLst/>
          </a:prstGeom>
          <a:noFill/>
          <a:ln w="9525">
            <a:solidFill>
              <a:srgbClr val="4B1500"/>
            </a:solidFill>
            <a:round/>
            <a:headEnd/>
            <a:tailEnd type="triangle" w="med" len="med"/>
          </a:ln>
          <a:effectLst/>
        </p:spPr>
        <p:txBody>
          <a:bodyPr/>
          <a:lstStyle/>
          <a:p>
            <a:endParaRPr lang="en-US"/>
          </a:p>
        </p:txBody>
      </p:sp>
      <p:sp>
        <p:nvSpPr>
          <p:cNvPr id="228357" name="Text Box 5"/>
          <p:cNvSpPr txBox="1">
            <a:spLocks noChangeArrowheads="1"/>
          </p:cNvSpPr>
          <p:nvPr/>
        </p:nvSpPr>
        <p:spPr bwMode="auto">
          <a:xfrm>
            <a:off x="6267450" y="5445125"/>
            <a:ext cx="287655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Hours of leisure / month</a:t>
            </a:r>
          </a:p>
        </p:txBody>
      </p:sp>
      <p:sp>
        <p:nvSpPr>
          <p:cNvPr id="228358" name="Text Box 6"/>
          <p:cNvSpPr txBox="1">
            <a:spLocks noChangeArrowheads="1"/>
          </p:cNvSpPr>
          <p:nvPr/>
        </p:nvSpPr>
        <p:spPr bwMode="auto">
          <a:xfrm rot="16200000">
            <a:off x="-1285875" y="3338513"/>
            <a:ext cx="4930775"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Income per month (= earnings + transfers)</a:t>
            </a:r>
          </a:p>
        </p:txBody>
      </p:sp>
      <p:sp>
        <p:nvSpPr>
          <p:cNvPr id="228359" name="Text Box 7"/>
          <p:cNvSpPr txBox="1">
            <a:spLocks noChangeArrowheads="1"/>
          </p:cNvSpPr>
          <p:nvPr/>
        </p:nvSpPr>
        <p:spPr bwMode="auto">
          <a:xfrm>
            <a:off x="1692275" y="5373688"/>
            <a:ext cx="325438"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0</a:t>
            </a:r>
          </a:p>
        </p:txBody>
      </p:sp>
      <p:sp>
        <p:nvSpPr>
          <p:cNvPr id="228360" name="Text Box 8"/>
          <p:cNvSpPr txBox="1">
            <a:spLocks noChangeArrowheads="1"/>
          </p:cNvSpPr>
          <p:nvPr/>
        </p:nvSpPr>
        <p:spPr bwMode="auto">
          <a:xfrm>
            <a:off x="5867400" y="5445125"/>
            <a:ext cx="339725"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T</a:t>
            </a:r>
          </a:p>
        </p:txBody>
      </p:sp>
      <p:sp>
        <p:nvSpPr>
          <p:cNvPr id="228361" name="Line 9"/>
          <p:cNvSpPr>
            <a:spLocks noChangeShapeType="1"/>
          </p:cNvSpPr>
          <p:nvPr/>
        </p:nvSpPr>
        <p:spPr bwMode="auto">
          <a:xfrm flipH="1" flipV="1">
            <a:off x="2051050" y="1412875"/>
            <a:ext cx="4033838" cy="3956050"/>
          </a:xfrm>
          <a:prstGeom prst="line">
            <a:avLst/>
          </a:prstGeom>
          <a:noFill/>
          <a:ln w="9525">
            <a:solidFill>
              <a:srgbClr val="4B1500"/>
            </a:solidFill>
            <a:round/>
            <a:headEnd/>
            <a:tailEnd/>
          </a:ln>
          <a:effectLst/>
        </p:spPr>
        <p:txBody>
          <a:bodyPr/>
          <a:lstStyle/>
          <a:p>
            <a:endParaRPr lang="en-US"/>
          </a:p>
        </p:txBody>
      </p:sp>
      <p:sp>
        <p:nvSpPr>
          <p:cNvPr id="228362" name="Text Box 10"/>
          <p:cNvSpPr txBox="1">
            <a:spLocks noChangeArrowheads="1"/>
          </p:cNvSpPr>
          <p:nvPr/>
        </p:nvSpPr>
        <p:spPr bwMode="auto">
          <a:xfrm>
            <a:off x="1692275" y="1196975"/>
            <a:ext cx="36830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D</a:t>
            </a:r>
          </a:p>
        </p:txBody>
      </p:sp>
      <p:sp>
        <p:nvSpPr>
          <p:cNvPr id="228363" name="Text Box 11"/>
          <p:cNvSpPr txBox="1">
            <a:spLocks noChangeArrowheads="1"/>
          </p:cNvSpPr>
          <p:nvPr/>
        </p:nvSpPr>
        <p:spPr bwMode="auto">
          <a:xfrm>
            <a:off x="3132138" y="1557338"/>
            <a:ext cx="1458912" cy="396875"/>
          </a:xfrm>
          <a:prstGeom prst="rect">
            <a:avLst/>
          </a:prstGeom>
          <a:noFill/>
          <a:ln w="9525">
            <a:noFill/>
            <a:miter lim="800000"/>
            <a:headEnd/>
            <a:tailEnd/>
          </a:ln>
          <a:effectLst/>
        </p:spPr>
        <p:txBody>
          <a:bodyPr>
            <a:spAutoFit/>
          </a:bodyPr>
          <a:lstStyle/>
          <a:p>
            <a:pPr>
              <a:spcBef>
                <a:spcPct val="50000"/>
              </a:spcBef>
              <a:buFontTx/>
              <a:buNone/>
            </a:pPr>
            <a:r>
              <a:rPr lang="en-US">
                <a:solidFill>
                  <a:schemeClr val="tx2"/>
                </a:solidFill>
                <a:latin typeface="Arial" charset="0"/>
                <a:cs typeface="Arial" charset="0"/>
              </a:rPr>
              <a:t>|Slope| = w</a:t>
            </a:r>
          </a:p>
        </p:txBody>
      </p:sp>
      <p:sp>
        <p:nvSpPr>
          <p:cNvPr id="228364" name="Line 12"/>
          <p:cNvSpPr>
            <a:spLocks noChangeShapeType="1"/>
          </p:cNvSpPr>
          <p:nvPr/>
        </p:nvSpPr>
        <p:spPr bwMode="auto">
          <a:xfrm flipH="1">
            <a:off x="3059113" y="1989138"/>
            <a:ext cx="692150" cy="307975"/>
          </a:xfrm>
          <a:prstGeom prst="line">
            <a:avLst/>
          </a:prstGeom>
          <a:noFill/>
          <a:ln w="9525">
            <a:solidFill>
              <a:srgbClr val="4B1500"/>
            </a:solidFill>
            <a:round/>
            <a:headEnd/>
            <a:tailEnd type="triangle" w="med" len="med"/>
          </a:ln>
          <a:effectLst/>
        </p:spPr>
        <p:txBody>
          <a:bodyPr/>
          <a:lstStyle/>
          <a:p>
            <a:endParaRPr lang="en-US"/>
          </a:p>
        </p:txBody>
      </p:sp>
      <p:sp>
        <p:nvSpPr>
          <p:cNvPr id="228365" name="Arc 13"/>
          <p:cNvSpPr>
            <a:spLocks/>
          </p:cNvSpPr>
          <p:nvPr/>
        </p:nvSpPr>
        <p:spPr bwMode="auto">
          <a:xfrm rot="9933366">
            <a:off x="4067175" y="2349500"/>
            <a:ext cx="1766888" cy="21510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p:spPr>
        <p:txBody>
          <a:bodyPr rot="10800000" wrap="none" anchor="ctr"/>
          <a:lstStyle/>
          <a:p>
            <a:pPr algn="ctr">
              <a:spcBef>
                <a:spcPct val="0"/>
              </a:spcBef>
              <a:buFontTx/>
              <a:buNone/>
            </a:pPr>
            <a:endParaRPr lang="en-US">
              <a:latin typeface="Arial" charset="0"/>
            </a:endParaRPr>
          </a:p>
        </p:txBody>
      </p:sp>
      <p:sp>
        <p:nvSpPr>
          <p:cNvPr id="228367" name="Line 15"/>
          <p:cNvSpPr>
            <a:spLocks noChangeShapeType="1"/>
          </p:cNvSpPr>
          <p:nvPr/>
        </p:nvSpPr>
        <p:spPr bwMode="auto">
          <a:xfrm>
            <a:off x="4427538" y="3789363"/>
            <a:ext cx="0" cy="1612900"/>
          </a:xfrm>
          <a:prstGeom prst="line">
            <a:avLst/>
          </a:prstGeom>
          <a:noFill/>
          <a:ln w="9525">
            <a:solidFill>
              <a:schemeClr val="tx1"/>
            </a:solidFill>
            <a:prstDash val="dash"/>
            <a:round/>
            <a:headEnd/>
            <a:tailEnd/>
          </a:ln>
          <a:effectLst/>
        </p:spPr>
        <p:txBody>
          <a:bodyPr/>
          <a:lstStyle/>
          <a:p>
            <a:endParaRPr lang="en-US"/>
          </a:p>
        </p:txBody>
      </p:sp>
      <p:sp>
        <p:nvSpPr>
          <p:cNvPr id="228368" name="Line 16"/>
          <p:cNvSpPr>
            <a:spLocks noChangeShapeType="1"/>
          </p:cNvSpPr>
          <p:nvPr/>
        </p:nvSpPr>
        <p:spPr bwMode="auto">
          <a:xfrm flipH="1">
            <a:off x="2051050" y="3716338"/>
            <a:ext cx="2381250" cy="0"/>
          </a:xfrm>
          <a:prstGeom prst="line">
            <a:avLst/>
          </a:prstGeom>
          <a:noFill/>
          <a:ln w="9525">
            <a:solidFill>
              <a:schemeClr val="tx1"/>
            </a:solidFill>
            <a:prstDash val="dash"/>
            <a:round/>
            <a:headEnd/>
            <a:tailEnd/>
          </a:ln>
          <a:effectLst/>
        </p:spPr>
        <p:txBody>
          <a:bodyPr/>
          <a:lstStyle/>
          <a:p>
            <a:endParaRPr lang="en-US"/>
          </a:p>
        </p:txBody>
      </p:sp>
      <p:sp>
        <p:nvSpPr>
          <p:cNvPr id="228369" name="Text Box 17"/>
          <p:cNvSpPr txBox="1">
            <a:spLocks noChangeArrowheads="1"/>
          </p:cNvSpPr>
          <p:nvPr/>
        </p:nvSpPr>
        <p:spPr bwMode="auto">
          <a:xfrm>
            <a:off x="4284663" y="5445125"/>
            <a:ext cx="339725" cy="396875"/>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F</a:t>
            </a:r>
          </a:p>
        </p:txBody>
      </p:sp>
      <p:grpSp>
        <p:nvGrpSpPr>
          <p:cNvPr id="228371" name="Group 19"/>
          <p:cNvGrpSpPr>
            <a:grpSpLocks/>
          </p:cNvGrpSpPr>
          <p:nvPr/>
        </p:nvGrpSpPr>
        <p:grpSpPr bwMode="auto">
          <a:xfrm>
            <a:off x="2051050" y="1412875"/>
            <a:ext cx="3994150" cy="3197225"/>
            <a:chOff x="1283" y="1386"/>
            <a:chExt cx="2516" cy="2014"/>
          </a:xfrm>
        </p:grpSpPr>
        <p:sp>
          <p:nvSpPr>
            <p:cNvPr id="228372" name="Line 20"/>
            <p:cNvSpPr>
              <a:spLocks noChangeShapeType="1"/>
            </p:cNvSpPr>
            <p:nvPr/>
          </p:nvSpPr>
          <p:spPr bwMode="auto">
            <a:xfrm>
              <a:off x="1283" y="1386"/>
              <a:ext cx="1331" cy="1331"/>
            </a:xfrm>
            <a:prstGeom prst="line">
              <a:avLst/>
            </a:prstGeom>
            <a:noFill/>
            <a:ln w="38100">
              <a:solidFill>
                <a:schemeClr val="bg2"/>
              </a:solidFill>
              <a:round/>
              <a:headEnd/>
              <a:tailEnd/>
            </a:ln>
            <a:effectLst/>
          </p:spPr>
          <p:txBody>
            <a:bodyPr/>
            <a:lstStyle/>
            <a:p>
              <a:endParaRPr lang="en-US"/>
            </a:p>
          </p:txBody>
        </p:sp>
        <p:sp>
          <p:nvSpPr>
            <p:cNvPr id="228373" name="Line 21"/>
            <p:cNvSpPr>
              <a:spLocks noChangeShapeType="1"/>
            </p:cNvSpPr>
            <p:nvPr/>
          </p:nvSpPr>
          <p:spPr bwMode="auto">
            <a:xfrm>
              <a:off x="2614" y="2716"/>
              <a:ext cx="1185" cy="684"/>
            </a:xfrm>
            <a:prstGeom prst="line">
              <a:avLst/>
            </a:prstGeom>
            <a:noFill/>
            <a:ln w="38100">
              <a:solidFill>
                <a:schemeClr val="bg2"/>
              </a:solidFill>
              <a:round/>
              <a:headEnd/>
              <a:tailEnd/>
            </a:ln>
            <a:effectLst/>
          </p:spPr>
          <p:txBody>
            <a:bodyPr/>
            <a:lstStyle/>
            <a:p>
              <a:endParaRPr lang="en-US"/>
            </a:p>
          </p:txBody>
        </p:sp>
      </p:grpSp>
      <p:sp>
        <p:nvSpPr>
          <p:cNvPr id="228374" name="Line 22"/>
          <p:cNvSpPr>
            <a:spLocks noChangeShapeType="1"/>
          </p:cNvSpPr>
          <p:nvPr/>
        </p:nvSpPr>
        <p:spPr bwMode="auto">
          <a:xfrm>
            <a:off x="6084888" y="4652963"/>
            <a:ext cx="0" cy="730250"/>
          </a:xfrm>
          <a:prstGeom prst="line">
            <a:avLst/>
          </a:prstGeom>
          <a:noFill/>
          <a:ln w="38100">
            <a:solidFill>
              <a:schemeClr val="tx1"/>
            </a:solidFill>
            <a:prstDash val="dash"/>
            <a:round/>
            <a:headEnd/>
            <a:tailEnd/>
          </a:ln>
          <a:effectLst/>
        </p:spPr>
        <p:txBody>
          <a:bodyPr/>
          <a:lstStyle/>
          <a:p>
            <a:endParaRPr lang="en-US"/>
          </a:p>
        </p:txBody>
      </p:sp>
      <p:sp>
        <p:nvSpPr>
          <p:cNvPr id="228376" name="AutoShape 24"/>
          <p:cNvSpPr>
            <a:spLocks/>
          </p:cNvSpPr>
          <p:nvPr/>
        </p:nvSpPr>
        <p:spPr bwMode="auto">
          <a:xfrm>
            <a:off x="6227763" y="4652963"/>
            <a:ext cx="230187" cy="652462"/>
          </a:xfrm>
          <a:prstGeom prst="rightBrace">
            <a:avLst>
              <a:gd name="adj1" fmla="val 23621"/>
              <a:gd name="adj2" fmla="val 50000"/>
            </a:avLst>
          </a:prstGeom>
          <a:noFill/>
          <a:ln w="9525">
            <a:solidFill>
              <a:schemeClr val="tx1"/>
            </a:solidFill>
            <a:round/>
            <a:headEnd/>
            <a:tailEnd/>
          </a:ln>
          <a:effectLst/>
        </p:spPr>
        <p:txBody>
          <a:bodyPr wrap="none" anchor="ctr"/>
          <a:lstStyle/>
          <a:p>
            <a:endParaRPr lang="en-US"/>
          </a:p>
        </p:txBody>
      </p:sp>
      <p:sp>
        <p:nvSpPr>
          <p:cNvPr id="228377" name="Text Box 25"/>
          <p:cNvSpPr txBox="1">
            <a:spLocks noChangeArrowheads="1"/>
          </p:cNvSpPr>
          <p:nvPr/>
        </p:nvSpPr>
        <p:spPr bwMode="auto">
          <a:xfrm>
            <a:off x="6443663" y="4724400"/>
            <a:ext cx="526106" cy="400110"/>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$G</a:t>
            </a:r>
          </a:p>
        </p:txBody>
      </p:sp>
      <p:sp>
        <p:nvSpPr>
          <p:cNvPr id="228378" name="Line 26"/>
          <p:cNvSpPr>
            <a:spLocks noChangeShapeType="1"/>
          </p:cNvSpPr>
          <p:nvPr/>
        </p:nvSpPr>
        <p:spPr bwMode="auto">
          <a:xfrm>
            <a:off x="4140200" y="3500438"/>
            <a:ext cx="0" cy="1844675"/>
          </a:xfrm>
          <a:prstGeom prst="line">
            <a:avLst/>
          </a:prstGeom>
          <a:noFill/>
          <a:ln w="9525">
            <a:solidFill>
              <a:schemeClr val="tx1"/>
            </a:solidFill>
            <a:prstDash val="dash"/>
            <a:round/>
            <a:headEnd/>
            <a:tailEnd/>
          </a:ln>
          <a:effectLst/>
        </p:spPr>
        <p:txBody>
          <a:bodyPr/>
          <a:lstStyle/>
          <a:p>
            <a:endParaRPr lang="en-US"/>
          </a:p>
        </p:txBody>
      </p:sp>
      <p:sp>
        <p:nvSpPr>
          <p:cNvPr id="228379" name="Text Box 27"/>
          <p:cNvSpPr txBox="1">
            <a:spLocks noChangeArrowheads="1"/>
          </p:cNvSpPr>
          <p:nvPr/>
        </p:nvSpPr>
        <p:spPr bwMode="auto">
          <a:xfrm>
            <a:off x="3924300" y="5445125"/>
            <a:ext cx="370614" cy="400110"/>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H</a:t>
            </a:r>
          </a:p>
        </p:txBody>
      </p:sp>
      <p:sp>
        <p:nvSpPr>
          <p:cNvPr id="228380" name="Text Box 28"/>
          <p:cNvSpPr txBox="1">
            <a:spLocks noChangeArrowheads="1"/>
          </p:cNvSpPr>
          <p:nvPr/>
        </p:nvSpPr>
        <p:spPr bwMode="auto">
          <a:xfrm>
            <a:off x="6367777" y="3744972"/>
            <a:ext cx="1920875" cy="396875"/>
          </a:xfrm>
          <a:prstGeom prst="rect">
            <a:avLst/>
          </a:prstGeom>
          <a:noFill/>
          <a:ln w="9525">
            <a:noFill/>
            <a:miter lim="800000"/>
            <a:headEnd/>
            <a:tailEnd/>
          </a:ln>
          <a:effectLst/>
        </p:spPr>
        <p:txBody>
          <a:bodyPr>
            <a:spAutoFit/>
          </a:bodyPr>
          <a:lstStyle/>
          <a:p>
            <a:pPr>
              <a:spcBef>
                <a:spcPct val="50000"/>
              </a:spcBef>
              <a:buFontTx/>
              <a:buNone/>
            </a:pPr>
            <a:r>
              <a:rPr lang="en-US" dirty="0">
                <a:solidFill>
                  <a:schemeClr val="tx2"/>
                </a:solidFill>
                <a:latin typeface="Arial" charset="0"/>
                <a:cs typeface="Arial" charset="0"/>
              </a:rPr>
              <a:t>|Slope| = (1-t)w</a:t>
            </a:r>
          </a:p>
        </p:txBody>
      </p:sp>
      <p:sp>
        <p:nvSpPr>
          <p:cNvPr id="228381" name="Line 29"/>
          <p:cNvSpPr>
            <a:spLocks noChangeShapeType="1"/>
          </p:cNvSpPr>
          <p:nvPr/>
        </p:nvSpPr>
        <p:spPr bwMode="auto">
          <a:xfrm flipH="1">
            <a:off x="5874621" y="4092092"/>
            <a:ext cx="692150" cy="307975"/>
          </a:xfrm>
          <a:prstGeom prst="line">
            <a:avLst/>
          </a:prstGeom>
          <a:noFill/>
          <a:ln w="9525">
            <a:solidFill>
              <a:srgbClr val="4B1500"/>
            </a:solidFill>
            <a:round/>
            <a:headEnd/>
            <a:tailEnd type="triangle" w="med" len="med"/>
          </a:ln>
          <a:effectLst/>
        </p:spPr>
        <p:txBody>
          <a:bodyPr/>
          <a:lstStyle/>
          <a:p>
            <a:endParaRPr lang="en-US"/>
          </a:p>
        </p:txBody>
      </p:sp>
      <p:sp>
        <p:nvSpPr>
          <p:cNvPr id="228382" name="Arc 30"/>
          <p:cNvSpPr>
            <a:spLocks/>
          </p:cNvSpPr>
          <p:nvPr/>
        </p:nvSpPr>
        <p:spPr bwMode="auto">
          <a:xfrm rot="9602351">
            <a:off x="4211638" y="2276475"/>
            <a:ext cx="1766887" cy="21510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945424"/>
            </a:solidFill>
            <a:round/>
            <a:headEnd/>
            <a:tailEnd/>
          </a:ln>
          <a:effectLst/>
        </p:spPr>
        <p:txBody>
          <a:bodyPr rot="10800000" wrap="none" anchor="ctr"/>
          <a:lstStyle/>
          <a:p>
            <a:pPr algn="ctr">
              <a:spcBef>
                <a:spcPct val="0"/>
              </a:spcBef>
              <a:buFontTx/>
              <a:buNone/>
            </a:pPr>
            <a:endParaRPr lang="en-US">
              <a:latin typeface="Arial" charset="0"/>
            </a:endParaRPr>
          </a:p>
        </p:txBody>
      </p:sp>
      <p:sp>
        <p:nvSpPr>
          <p:cNvPr id="228383" name="Line 31"/>
          <p:cNvSpPr>
            <a:spLocks noChangeShapeType="1"/>
          </p:cNvSpPr>
          <p:nvPr/>
        </p:nvSpPr>
        <p:spPr bwMode="auto">
          <a:xfrm>
            <a:off x="4859338" y="4005263"/>
            <a:ext cx="0" cy="1420812"/>
          </a:xfrm>
          <a:prstGeom prst="line">
            <a:avLst/>
          </a:prstGeom>
          <a:noFill/>
          <a:ln w="9525">
            <a:solidFill>
              <a:schemeClr val="tx1"/>
            </a:solidFill>
            <a:prstDash val="dash"/>
            <a:round/>
            <a:headEnd/>
            <a:tailEnd/>
          </a:ln>
          <a:effectLst/>
        </p:spPr>
        <p:txBody>
          <a:bodyPr/>
          <a:lstStyle/>
          <a:p>
            <a:endParaRPr lang="en-US"/>
          </a:p>
        </p:txBody>
      </p:sp>
      <p:sp>
        <p:nvSpPr>
          <p:cNvPr id="228385" name="AutoShape 33"/>
          <p:cNvSpPr>
            <a:spLocks noChangeArrowheads="1"/>
          </p:cNvSpPr>
          <p:nvPr/>
        </p:nvSpPr>
        <p:spPr bwMode="auto">
          <a:xfrm>
            <a:off x="1852027" y="5951070"/>
            <a:ext cx="1938338" cy="719137"/>
          </a:xfrm>
          <a:prstGeom prst="wedgeRoundRectCallout">
            <a:avLst>
              <a:gd name="adj1" fmla="val 80347"/>
              <a:gd name="adj2" fmla="val -126611"/>
              <a:gd name="adj3" fmla="val 16667"/>
            </a:avLst>
          </a:prstGeom>
          <a:solidFill>
            <a:srgbClr val="FFFF00"/>
          </a:solidFill>
          <a:ln w="9525">
            <a:solidFill>
              <a:schemeClr val="tx1"/>
            </a:solidFill>
            <a:miter lim="800000"/>
            <a:headEnd/>
            <a:tailEnd/>
          </a:ln>
          <a:effectLst/>
        </p:spPr>
        <p:txBody>
          <a:bodyPr/>
          <a:lstStyle/>
          <a:p>
            <a:pPr algn="ctr">
              <a:spcBef>
                <a:spcPct val="0"/>
              </a:spcBef>
              <a:buFontTx/>
              <a:buNone/>
            </a:pPr>
            <a:r>
              <a:rPr lang="en-US">
                <a:solidFill>
                  <a:schemeClr val="tx2"/>
                </a:solidFill>
                <a:latin typeface="Arial" charset="0"/>
              </a:rPr>
              <a:t>Hours before program</a:t>
            </a:r>
          </a:p>
        </p:txBody>
      </p:sp>
      <p:sp>
        <p:nvSpPr>
          <p:cNvPr id="228386" name="AutoShape 34"/>
          <p:cNvSpPr>
            <a:spLocks noChangeArrowheads="1"/>
          </p:cNvSpPr>
          <p:nvPr/>
        </p:nvSpPr>
        <p:spPr bwMode="auto">
          <a:xfrm>
            <a:off x="5054599" y="5945514"/>
            <a:ext cx="1819275" cy="730250"/>
          </a:xfrm>
          <a:prstGeom prst="wedgeRoundRectCallout">
            <a:avLst>
              <a:gd name="adj1" fmla="val -59119"/>
              <a:gd name="adj2" fmla="val -121255"/>
              <a:gd name="adj3" fmla="val 16667"/>
            </a:avLst>
          </a:prstGeom>
          <a:solidFill>
            <a:srgbClr val="FFFF00"/>
          </a:solidFill>
          <a:ln w="9525">
            <a:solidFill>
              <a:schemeClr val="tx1"/>
            </a:solidFill>
            <a:miter lim="800000"/>
            <a:headEnd/>
            <a:tailEnd/>
          </a:ln>
          <a:effectLst/>
        </p:spPr>
        <p:txBody>
          <a:bodyPr/>
          <a:lstStyle/>
          <a:p>
            <a:pPr algn="ctr">
              <a:spcBef>
                <a:spcPct val="0"/>
              </a:spcBef>
              <a:buFontTx/>
              <a:buNone/>
            </a:pPr>
            <a:r>
              <a:rPr lang="en-US" dirty="0">
                <a:solidFill>
                  <a:schemeClr val="tx2"/>
                </a:solidFill>
                <a:latin typeface="Arial" charset="0"/>
              </a:rPr>
              <a:t>Hours after program</a:t>
            </a:r>
          </a:p>
        </p:txBody>
      </p:sp>
      <p:sp>
        <p:nvSpPr>
          <p:cNvPr id="228388" name="Rectangle 36"/>
          <p:cNvSpPr>
            <a:spLocks noGrp="1" noChangeArrowheads="1"/>
          </p:cNvSpPr>
          <p:nvPr>
            <p:ph type="title"/>
          </p:nvPr>
        </p:nvSpPr>
        <p:spPr>
          <a:xfrm>
            <a:off x="685800" y="260350"/>
            <a:ext cx="7772400" cy="936625"/>
          </a:xfrm>
          <a:noFill/>
          <a:ln/>
        </p:spPr>
        <p:txBody>
          <a:bodyPr/>
          <a:lstStyle/>
          <a:p>
            <a:r>
              <a:rPr lang="en-US" sz="3600" dirty="0"/>
              <a:t>Work Incentives</a:t>
            </a:r>
            <a:br>
              <a:rPr lang="en-US" sz="3600" dirty="0"/>
            </a:br>
            <a:endParaRPr lang="en-US" sz="3600" dirty="0"/>
          </a:p>
        </p:txBody>
      </p:sp>
      <p:sp>
        <p:nvSpPr>
          <p:cNvPr id="228390" name="Line 38"/>
          <p:cNvSpPr>
            <a:spLocks noChangeShapeType="1"/>
          </p:cNvSpPr>
          <p:nvPr/>
        </p:nvSpPr>
        <p:spPr bwMode="auto">
          <a:xfrm flipH="1">
            <a:off x="2051050" y="3500438"/>
            <a:ext cx="2089150" cy="0"/>
          </a:xfrm>
          <a:prstGeom prst="line">
            <a:avLst/>
          </a:prstGeom>
          <a:noFill/>
          <a:ln w="9525">
            <a:solidFill>
              <a:schemeClr val="tx1"/>
            </a:solidFill>
            <a:prstDash val="dash"/>
            <a:round/>
            <a:headEnd/>
            <a:tailEnd/>
          </a:ln>
          <a:effectLst/>
        </p:spPr>
        <p:txBody>
          <a:bodyPr/>
          <a:lstStyle/>
          <a:p>
            <a:endParaRPr lang="en-US"/>
          </a:p>
        </p:txBody>
      </p:sp>
      <p:sp>
        <p:nvSpPr>
          <p:cNvPr id="228391" name="Text Box 39"/>
          <p:cNvSpPr txBox="1">
            <a:spLocks noChangeArrowheads="1"/>
          </p:cNvSpPr>
          <p:nvPr/>
        </p:nvSpPr>
        <p:spPr bwMode="auto">
          <a:xfrm>
            <a:off x="1403350" y="3213100"/>
            <a:ext cx="524503" cy="400110"/>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G/t</a:t>
            </a:r>
          </a:p>
        </p:txBody>
      </p:sp>
      <p:sp>
        <p:nvSpPr>
          <p:cNvPr id="228392" name="Text Box 40"/>
          <p:cNvSpPr txBox="1">
            <a:spLocks noChangeArrowheads="1"/>
          </p:cNvSpPr>
          <p:nvPr/>
        </p:nvSpPr>
        <p:spPr bwMode="auto">
          <a:xfrm>
            <a:off x="4787900" y="1412875"/>
            <a:ext cx="4140200" cy="1538883"/>
          </a:xfrm>
          <a:prstGeom prst="rect">
            <a:avLst/>
          </a:prstGeom>
          <a:noFill/>
          <a:ln w="9525" algn="ctr">
            <a:noFill/>
            <a:miter lim="800000"/>
            <a:headEnd/>
            <a:tailEnd/>
          </a:ln>
          <a:effectLst/>
        </p:spPr>
        <p:txBody>
          <a:bodyPr>
            <a:spAutoFit/>
          </a:bodyPr>
          <a:lstStyle/>
          <a:p>
            <a:pPr>
              <a:spcBef>
                <a:spcPct val="50000"/>
              </a:spcBef>
              <a:buFontTx/>
              <a:buNone/>
            </a:pPr>
            <a:r>
              <a:rPr lang="en-US" sz="2200" dirty="0"/>
              <a:t>In new optimum D</a:t>
            </a:r>
            <a:r>
              <a:rPr lang="en-US" sz="2200" baseline="-25000" dirty="0"/>
              <a:t>2</a:t>
            </a:r>
            <a:r>
              <a:rPr lang="en-US" sz="2200" dirty="0"/>
              <a:t>, individual’s marginal value of leisure = (1-t)w</a:t>
            </a:r>
          </a:p>
          <a:p>
            <a:pPr>
              <a:spcBef>
                <a:spcPct val="50000"/>
              </a:spcBef>
              <a:buFontTx/>
              <a:buNone/>
            </a:pPr>
            <a:r>
              <a:rPr lang="en-US" dirty="0">
                <a:sym typeface="Wingdings" pitchFamily="2" charset="2"/>
              </a:rPr>
              <a:t>Yet marginal productivity is still w</a:t>
            </a:r>
            <a:br>
              <a:rPr lang="en-US" dirty="0">
                <a:sym typeface="Wingdings" pitchFamily="2" charset="2"/>
              </a:rPr>
            </a:br>
            <a:r>
              <a:rPr lang="en-US" dirty="0">
                <a:sym typeface="Wingdings" pitchFamily="2" charset="2"/>
              </a:rPr>
              <a:t> Not efficient!!</a:t>
            </a:r>
            <a:endParaRPr lang="en-US" dirty="0"/>
          </a:p>
        </p:txBody>
      </p:sp>
      <p:sp>
        <p:nvSpPr>
          <p:cNvPr id="40" name="Text Box 17">
            <a:extLst>
              <a:ext uri="{FF2B5EF4-FFF2-40B4-BE49-F238E27FC236}">
                <a16:creationId xmlns:a16="http://schemas.microsoft.com/office/drawing/2014/main" id="{99DB0B42-885C-4760-9C71-1F9E5CAC5EB4}"/>
              </a:ext>
            </a:extLst>
          </p:cNvPr>
          <p:cNvSpPr txBox="1">
            <a:spLocks noChangeArrowheads="1"/>
          </p:cNvSpPr>
          <p:nvPr/>
        </p:nvSpPr>
        <p:spPr bwMode="auto">
          <a:xfrm>
            <a:off x="6227763" y="4124325"/>
            <a:ext cx="298450" cy="396875"/>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ii</a:t>
            </a:r>
          </a:p>
        </p:txBody>
      </p:sp>
      <p:sp>
        <p:nvSpPr>
          <p:cNvPr id="41" name="Text Box 10">
            <a:extLst>
              <a:ext uri="{FF2B5EF4-FFF2-40B4-BE49-F238E27FC236}">
                <a16:creationId xmlns:a16="http://schemas.microsoft.com/office/drawing/2014/main" id="{2022B633-ED86-4073-A6E4-D9C4CADCE98F}"/>
              </a:ext>
            </a:extLst>
          </p:cNvPr>
          <p:cNvSpPr txBox="1">
            <a:spLocks noChangeArrowheads="1"/>
          </p:cNvSpPr>
          <p:nvPr/>
        </p:nvSpPr>
        <p:spPr bwMode="auto">
          <a:xfrm>
            <a:off x="4833753" y="3552765"/>
            <a:ext cx="465192" cy="400110"/>
          </a:xfrm>
          <a:prstGeom prst="rect">
            <a:avLst/>
          </a:prstGeom>
          <a:noFill/>
          <a:ln w="9525">
            <a:noFill/>
            <a:miter lim="800000"/>
            <a:headEnd/>
            <a:tailEnd/>
          </a:ln>
          <a:effectLst/>
        </p:spPr>
        <p:txBody>
          <a:bodyPr wrap="none">
            <a:spAutoFit/>
          </a:bodyPr>
          <a:lstStyle/>
          <a:p>
            <a:pPr>
              <a:spcBef>
                <a:spcPct val="0"/>
              </a:spcBef>
              <a:buFontTx/>
              <a:buNone/>
            </a:pPr>
            <a:r>
              <a:rPr lang="en-US" dirty="0">
                <a:solidFill>
                  <a:schemeClr val="tx2"/>
                </a:solidFill>
                <a:latin typeface="Arial" charset="0"/>
              </a:rPr>
              <a:t>D</a:t>
            </a:r>
            <a:r>
              <a:rPr lang="en-US" baseline="-25000" dirty="0">
                <a:solidFill>
                  <a:schemeClr val="tx2"/>
                </a:solidFill>
                <a:latin typeface="Arial" charset="0"/>
              </a:rPr>
              <a:t>2</a:t>
            </a:r>
            <a:endParaRPr lang="en-US" dirty="0">
              <a:solidFill>
                <a:schemeClr val="tx2"/>
              </a:solidFill>
              <a:latin typeface="Arial" charset="0"/>
            </a:endParaRPr>
          </a:p>
        </p:txBody>
      </p:sp>
      <p:sp>
        <p:nvSpPr>
          <p:cNvPr id="43" name="Text Box 10">
            <a:extLst>
              <a:ext uri="{FF2B5EF4-FFF2-40B4-BE49-F238E27FC236}">
                <a16:creationId xmlns:a16="http://schemas.microsoft.com/office/drawing/2014/main" id="{D2C23CD2-562F-4129-B426-4B48B7AF0A06}"/>
              </a:ext>
            </a:extLst>
          </p:cNvPr>
          <p:cNvSpPr txBox="1">
            <a:spLocks noChangeArrowheads="1"/>
          </p:cNvSpPr>
          <p:nvPr/>
        </p:nvSpPr>
        <p:spPr bwMode="auto">
          <a:xfrm>
            <a:off x="4387975" y="3363059"/>
            <a:ext cx="465192" cy="400110"/>
          </a:xfrm>
          <a:prstGeom prst="rect">
            <a:avLst/>
          </a:prstGeom>
          <a:noFill/>
          <a:ln w="9525">
            <a:noFill/>
            <a:miter lim="800000"/>
            <a:headEnd/>
            <a:tailEnd/>
          </a:ln>
          <a:effectLst/>
        </p:spPr>
        <p:txBody>
          <a:bodyPr wrap="none">
            <a:spAutoFit/>
          </a:bodyPr>
          <a:lstStyle/>
          <a:p>
            <a:pPr>
              <a:spcBef>
                <a:spcPct val="0"/>
              </a:spcBef>
              <a:buFontTx/>
              <a:buNone/>
            </a:pPr>
            <a:r>
              <a:rPr lang="en-US" dirty="0">
                <a:solidFill>
                  <a:schemeClr val="tx2"/>
                </a:solidFill>
                <a:latin typeface="Arial" charset="0"/>
              </a:rPr>
              <a:t>D</a:t>
            </a:r>
            <a:r>
              <a:rPr lang="en-US" baseline="-25000" dirty="0">
                <a:solidFill>
                  <a:schemeClr val="tx2"/>
                </a:solidFill>
                <a:latin typeface="Arial" charset="0"/>
              </a:rPr>
              <a:t>1</a:t>
            </a:r>
            <a:endParaRPr lang="en-US" dirty="0">
              <a:solidFill>
                <a:schemeClr val="tx2"/>
              </a:solidFill>
              <a:latin typeface="Arial" charset="0"/>
            </a:endParaRPr>
          </a:p>
        </p:txBody>
      </p:sp>
    </p:spTree>
    <p:extLst>
      <p:ext uri="{BB962C8B-B14F-4D97-AF65-F5344CB8AC3E}">
        <p14:creationId xmlns:p14="http://schemas.microsoft.com/office/powerpoint/2010/main" val="33382532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837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2837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228377"/>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228371"/>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22837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8390"/>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228391"/>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228380"/>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228381"/>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22837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43"/>
                                        </p:tgtEl>
                                        <p:attrNameLst>
                                          <p:attrName>style.visibility</p:attrName>
                                        </p:attrNameLst>
                                      </p:cBhvr>
                                      <p:to>
                                        <p:strVal val="hidden"/>
                                      </p:to>
                                    </p:set>
                                  </p:childTnLst>
                                </p:cTn>
                              </p:par>
                            </p:childTnLst>
                          </p:cTn>
                        </p:par>
                        <p:par>
                          <p:cTn id="37" fill="hold">
                            <p:stCondLst>
                              <p:cond delay="0"/>
                            </p:stCondLst>
                            <p:childTnLst>
                              <p:par>
                                <p:cTn id="38" presetID="22" presetClass="entr" presetSubtype="8" fill="hold" grpId="0" nodeType="afterEffect">
                                  <p:stCondLst>
                                    <p:cond delay="0"/>
                                  </p:stCondLst>
                                  <p:childTnLst>
                                    <p:set>
                                      <p:cBhvr>
                                        <p:cTn id="39" dur="1" fill="hold">
                                          <p:stCondLst>
                                            <p:cond delay="0"/>
                                          </p:stCondLst>
                                        </p:cTn>
                                        <p:tgtEl>
                                          <p:spTgt spid="228382"/>
                                        </p:tgtEl>
                                        <p:attrNameLst>
                                          <p:attrName>style.visibility</p:attrName>
                                        </p:attrNameLst>
                                      </p:cBhvr>
                                      <p:to>
                                        <p:strVal val="visible"/>
                                      </p:to>
                                    </p:set>
                                    <p:animEffect transition="in" filter="wipe(left)">
                                      <p:cBhvr>
                                        <p:cTn id="40" dur="2000"/>
                                        <p:tgtEl>
                                          <p:spTgt spid="228382"/>
                                        </p:tgtEl>
                                      </p:cBhvr>
                                    </p:animEffect>
                                  </p:childTnLst>
                                </p:cTn>
                              </p:par>
                            </p:childTnLst>
                          </p:cTn>
                        </p:par>
                        <p:par>
                          <p:cTn id="41" fill="hold">
                            <p:stCondLst>
                              <p:cond delay="2000"/>
                            </p:stCondLst>
                            <p:childTnLst>
                              <p:par>
                                <p:cTn id="42" presetID="1" presetClass="entr" presetSubtype="0" fill="hold" grpId="0" nodeType="afterEffect">
                                  <p:stCondLst>
                                    <p:cond delay="0"/>
                                  </p:stCondLst>
                                  <p:childTnLst>
                                    <p:set>
                                      <p:cBhvr>
                                        <p:cTn id="43" dur="1" fill="hold">
                                          <p:stCondLst>
                                            <p:cond delay="0"/>
                                          </p:stCondLst>
                                        </p:cTn>
                                        <p:tgtEl>
                                          <p:spTgt spid="41"/>
                                        </p:tgtEl>
                                        <p:attrNameLst>
                                          <p:attrName>style.visibility</p:attrName>
                                        </p:attrNameLst>
                                      </p:cBhvr>
                                      <p:to>
                                        <p:strVal val="visible"/>
                                      </p:to>
                                    </p:set>
                                  </p:childTnLst>
                                </p:cTn>
                              </p:par>
                            </p:childTnLst>
                          </p:cTn>
                        </p:par>
                        <p:par>
                          <p:cTn id="44" fill="hold">
                            <p:stCondLst>
                              <p:cond delay="2000"/>
                            </p:stCondLst>
                            <p:childTnLst>
                              <p:par>
                                <p:cTn id="45" presetID="22" presetClass="entr" presetSubtype="1" fill="hold" grpId="0" nodeType="afterEffect">
                                  <p:stCondLst>
                                    <p:cond delay="0"/>
                                  </p:stCondLst>
                                  <p:childTnLst>
                                    <p:set>
                                      <p:cBhvr>
                                        <p:cTn id="46" dur="1" fill="hold">
                                          <p:stCondLst>
                                            <p:cond delay="0"/>
                                          </p:stCondLst>
                                        </p:cTn>
                                        <p:tgtEl>
                                          <p:spTgt spid="228383"/>
                                        </p:tgtEl>
                                        <p:attrNameLst>
                                          <p:attrName>style.visibility</p:attrName>
                                        </p:attrNameLst>
                                      </p:cBhvr>
                                      <p:to>
                                        <p:strVal val="visible"/>
                                      </p:to>
                                    </p:set>
                                    <p:animEffect transition="in" filter="wipe(up)">
                                      <p:cBhvr>
                                        <p:cTn id="47" dur="2000"/>
                                        <p:tgtEl>
                                          <p:spTgt spid="228383"/>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9" fill="hold" grpId="0" nodeType="clickEffect">
                                  <p:stCondLst>
                                    <p:cond delay="0"/>
                                  </p:stCondLst>
                                  <p:childTnLst>
                                    <p:set>
                                      <p:cBhvr>
                                        <p:cTn id="51" dur="1" fill="hold">
                                          <p:stCondLst>
                                            <p:cond delay="0"/>
                                          </p:stCondLst>
                                        </p:cTn>
                                        <p:tgtEl>
                                          <p:spTgt spid="228385"/>
                                        </p:tgtEl>
                                        <p:attrNameLst>
                                          <p:attrName>style.visibility</p:attrName>
                                        </p:attrNameLst>
                                      </p:cBhvr>
                                      <p:to>
                                        <p:strVal val="visible"/>
                                      </p:to>
                                    </p:set>
                                    <p:anim calcmode="lin" valueType="num">
                                      <p:cBhvr additive="base">
                                        <p:cTn id="52" dur="2000" fill="hold"/>
                                        <p:tgtEl>
                                          <p:spTgt spid="228385"/>
                                        </p:tgtEl>
                                        <p:attrNameLst>
                                          <p:attrName>ppt_x</p:attrName>
                                        </p:attrNameLst>
                                      </p:cBhvr>
                                      <p:tavLst>
                                        <p:tav tm="0">
                                          <p:val>
                                            <p:strVal val="0-#ppt_w/2"/>
                                          </p:val>
                                        </p:tav>
                                        <p:tav tm="100000">
                                          <p:val>
                                            <p:strVal val="#ppt_x"/>
                                          </p:val>
                                        </p:tav>
                                      </p:tavLst>
                                    </p:anim>
                                    <p:anim calcmode="lin" valueType="num">
                                      <p:cBhvr additive="base">
                                        <p:cTn id="53" dur="2000" fill="hold"/>
                                        <p:tgtEl>
                                          <p:spTgt spid="228385"/>
                                        </p:tgtEl>
                                        <p:attrNameLst>
                                          <p:attrName>ppt_y</p:attrName>
                                        </p:attrNameLst>
                                      </p:cBhvr>
                                      <p:tavLst>
                                        <p:tav tm="0">
                                          <p:val>
                                            <p:strVal val="0-#ppt_h/2"/>
                                          </p:val>
                                        </p:tav>
                                        <p:tav tm="100000">
                                          <p:val>
                                            <p:strVal val="#ppt_y"/>
                                          </p:val>
                                        </p:tav>
                                      </p:tavLst>
                                    </p:anim>
                                  </p:childTnLst>
                                </p:cTn>
                              </p:par>
                            </p:childTnLst>
                          </p:cTn>
                        </p:par>
                        <p:par>
                          <p:cTn id="54" fill="hold">
                            <p:stCondLst>
                              <p:cond delay="2000"/>
                            </p:stCondLst>
                            <p:childTnLst>
                              <p:par>
                                <p:cTn id="55" presetID="63" presetClass="path" presetSubtype="0" accel="50000" decel="50000" fill="hold" grpId="1" nodeType="afterEffect">
                                  <p:stCondLst>
                                    <p:cond delay="2000"/>
                                  </p:stCondLst>
                                  <p:childTnLst>
                                    <p:animMotion origin="layout" path="M 3.05556E-6 1.11111E-6 L 0.17656 -0.00556 " pathEditMode="relative" rAng="0" ptsTypes="AA">
                                      <p:cBhvr>
                                        <p:cTn id="56" dur="2000" fill="hold"/>
                                        <p:tgtEl>
                                          <p:spTgt spid="228385"/>
                                        </p:tgtEl>
                                        <p:attrNameLst>
                                          <p:attrName>ppt_x</p:attrName>
                                          <p:attrName>ppt_y</p:attrName>
                                        </p:attrNameLst>
                                      </p:cBhvr>
                                      <p:rCtr x="8819" y="-278"/>
                                    </p:animMotion>
                                  </p:childTnLst>
                                </p:cTn>
                              </p:par>
                            </p:childTnLst>
                          </p:cTn>
                        </p:par>
                        <p:par>
                          <p:cTn id="57" fill="hold">
                            <p:stCondLst>
                              <p:cond delay="6000"/>
                            </p:stCondLst>
                            <p:childTnLst>
                              <p:par>
                                <p:cTn id="58" presetID="2" presetClass="exit" presetSubtype="3" fill="hold" grpId="2" nodeType="afterEffect">
                                  <p:stCondLst>
                                    <p:cond delay="2000"/>
                                  </p:stCondLst>
                                  <p:childTnLst>
                                    <p:anim calcmode="lin" valueType="num">
                                      <p:cBhvr additive="base">
                                        <p:cTn id="59" dur="2000"/>
                                        <p:tgtEl>
                                          <p:spTgt spid="228385"/>
                                        </p:tgtEl>
                                        <p:attrNameLst>
                                          <p:attrName>ppt_x</p:attrName>
                                        </p:attrNameLst>
                                      </p:cBhvr>
                                      <p:tavLst>
                                        <p:tav tm="0">
                                          <p:val>
                                            <p:strVal val="ppt_x"/>
                                          </p:val>
                                        </p:tav>
                                        <p:tav tm="100000">
                                          <p:val>
                                            <p:strVal val="1+ppt_w/2"/>
                                          </p:val>
                                        </p:tav>
                                      </p:tavLst>
                                    </p:anim>
                                    <p:anim calcmode="lin" valueType="num">
                                      <p:cBhvr additive="base">
                                        <p:cTn id="60" dur="2000"/>
                                        <p:tgtEl>
                                          <p:spTgt spid="228385"/>
                                        </p:tgtEl>
                                        <p:attrNameLst>
                                          <p:attrName>ppt_y</p:attrName>
                                        </p:attrNameLst>
                                      </p:cBhvr>
                                      <p:tavLst>
                                        <p:tav tm="0">
                                          <p:val>
                                            <p:strVal val="ppt_y"/>
                                          </p:val>
                                        </p:tav>
                                        <p:tav tm="100000">
                                          <p:val>
                                            <p:strVal val="0-ppt_h/2"/>
                                          </p:val>
                                        </p:tav>
                                      </p:tavLst>
                                    </p:anim>
                                    <p:set>
                                      <p:cBhvr>
                                        <p:cTn id="61" dur="1" fill="hold">
                                          <p:stCondLst>
                                            <p:cond delay="1999"/>
                                          </p:stCondLst>
                                        </p:cTn>
                                        <p:tgtEl>
                                          <p:spTgt spid="228385"/>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2" presetClass="entr" presetSubtype="3" fill="hold" grpId="0" nodeType="clickEffect">
                                  <p:stCondLst>
                                    <p:cond delay="0"/>
                                  </p:stCondLst>
                                  <p:childTnLst>
                                    <p:set>
                                      <p:cBhvr>
                                        <p:cTn id="65" dur="1" fill="hold">
                                          <p:stCondLst>
                                            <p:cond delay="0"/>
                                          </p:stCondLst>
                                        </p:cTn>
                                        <p:tgtEl>
                                          <p:spTgt spid="228386"/>
                                        </p:tgtEl>
                                        <p:attrNameLst>
                                          <p:attrName>style.visibility</p:attrName>
                                        </p:attrNameLst>
                                      </p:cBhvr>
                                      <p:to>
                                        <p:strVal val="visible"/>
                                      </p:to>
                                    </p:set>
                                    <p:anim calcmode="lin" valueType="num">
                                      <p:cBhvr additive="base">
                                        <p:cTn id="66" dur="2000" fill="hold"/>
                                        <p:tgtEl>
                                          <p:spTgt spid="228386"/>
                                        </p:tgtEl>
                                        <p:attrNameLst>
                                          <p:attrName>ppt_x</p:attrName>
                                        </p:attrNameLst>
                                      </p:cBhvr>
                                      <p:tavLst>
                                        <p:tav tm="0">
                                          <p:val>
                                            <p:strVal val="1+#ppt_w/2"/>
                                          </p:val>
                                        </p:tav>
                                        <p:tav tm="100000">
                                          <p:val>
                                            <p:strVal val="#ppt_x"/>
                                          </p:val>
                                        </p:tav>
                                      </p:tavLst>
                                    </p:anim>
                                    <p:anim calcmode="lin" valueType="num">
                                      <p:cBhvr additive="base">
                                        <p:cTn id="67" dur="2000" fill="hold"/>
                                        <p:tgtEl>
                                          <p:spTgt spid="228386"/>
                                        </p:tgtEl>
                                        <p:attrNameLst>
                                          <p:attrName>ppt_y</p:attrName>
                                        </p:attrNameLst>
                                      </p:cBhvr>
                                      <p:tavLst>
                                        <p:tav tm="0">
                                          <p:val>
                                            <p:strVal val="0-#ppt_h/2"/>
                                          </p:val>
                                        </p:tav>
                                        <p:tav tm="100000">
                                          <p:val>
                                            <p:strVal val="#ppt_y"/>
                                          </p:val>
                                        </p:tav>
                                      </p:tavLst>
                                    </p:anim>
                                  </p:childTnLst>
                                </p:cTn>
                              </p:par>
                            </p:childTnLst>
                          </p:cTn>
                        </p:par>
                        <p:par>
                          <p:cTn id="68" fill="hold">
                            <p:stCondLst>
                              <p:cond delay="2000"/>
                            </p:stCondLst>
                            <p:childTnLst>
                              <p:par>
                                <p:cTn id="69" presetID="63" presetClass="path" presetSubtype="0" accel="50000" decel="50000" fill="hold" grpId="1" nodeType="afterEffect">
                                  <p:stCondLst>
                                    <p:cond delay="2000"/>
                                  </p:stCondLst>
                                  <p:childTnLst>
                                    <p:animMotion origin="layout" path="M 3.05556E-6 1.11111E-6 L 0.13455 1.11111E-6 " pathEditMode="relative" rAng="0" ptsTypes="AA">
                                      <p:cBhvr>
                                        <p:cTn id="70" dur="2000" fill="hold"/>
                                        <p:tgtEl>
                                          <p:spTgt spid="228386"/>
                                        </p:tgtEl>
                                        <p:attrNameLst>
                                          <p:attrName>ppt_x</p:attrName>
                                          <p:attrName>ppt_y</p:attrName>
                                        </p:attrNameLst>
                                      </p:cBhvr>
                                      <p:rCtr x="6719" y="0"/>
                                    </p:animMotion>
                                  </p:childTnLst>
                                </p:cTn>
                              </p:par>
                            </p:childTnLst>
                          </p:cTn>
                        </p:par>
                        <p:par>
                          <p:cTn id="71" fill="hold">
                            <p:stCondLst>
                              <p:cond delay="6000"/>
                            </p:stCondLst>
                            <p:childTnLst>
                              <p:par>
                                <p:cTn id="72" presetID="2" presetClass="exit" presetSubtype="3" fill="hold" grpId="2" nodeType="afterEffect">
                                  <p:stCondLst>
                                    <p:cond delay="2000"/>
                                  </p:stCondLst>
                                  <p:childTnLst>
                                    <p:anim calcmode="lin" valueType="num">
                                      <p:cBhvr additive="base">
                                        <p:cTn id="73" dur="2000"/>
                                        <p:tgtEl>
                                          <p:spTgt spid="228386"/>
                                        </p:tgtEl>
                                        <p:attrNameLst>
                                          <p:attrName>ppt_x</p:attrName>
                                        </p:attrNameLst>
                                      </p:cBhvr>
                                      <p:tavLst>
                                        <p:tav tm="0">
                                          <p:val>
                                            <p:strVal val="ppt_x"/>
                                          </p:val>
                                        </p:tav>
                                        <p:tav tm="100000">
                                          <p:val>
                                            <p:strVal val="1+ppt_w/2"/>
                                          </p:val>
                                        </p:tav>
                                      </p:tavLst>
                                    </p:anim>
                                    <p:anim calcmode="lin" valueType="num">
                                      <p:cBhvr additive="base">
                                        <p:cTn id="74" dur="2000"/>
                                        <p:tgtEl>
                                          <p:spTgt spid="228386"/>
                                        </p:tgtEl>
                                        <p:attrNameLst>
                                          <p:attrName>ppt_y</p:attrName>
                                        </p:attrNameLst>
                                      </p:cBhvr>
                                      <p:tavLst>
                                        <p:tav tm="0">
                                          <p:val>
                                            <p:strVal val="ppt_y"/>
                                          </p:val>
                                        </p:tav>
                                        <p:tav tm="100000">
                                          <p:val>
                                            <p:strVal val="0-ppt_h/2"/>
                                          </p:val>
                                        </p:tav>
                                      </p:tavLst>
                                    </p:anim>
                                    <p:set>
                                      <p:cBhvr>
                                        <p:cTn id="75" dur="1" fill="hold">
                                          <p:stCondLst>
                                            <p:cond delay="1999"/>
                                          </p:stCondLst>
                                        </p:cTn>
                                        <p:tgtEl>
                                          <p:spTgt spid="228386"/>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228392"/>
                                        </p:tgtEl>
                                        <p:attrNameLst>
                                          <p:attrName>style.visibility</p:attrName>
                                        </p:attrNameLst>
                                      </p:cBhvr>
                                      <p:to>
                                        <p:strVal val="visible"/>
                                      </p:to>
                                    </p:set>
                                  </p:childTnLst>
                                </p:cTn>
                              </p:par>
                            </p:childTnLst>
                          </p:cTn>
                        </p:par>
                        <p:par>
                          <p:cTn id="80" fill="hold">
                            <p:stCondLst>
                              <p:cond delay="0"/>
                            </p:stCondLst>
                            <p:childTnLst>
                              <p:par>
                                <p:cTn id="81" presetID="1" presetClass="entr" presetSubtype="0" fill="hold" grpId="0" nodeType="afterEffect">
                                  <p:stCondLst>
                                    <p:cond delay="0"/>
                                  </p:stCondLst>
                                  <p:childTnLst>
                                    <p:set>
                                      <p:cBhvr>
                                        <p:cTn id="8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74" grpId="0" animBg="1"/>
      <p:bldP spid="228376" grpId="0" animBg="1"/>
      <p:bldP spid="228377" grpId="0"/>
      <p:bldP spid="228378" grpId="0" animBg="1"/>
      <p:bldP spid="228379" grpId="0"/>
      <p:bldP spid="228380" grpId="0"/>
      <p:bldP spid="228381" grpId="0" animBg="1"/>
      <p:bldP spid="228382" grpId="0" animBg="1"/>
      <p:bldP spid="228383" grpId="0" animBg="1"/>
      <p:bldP spid="228385" grpId="0" animBg="1"/>
      <p:bldP spid="228385" grpId="1" animBg="1"/>
      <p:bldP spid="228385" grpId="2" animBg="1"/>
      <p:bldP spid="228386" grpId="0" animBg="1"/>
      <p:bldP spid="228386" grpId="1" animBg="1"/>
      <p:bldP spid="228386" grpId="2" animBg="1"/>
      <p:bldP spid="228390" grpId="0" animBg="1"/>
      <p:bldP spid="228391" grpId="0"/>
      <p:bldP spid="228392" grpId="0"/>
      <p:bldP spid="40" grpId="0"/>
      <p:bldP spid="41" grpId="0"/>
      <p:bldP spid="4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lide Number Placeholder 4"/>
          <p:cNvSpPr>
            <a:spLocks noGrp="1"/>
          </p:cNvSpPr>
          <p:nvPr>
            <p:ph type="sldNum" sz="quarter" idx="12"/>
          </p:nvPr>
        </p:nvSpPr>
        <p:spPr/>
        <p:txBody>
          <a:bodyPr/>
          <a:lstStyle/>
          <a:p>
            <a:fld id="{A2C36DD4-D4AA-4C7F-BFCB-9BC41E3DB683}" type="slidenum">
              <a:rPr lang="en-GB"/>
              <a:pPr/>
              <a:t>37</a:t>
            </a:fld>
            <a:endParaRPr lang="en-GB"/>
          </a:p>
        </p:txBody>
      </p:sp>
      <p:sp>
        <p:nvSpPr>
          <p:cNvPr id="230403" name="Line 3"/>
          <p:cNvSpPr>
            <a:spLocks noChangeShapeType="1"/>
          </p:cNvSpPr>
          <p:nvPr/>
        </p:nvSpPr>
        <p:spPr bwMode="auto">
          <a:xfrm>
            <a:off x="2076450" y="1458913"/>
            <a:ext cx="0" cy="4416425"/>
          </a:xfrm>
          <a:prstGeom prst="line">
            <a:avLst/>
          </a:prstGeom>
          <a:noFill/>
          <a:ln w="9525">
            <a:solidFill>
              <a:srgbClr val="4B1500"/>
            </a:solidFill>
            <a:round/>
            <a:headEnd type="triangle" w="med" len="med"/>
            <a:tailEnd/>
          </a:ln>
          <a:effectLst/>
        </p:spPr>
        <p:txBody>
          <a:bodyPr/>
          <a:lstStyle/>
          <a:p>
            <a:endParaRPr lang="en-US"/>
          </a:p>
        </p:txBody>
      </p:sp>
      <p:sp>
        <p:nvSpPr>
          <p:cNvPr id="230404" name="Line 4"/>
          <p:cNvSpPr>
            <a:spLocks noChangeShapeType="1"/>
          </p:cNvSpPr>
          <p:nvPr/>
        </p:nvSpPr>
        <p:spPr bwMode="auto">
          <a:xfrm>
            <a:off x="2076450" y="5875338"/>
            <a:ext cx="6413500" cy="0"/>
          </a:xfrm>
          <a:prstGeom prst="line">
            <a:avLst/>
          </a:prstGeom>
          <a:noFill/>
          <a:ln w="9525">
            <a:solidFill>
              <a:srgbClr val="4B1500"/>
            </a:solidFill>
            <a:round/>
            <a:headEnd/>
            <a:tailEnd type="triangle" w="med" len="med"/>
          </a:ln>
          <a:effectLst/>
        </p:spPr>
        <p:txBody>
          <a:bodyPr/>
          <a:lstStyle/>
          <a:p>
            <a:endParaRPr lang="en-US"/>
          </a:p>
        </p:txBody>
      </p:sp>
      <p:sp>
        <p:nvSpPr>
          <p:cNvPr id="230405" name="Text Box 5"/>
          <p:cNvSpPr txBox="1">
            <a:spLocks noChangeArrowheads="1"/>
          </p:cNvSpPr>
          <p:nvPr/>
        </p:nvSpPr>
        <p:spPr bwMode="auto">
          <a:xfrm>
            <a:off x="6267450" y="5926138"/>
            <a:ext cx="287655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Hours of leisure / month</a:t>
            </a:r>
          </a:p>
        </p:txBody>
      </p:sp>
      <p:sp>
        <p:nvSpPr>
          <p:cNvPr id="230406" name="Text Box 6"/>
          <p:cNvSpPr txBox="1">
            <a:spLocks noChangeArrowheads="1"/>
          </p:cNvSpPr>
          <p:nvPr/>
        </p:nvSpPr>
        <p:spPr bwMode="auto">
          <a:xfrm rot="16200000">
            <a:off x="-1247775" y="3068638"/>
            <a:ext cx="4930775"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Income per month (= earnings + transfers)</a:t>
            </a:r>
          </a:p>
        </p:txBody>
      </p:sp>
      <p:sp>
        <p:nvSpPr>
          <p:cNvPr id="230407" name="Text Box 7"/>
          <p:cNvSpPr txBox="1">
            <a:spLocks noChangeArrowheads="1"/>
          </p:cNvSpPr>
          <p:nvPr/>
        </p:nvSpPr>
        <p:spPr bwMode="auto">
          <a:xfrm>
            <a:off x="1765300" y="5829300"/>
            <a:ext cx="325438"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0</a:t>
            </a:r>
          </a:p>
        </p:txBody>
      </p:sp>
      <p:sp>
        <p:nvSpPr>
          <p:cNvPr id="230408" name="Text Box 8"/>
          <p:cNvSpPr txBox="1">
            <a:spLocks noChangeArrowheads="1"/>
          </p:cNvSpPr>
          <p:nvPr/>
        </p:nvSpPr>
        <p:spPr bwMode="auto">
          <a:xfrm>
            <a:off x="5938838" y="5829300"/>
            <a:ext cx="339725"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T</a:t>
            </a:r>
          </a:p>
        </p:txBody>
      </p:sp>
      <p:sp>
        <p:nvSpPr>
          <p:cNvPr id="230409" name="Line 9"/>
          <p:cNvSpPr>
            <a:spLocks noChangeShapeType="1"/>
          </p:cNvSpPr>
          <p:nvPr/>
        </p:nvSpPr>
        <p:spPr bwMode="auto">
          <a:xfrm flipH="1" flipV="1">
            <a:off x="2076450" y="1939925"/>
            <a:ext cx="4033838" cy="3956050"/>
          </a:xfrm>
          <a:prstGeom prst="line">
            <a:avLst/>
          </a:prstGeom>
          <a:noFill/>
          <a:ln w="9525">
            <a:solidFill>
              <a:srgbClr val="4B1500"/>
            </a:solidFill>
            <a:round/>
            <a:headEnd/>
            <a:tailEnd/>
          </a:ln>
          <a:effectLst/>
        </p:spPr>
        <p:txBody>
          <a:bodyPr/>
          <a:lstStyle/>
          <a:p>
            <a:endParaRPr lang="en-US"/>
          </a:p>
        </p:txBody>
      </p:sp>
      <p:sp>
        <p:nvSpPr>
          <p:cNvPr id="230410" name="Text Box 10"/>
          <p:cNvSpPr txBox="1">
            <a:spLocks noChangeArrowheads="1"/>
          </p:cNvSpPr>
          <p:nvPr/>
        </p:nvSpPr>
        <p:spPr bwMode="auto">
          <a:xfrm>
            <a:off x="1622522" y="1766858"/>
            <a:ext cx="527709" cy="400110"/>
          </a:xfrm>
          <a:prstGeom prst="rect">
            <a:avLst/>
          </a:prstGeom>
          <a:noFill/>
          <a:ln w="9525">
            <a:noFill/>
            <a:miter lim="800000"/>
            <a:headEnd/>
            <a:tailEnd/>
          </a:ln>
          <a:effectLst/>
        </p:spPr>
        <p:txBody>
          <a:bodyPr wrap="none">
            <a:spAutoFit/>
          </a:bodyPr>
          <a:lstStyle/>
          <a:p>
            <a:pPr>
              <a:spcBef>
                <a:spcPct val="0"/>
              </a:spcBef>
              <a:buFontTx/>
              <a:buNone/>
            </a:pPr>
            <a:r>
              <a:rPr lang="en-US" dirty="0" err="1">
                <a:solidFill>
                  <a:schemeClr val="tx2"/>
                </a:solidFill>
                <a:latin typeface="Arial" charset="0"/>
              </a:rPr>
              <a:t>wT</a:t>
            </a:r>
            <a:endParaRPr lang="en-US" dirty="0">
              <a:solidFill>
                <a:schemeClr val="tx2"/>
              </a:solidFill>
              <a:latin typeface="Arial" charset="0"/>
            </a:endParaRPr>
          </a:p>
        </p:txBody>
      </p:sp>
      <p:sp>
        <p:nvSpPr>
          <p:cNvPr id="230411" name="Arc 11"/>
          <p:cNvSpPr>
            <a:spLocks/>
          </p:cNvSpPr>
          <p:nvPr/>
        </p:nvSpPr>
        <p:spPr bwMode="auto">
          <a:xfrm rot="9933366">
            <a:off x="4073525" y="2860675"/>
            <a:ext cx="1766888" cy="21510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p:spPr>
        <p:txBody>
          <a:bodyPr rot="10800000" wrap="none" anchor="ctr"/>
          <a:lstStyle/>
          <a:p>
            <a:pPr algn="ctr">
              <a:spcBef>
                <a:spcPct val="0"/>
              </a:spcBef>
              <a:buFontTx/>
              <a:buNone/>
            </a:pPr>
            <a:endParaRPr lang="en-US">
              <a:latin typeface="Arial" charset="0"/>
            </a:endParaRPr>
          </a:p>
        </p:txBody>
      </p:sp>
      <p:sp>
        <p:nvSpPr>
          <p:cNvPr id="230413" name="Line 13"/>
          <p:cNvSpPr>
            <a:spLocks noChangeShapeType="1"/>
          </p:cNvSpPr>
          <p:nvPr/>
        </p:nvSpPr>
        <p:spPr bwMode="auto">
          <a:xfrm>
            <a:off x="4457700" y="4283075"/>
            <a:ext cx="0" cy="1612900"/>
          </a:xfrm>
          <a:prstGeom prst="line">
            <a:avLst/>
          </a:prstGeom>
          <a:noFill/>
          <a:ln w="9525">
            <a:solidFill>
              <a:schemeClr val="tx1"/>
            </a:solidFill>
            <a:prstDash val="dash"/>
            <a:round/>
            <a:headEnd/>
            <a:tailEnd/>
          </a:ln>
          <a:effectLst/>
        </p:spPr>
        <p:txBody>
          <a:bodyPr/>
          <a:lstStyle/>
          <a:p>
            <a:endParaRPr lang="en-US"/>
          </a:p>
        </p:txBody>
      </p:sp>
      <p:sp>
        <p:nvSpPr>
          <p:cNvPr id="230414" name="Line 14"/>
          <p:cNvSpPr>
            <a:spLocks noChangeShapeType="1"/>
          </p:cNvSpPr>
          <p:nvPr/>
        </p:nvSpPr>
        <p:spPr bwMode="auto">
          <a:xfrm flipH="1">
            <a:off x="2076450" y="4283075"/>
            <a:ext cx="2381250" cy="0"/>
          </a:xfrm>
          <a:prstGeom prst="line">
            <a:avLst/>
          </a:prstGeom>
          <a:noFill/>
          <a:ln w="9525">
            <a:solidFill>
              <a:schemeClr val="tx1"/>
            </a:solidFill>
            <a:prstDash val="dash"/>
            <a:round/>
            <a:headEnd/>
            <a:tailEnd/>
          </a:ln>
          <a:effectLst/>
        </p:spPr>
        <p:txBody>
          <a:bodyPr/>
          <a:lstStyle/>
          <a:p>
            <a:endParaRPr lang="en-US"/>
          </a:p>
        </p:txBody>
      </p:sp>
      <p:sp>
        <p:nvSpPr>
          <p:cNvPr id="230415" name="Text Box 15"/>
          <p:cNvSpPr txBox="1">
            <a:spLocks noChangeArrowheads="1"/>
          </p:cNvSpPr>
          <p:nvPr/>
        </p:nvSpPr>
        <p:spPr bwMode="auto">
          <a:xfrm>
            <a:off x="4303713" y="5848350"/>
            <a:ext cx="339725" cy="396875"/>
          </a:xfrm>
          <a:prstGeom prst="rect">
            <a:avLst/>
          </a:prstGeom>
          <a:noFill/>
          <a:ln w="9525">
            <a:noFill/>
            <a:miter lim="800000"/>
            <a:headEnd/>
            <a:tailEnd/>
          </a:ln>
          <a:effectLst/>
        </p:spPr>
        <p:txBody>
          <a:bodyPr wrap="none">
            <a:spAutoFit/>
          </a:bodyPr>
          <a:lstStyle/>
          <a:p>
            <a:pPr>
              <a:spcBef>
                <a:spcPct val="0"/>
              </a:spcBef>
              <a:buFontTx/>
              <a:buNone/>
            </a:pPr>
            <a:r>
              <a:rPr lang="en-US">
                <a:latin typeface="Arial" charset="0"/>
              </a:rPr>
              <a:t>F</a:t>
            </a:r>
          </a:p>
        </p:txBody>
      </p:sp>
      <p:sp>
        <p:nvSpPr>
          <p:cNvPr id="230417" name="Line 17"/>
          <p:cNvSpPr>
            <a:spLocks noChangeShapeType="1"/>
          </p:cNvSpPr>
          <p:nvPr/>
        </p:nvSpPr>
        <p:spPr bwMode="auto">
          <a:xfrm>
            <a:off x="6110288" y="3668713"/>
            <a:ext cx="0" cy="2227262"/>
          </a:xfrm>
          <a:prstGeom prst="line">
            <a:avLst/>
          </a:prstGeom>
          <a:noFill/>
          <a:ln w="38100">
            <a:solidFill>
              <a:schemeClr val="tx1"/>
            </a:solidFill>
            <a:prstDash val="dash"/>
            <a:round/>
            <a:headEnd/>
            <a:tailEnd/>
          </a:ln>
          <a:effectLst/>
        </p:spPr>
        <p:txBody>
          <a:bodyPr/>
          <a:lstStyle/>
          <a:p>
            <a:endParaRPr lang="en-US"/>
          </a:p>
        </p:txBody>
      </p:sp>
      <p:sp>
        <p:nvSpPr>
          <p:cNvPr id="230418" name="AutoShape 18"/>
          <p:cNvSpPr>
            <a:spLocks/>
          </p:cNvSpPr>
          <p:nvPr/>
        </p:nvSpPr>
        <p:spPr bwMode="auto">
          <a:xfrm>
            <a:off x="6224588" y="3668713"/>
            <a:ext cx="268287" cy="2149475"/>
          </a:xfrm>
          <a:prstGeom prst="rightBrace">
            <a:avLst>
              <a:gd name="adj1" fmla="val 66765"/>
              <a:gd name="adj2" fmla="val 50000"/>
            </a:avLst>
          </a:prstGeom>
          <a:noFill/>
          <a:ln w="9525">
            <a:solidFill>
              <a:schemeClr val="tx1"/>
            </a:solidFill>
            <a:round/>
            <a:headEnd/>
            <a:tailEnd/>
          </a:ln>
          <a:effectLst/>
        </p:spPr>
        <p:txBody>
          <a:bodyPr wrap="none" anchor="ctr"/>
          <a:lstStyle/>
          <a:p>
            <a:endParaRPr lang="en-US"/>
          </a:p>
        </p:txBody>
      </p:sp>
      <p:sp>
        <p:nvSpPr>
          <p:cNvPr id="230419" name="Text Box 19"/>
          <p:cNvSpPr txBox="1">
            <a:spLocks noChangeArrowheads="1"/>
          </p:cNvSpPr>
          <p:nvPr/>
        </p:nvSpPr>
        <p:spPr bwMode="auto">
          <a:xfrm>
            <a:off x="6646863" y="4487863"/>
            <a:ext cx="526106" cy="400110"/>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$G</a:t>
            </a:r>
          </a:p>
        </p:txBody>
      </p:sp>
      <p:grpSp>
        <p:nvGrpSpPr>
          <p:cNvPr id="230420" name="Group 20"/>
          <p:cNvGrpSpPr>
            <a:grpSpLocks/>
          </p:cNvGrpSpPr>
          <p:nvPr/>
        </p:nvGrpSpPr>
        <p:grpSpPr bwMode="auto">
          <a:xfrm>
            <a:off x="2076450" y="1939925"/>
            <a:ext cx="4033838" cy="1728788"/>
            <a:chOff x="1283" y="1386"/>
            <a:chExt cx="2541" cy="1089"/>
          </a:xfrm>
        </p:grpSpPr>
        <p:sp>
          <p:nvSpPr>
            <p:cNvPr id="230421" name="Line 21"/>
            <p:cNvSpPr>
              <a:spLocks noChangeShapeType="1"/>
            </p:cNvSpPr>
            <p:nvPr/>
          </p:nvSpPr>
          <p:spPr bwMode="auto">
            <a:xfrm flipH="1">
              <a:off x="2372" y="2474"/>
              <a:ext cx="1452" cy="0"/>
            </a:xfrm>
            <a:prstGeom prst="line">
              <a:avLst/>
            </a:prstGeom>
            <a:noFill/>
            <a:ln w="38100">
              <a:solidFill>
                <a:srgbClr val="945424"/>
              </a:solidFill>
              <a:round/>
              <a:headEnd/>
              <a:tailEnd/>
            </a:ln>
            <a:effectLst/>
          </p:spPr>
          <p:txBody>
            <a:bodyPr/>
            <a:lstStyle/>
            <a:p>
              <a:endParaRPr lang="en-US"/>
            </a:p>
          </p:txBody>
        </p:sp>
        <p:sp>
          <p:nvSpPr>
            <p:cNvPr id="230422" name="Line 22"/>
            <p:cNvSpPr>
              <a:spLocks noChangeShapeType="1"/>
            </p:cNvSpPr>
            <p:nvPr/>
          </p:nvSpPr>
          <p:spPr bwMode="auto">
            <a:xfrm flipH="1" flipV="1">
              <a:off x="1283" y="1386"/>
              <a:ext cx="1089" cy="1089"/>
            </a:xfrm>
            <a:prstGeom prst="line">
              <a:avLst/>
            </a:prstGeom>
            <a:noFill/>
            <a:ln w="38100">
              <a:solidFill>
                <a:srgbClr val="945424"/>
              </a:solidFill>
              <a:round/>
              <a:headEnd/>
              <a:tailEnd/>
            </a:ln>
            <a:effectLst/>
          </p:spPr>
          <p:txBody>
            <a:bodyPr/>
            <a:lstStyle/>
            <a:p>
              <a:endParaRPr lang="en-US"/>
            </a:p>
          </p:txBody>
        </p:sp>
      </p:grpSp>
      <p:sp>
        <p:nvSpPr>
          <p:cNvPr id="230423" name="Text Box 23"/>
          <p:cNvSpPr txBox="1">
            <a:spLocks noChangeArrowheads="1"/>
          </p:cNvSpPr>
          <p:nvPr/>
        </p:nvSpPr>
        <p:spPr bwMode="auto">
          <a:xfrm>
            <a:off x="3405188" y="3506788"/>
            <a:ext cx="368300" cy="396875"/>
          </a:xfrm>
          <a:prstGeom prst="rect">
            <a:avLst/>
          </a:prstGeom>
          <a:noFill/>
          <a:ln w="9525">
            <a:noFill/>
            <a:miter lim="800000"/>
            <a:headEnd/>
            <a:tailEnd/>
          </a:ln>
          <a:effectLst/>
        </p:spPr>
        <p:txBody>
          <a:bodyPr wrap="none">
            <a:spAutoFit/>
          </a:bodyPr>
          <a:lstStyle/>
          <a:p>
            <a:pPr>
              <a:spcBef>
                <a:spcPct val="0"/>
              </a:spcBef>
              <a:buFontTx/>
              <a:buNone/>
            </a:pPr>
            <a:r>
              <a:rPr lang="en-US">
                <a:latin typeface="Arial" charset="0"/>
              </a:rPr>
              <a:t>R</a:t>
            </a:r>
          </a:p>
        </p:txBody>
      </p:sp>
      <p:sp>
        <p:nvSpPr>
          <p:cNvPr id="230424" name="Oval 24"/>
          <p:cNvSpPr>
            <a:spLocks noChangeArrowheads="1"/>
          </p:cNvSpPr>
          <p:nvPr/>
        </p:nvSpPr>
        <p:spPr bwMode="auto">
          <a:xfrm>
            <a:off x="6070600" y="3630613"/>
            <a:ext cx="77788" cy="76200"/>
          </a:xfrm>
          <a:prstGeom prst="ellipse">
            <a:avLst/>
          </a:prstGeom>
          <a:solidFill>
            <a:schemeClr val="tx1"/>
          </a:solidFill>
          <a:ln w="9525">
            <a:solidFill>
              <a:schemeClr val="tx1"/>
            </a:solidFill>
            <a:round/>
            <a:headEnd/>
            <a:tailEnd/>
          </a:ln>
          <a:effectLst/>
        </p:spPr>
        <p:txBody>
          <a:bodyPr wrap="none" anchor="ctr"/>
          <a:lstStyle/>
          <a:p>
            <a:endParaRPr lang="en-US"/>
          </a:p>
        </p:txBody>
      </p:sp>
      <p:sp>
        <p:nvSpPr>
          <p:cNvPr id="230426" name="Text Box 26"/>
          <p:cNvSpPr txBox="1">
            <a:spLocks noChangeArrowheads="1"/>
          </p:cNvSpPr>
          <p:nvPr/>
        </p:nvSpPr>
        <p:spPr bwMode="auto">
          <a:xfrm>
            <a:off x="3751263" y="2276475"/>
            <a:ext cx="3280065" cy="400110"/>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Budget constraint with t = 1</a:t>
            </a:r>
          </a:p>
        </p:txBody>
      </p:sp>
      <p:sp>
        <p:nvSpPr>
          <p:cNvPr id="230427" name="Line 27"/>
          <p:cNvSpPr>
            <a:spLocks noChangeShapeType="1"/>
          </p:cNvSpPr>
          <p:nvPr/>
        </p:nvSpPr>
        <p:spPr bwMode="auto">
          <a:xfrm flipH="1">
            <a:off x="5082223" y="2822574"/>
            <a:ext cx="67626" cy="793123"/>
          </a:xfrm>
          <a:prstGeom prst="line">
            <a:avLst/>
          </a:prstGeom>
          <a:noFill/>
          <a:ln w="9525">
            <a:solidFill>
              <a:schemeClr val="tx1"/>
            </a:solidFill>
            <a:round/>
            <a:headEnd/>
            <a:tailEnd type="triangle" w="med" len="med"/>
          </a:ln>
          <a:effectLst/>
        </p:spPr>
        <p:txBody>
          <a:bodyPr/>
          <a:lstStyle/>
          <a:p>
            <a:endParaRPr lang="en-US"/>
          </a:p>
        </p:txBody>
      </p:sp>
      <p:sp>
        <p:nvSpPr>
          <p:cNvPr id="230428" name="Line 28"/>
          <p:cNvSpPr>
            <a:spLocks noChangeShapeType="1"/>
          </p:cNvSpPr>
          <p:nvPr/>
        </p:nvSpPr>
        <p:spPr bwMode="auto">
          <a:xfrm flipH="1">
            <a:off x="3228975" y="2822575"/>
            <a:ext cx="1920875" cy="115888"/>
          </a:xfrm>
          <a:prstGeom prst="line">
            <a:avLst/>
          </a:prstGeom>
          <a:noFill/>
          <a:ln w="9525">
            <a:solidFill>
              <a:schemeClr val="tx1"/>
            </a:solidFill>
            <a:round/>
            <a:headEnd/>
            <a:tailEnd type="triangle" w="med" len="med"/>
          </a:ln>
          <a:effectLst/>
        </p:spPr>
        <p:txBody>
          <a:bodyPr/>
          <a:lstStyle/>
          <a:p>
            <a:endParaRPr lang="en-US"/>
          </a:p>
        </p:txBody>
      </p:sp>
      <p:sp>
        <p:nvSpPr>
          <p:cNvPr id="230429" name="Arc 29"/>
          <p:cNvSpPr>
            <a:spLocks/>
          </p:cNvSpPr>
          <p:nvPr/>
        </p:nvSpPr>
        <p:spPr bwMode="auto">
          <a:xfrm rot="9933366">
            <a:off x="4457700" y="2324100"/>
            <a:ext cx="1766888" cy="21510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bg2"/>
            </a:solidFill>
            <a:round/>
            <a:headEnd/>
            <a:tailEnd/>
          </a:ln>
          <a:effectLst/>
        </p:spPr>
        <p:txBody>
          <a:bodyPr rot="10800000" wrap="none" anchor="ctr"/>
          <a:lstStyle/>
          <a:p>
            <a:pPr algn="ctr">
              <a:spcBef>
                <a:spcPct val="0"/>
              </a:spcBef>
              <a:buFontTx/>
              <a:buNone/>
            </a:pPr>
            <a:endParaRPr lang="en-US">
              <a:latin typeface="Arial" charset="0"/>
            </a:endParaRPr>
          </a:p>
        </p:txBody>
      </p:sp>
      <p:sp>
        <p:nvSpPr>
          <p:cNvPr id="230430" name="Arc 30"/>
          <p:cNvSpPr>
            <a:spLocks/>
          </p:cNvSpPr>
          <p:nvPr/>
        </p:nvSpPr>
        <p:spPr bwMode="auto">
          <a:xfrm rot="9933366">
            <a:off x="4995863" y="1824038"/>
            <a:ext cx="1766887" cy="21510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bg2"/>
            </a:solidFill>
            <a:round/>
            <a:headEnd/>
            <a:tailEnd/>
          </a:ln>
          <a:effectLst/>
        </p:spPr>
        <p:txBody>
          <a:bodyPr rot="10800000" wrap="none" anchor="ctr"/>
          <a:lstStyle/>
          <a:p>
            <a:pPr algn="ctr">
              <a:spcBef>
                <a:spcPct val="0"/>
              </a:spcBef>
              <a:buFontTx/>
              <a:buNone/>
            </a:pPr>
            <a:endParaRPr lang="en-US">
              <a:latin typeface="Arial" charset="0"/>
            </a:endParaRPr>
          </a:p>
        </p:txBody>
      </p:sp>
      <p:sp>
        <p:nvSpPr>
          <p:cNvPr id="230433" name="AutoShape 33"/>
          <p:cNvSpPr>
            <a:spLocks noChangeArrowheads="1"/>
          </p:cNvSpPr>
          <p:nvPr/>
        </p:nvSpPr>
        <p:spPr bwMode="auto">
          <a:xfrm>
            <a:off x="6100126" y="2425325"/>
            <a:ext cx="1420813" cy="998537"/>
          </a:xfrm>
          <a:prstGeom prst="wedgeRoundRectCallout">
            <a:avLst>
              <a:gd name="adj1" fmla="val -43750"/>
              <a:gd name="adj2" fmla="val 70000"/>
              <a:gd name="adj3" fmla="val 16667"/>
            </a:avLst>
          </a:prstGeom>
          <a:solidFill>
            <a:srgbClr val="FFFF00"/>
          </a:solidFill>
          <a:ln w="9525">
            <a:solidFill>
              <a:schemeClr val="tx1"/>
            </a:solidFill>
            <a:miter lim="800000"/>
            <a:headEnd/>
            <a:tailEnd/>
          </a:ln>
          <a:effectLst/>
        </p:spPr>
        <p:txBody>
          <a:bodyPr/>
          <a:lstStyle/>
          <a:p>
            <a:pPr algn="ctr">
              <a:spcBef>
                <a:spcPct val="0"/>
              </a:spcBef>
              <a:buFontTx/>
              <a:buNone/>
            </a:pPr>
            <a:r>
              <a:rPr lang="en-US" dirty="0">
                <a:solidFill>
                  <a:schemeClr val="tx2"/>
                </a:solidFill>
                <a:latin typeface="Arial" charset="0"/>
              </a:rPr>
              <a:t>0 hours of work selected</a:t>
            </a:r>
          </a:p>
        </p:txBody>
      </p:sp>
      <p:sp>
        <p:nvSpPr>
          <p:cNvPr id="230435" name="Rectangle 35"/>
          <p:cNvSpPr>
            <a:spLocks noGrp="1" noChangeArrowheads="1"/>
          </p:cNvSpPr>
          <p:nvPr>
            <p:ph type="title"/>
          </p:nvPr>
        </p:nvSpPr>
        <p:spPr>
          <a:xfrm>
            <a:off x="684213" y="260350"/>
            <a:ext cx="7772400" cy="936625"/>
          </a:xfrm>
          <a:noFill/>
          <a:ln/>
        </p:spPr>
        <p:txBody>
          <a:bodyPr/>
          <a:lstStyle/>
          <a:p>
            <a:r>
              <a:rPr lang="en-US" sz="3600" dirty="0"/>
              <a:t>Work Incentives</a:t>
            </a:r>
            <a:br>
              <a:rPr lang="en-US" sz="3600" dirty="0"/>
            </a:br>
            <a:r>
              <a:rPr lang="en-US" sz="3600" dirty="0"/>
              <a:t> </a:t>
            </a:r>
            <a:r>
              <a:rPr lang="en-US" sz="2400" dirty="0"/>
              <a:t>Welfare program with t = 1.0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0417"/>
                                        </p:tgtEl>
                                        <p:attrNameLst>
                                          <p:attrName>style.visibility</p:attrName>
                                        </p:attrNameLst>
                                      </p:cBhvr>
                                      <p:to>
                                        <p:strVal val="visible"/>
                                      </p:to>
                                    </p:set>
                                    <p:animEffect transition="in" filter="wipe(down)">
                                      <p:cBhvr>
                                        <p:cTn id="7" dur="2000"/>
                                        <p:tgtEl>
                                          <p:spTgt spid="230417"/>
                                        </p:tgtEl>
                                      </p:cBhvr>
                                    </p:animEffect>
                                  </p:childTnLst>
                                </p:cTn>
                              </p:par>
                            </p:childTnLst>
                          </p:cTn>
                        </p:par>
                        <p:par>
                          <p:cTn id="8" fill="hold">
                            <p:stCondLst>
                              <p:cond delay="2000"/>
                            </p:stCondLst>
                            <p:childTnLst>
                              <p:par>
                                <p:cTn id="9" presetID="22" presetClass="entr" presetSubtype="4" fill="hold" grpId="0" nodeType="afterEffect">
                                  <p:stCondLst>
                                    <p:cond delay="0"/>
                                  </p:stCondLst>
                                  <p:childTnLst>
                                    <p:set>
                                      <p:cBhvr>
                                        <p:cTn id="10" dur="1" fill="hold">
                                          <p:stCondLst>
                                            <p:cond delay="0"/>
                                          </p:stCondLst>
                                        </p:cTn>
                                        <p:tgtEl>
                                          <p:spTgt spid="230418"/>
                                        </p:tgtEl>
                                        <p:attrNameLst>
                                          <p:attrName>style.visibility</p:attrName>
                                        </p:attrNameLst>
                                      </p:cBhvr>
                                      <p:to>
                                        <p:strVal val="visible"/>
                                      </p:to>
                                    </p:set>
                                    <p:animEffect transition="in" filter="wipe(down)">
                                      <p:cBhvr>
                                        <p:cTn id="11" dur="2000"/>
                                        <p:tgtEl>
                                          <p:spTgt spid="230418"/>
                                        </p:tgtEl>
                                      </p:cBhvr>
                                    </p:animEffect>
                                  </p:childTnLst>
                                </p:cTn>
                              </p:par>
                            </p:childTnLst>
                          </p:cTn>
                        </p:par>
                        <p:par>
                          <p:cTn id="12" fill="hold">
                            <p:stCondLst>
                              <p:cond delay="4000"/>
                            </p:stCondLst>
                            <p:childTnLst>
                              <p:par>
                                <p:cTn id="13" presetID="1" presetClass="entr" presetSubtype="0" fill="hold" grpId="0" nodeType="afterEffect">
                                  <p:stCondLst>
                                    <p:cond delay="0"/>
                                  </p:stCondLst>
                                  <p:childTnLst>
                                    <p:set>
                                      <p:cBhvr>
                                        <p:cTn id="14" dur="1" fill="hold">
                                          <p:stCondLst>
                                            <p:cond delay="0"/>
                                          </p:stCondLst>
                                        </p:cTn>
                                        <p:tgtEl>
                                          <p:spTgt spid="230419"/>
                                        </p:tgtEl>
                                        <p:attrNameLst>
                                          <p:attrName>style.visibility</p:attrName>
                                        </p:attrNameLst>
                                      </p:cBhvr>
                                      <p:to>
                                        <p:strVal val="visible"/>
                                      </p:to>
                                    </p:set>
                                  </p:childTnLst>
                                </p:cTn>
                              </p:par>
                            </p:childTnLst>
                          </p:cTn>
                        </p:par>
                        <p:par>
                          <p:cTn id="15" fill="hold">
                            <p:stCondLst>
                              <p:cond delay="4000"/>
                            </p:stCondLst>
                            <p:childTnLst>
                              <p:par>
                                <p:cTn id="16" presetID="22" presetClass="entr" presetSubtype="2" fill="hold" nodeType="afterEffect">
                                  <p:stCondLst>
                                    <p:cond delay="0"/>
                                  </p:stCondLst>
                                  <p:childTnLst>
                                    <p:set>
                                      <p:cBhvr>
                                        <p:cTn id="17" dur="1" fill="hold">
                                          <p:stCondLst>
                                            <p:cond delay="0"/>
                                          </p:stCondLst>
                                        </p:cTn>
                                        <p:tgtEl>
                                          <p:spTgt spid="230420"/>
                                        </p:tgtEl>
                                        <p:attrNameLst>
                                          <p:attrName>style.visibility</p:attrName>
                                        </p:attrNameLst>
                                      </p:cBhvr>
                                      <p:to>
                                        <p:strVal val="visible"/>
                                      </p:to>
                                    </p:set>
                                    <p:animEffect transition="in" filter="wipe(right)">
                                      <p:cBhvr>
                                        <p:cTn id="18" dur="2000"/>
                                        <p:tgtEl>
                                          <p:spTgt spid="230420"/>
                                        </p:tgtEl>
                                      </p:cBhvr>
                                    </p:animEffect>
                                  </p:childTnLst>
                                </p:cTn>
                              </p:par>
                            </p:childTnLst>
                          </p:cTn>
                        </p:par>
                        <p:par>
                          <p:cTn id="19" fill="hold">
                            <p:stCondLst>
                              <p:cond delay="6000"/>
                            </p:stCondLst>
                            <p:childTnLst>
                              <p:par>
                                <p:cTn id="20" presetID="1" presetClass="entr" presetSubtype="0" fill="hold" grpId="0" nodeType="afterEffect">
                                  <p:stCondLst>
                                    <p:cond delay="0"/>
                                  </p:stCondLst>
                                  <p:childTnLst>
                                    <p:set>
                                      <p:cBhvr>
                                        <p:cTn id="21" dur="1" fill="hold">
                                          <p:stCondLst>
                                            <p:cond delay="0"/>
                                          </p:stCondLst>
                                        </p:cTn>
                                        <p:tgtEl>
                                          <p:spTgt spid="230424"/>
                                        </p:tgtEl>
                                        <p:attrNameLst>
                                          <p:attrName>style.visibility</p:attrName>
                                        </p:attrNameLst>
                                      </p:cBhvr>
                                      <p:to>
                                        <p:strVal val="visible"/>
                                      </p:to>
                                    </p:set>
                                  </p:childTnLst>
                                </p:cTn>
                              </p:par>
                            </p:childTnLst>
                          </p:cTn>
                        </p:par>
                        <p:par>
                          <p:cTn id="22" fill="hold">
                            <p:stCondLst>
                              <p:cond delay="6000"/>
                            </p:stCondLst>
                            <p:childTnLst>
                              <p:par>
                                <p:cTn id="23" presetID="1" presetClass="entr" presetSubtype="0" fill="hold" grpId="0" nodeType="afterEffect">
                                  <p:stCondLst>
                                    <p:cond delay="0"/>
                                  </p:stCondLst>
                                  <p:childTnLst>
                                    <p:set>
                                      <p:cBhvr>
                                        <p:cTn id="24" dur="1" fill="hold">
                                          <p:stCondLst>
                                            <p:cond delay="0"/>
                                          </p:stCondLst>
                                        </p:cTn>
                                        <p:tgtEl>
                                          <p:spTgt spid="230423"/>
                                        </p:tgtEl>
                                        <p:attrNameLst>
                                          <p:attrName>style.visibility</p:attrName>
                                        </p:attrNameLst>
                                      </p:cBhvr>
                                      <p:to>
                                        <p:strVal val="visible"/>
                                      </p:to>
                                    </p:set>
                                  </p:childTnLst>
                                </p:cTn>
                              </p:par>
                            </p:childTnLst>
                          </p:cTn>
                        </p:par>
                        <p:par>
                          <p:cTn id="25" fill="hold">
                            <p:stCondLst>
                              <p:cond delay="6000"/>
                            </p:stCondLst>
                            <p:childTnLst>
                              <p:par>
                                <p:cTn id="26" presetID="1" presetClass="entr" presetSubtype="0" fill="hold" grpId="0" nodeType="afterEffect">
                                  <p:stCondLst>
                                    <p:cond delay="0"/>
                                  </p:stCondLst>
                                  <p:childTnLst>
                                    <p:set>
                                      <p:cBhvr>
                                        <p:cTn id="27" dur="1" fill="hold">
                                          <p:stCondLst>
                                            <p:cond delay="0"/>
                                          </p:stCondLst>
                                        </p:cTn>
                                        <p:tgtEl>
                                          <p:spTgt spid="230426"/>
                                        </p:tgtEl>
                                        <p:attrNameLst>
                                          <p:attrName>style.visibility</p:attrName>
                                        </p:attrNameLst>
                                      </p:cBhvr>
                                      <p:to>
                                        <p:strVal val="visible"/>
                                      </p:to>
                                    </p:set>
                                  </p:childTnLst>
                                </p:cTn>
                              </p:par>
                            </p:childTnLst>
                          </p:cTn>
                        </p:par>
                        <p:par>
                          <p:cTn id="28" fill="hold">
                            <p:stCondLst>
                              <p:cond delay="6000"/>
                            </p:stCondLst>
                            <p:childTnLst>
                              <p:par>
                                <p:cTn id="29" presetID="22" presetClass="entr" presetSubtype="1" fill="hold" grpId="0" nodeType="afterEffect">
                                  <p:stCondLst>
                                    <p:cond delay="0"/>
                                  </p:stCondLst>
                                  <p:childTnLst>
                                    <p:set>
                                      <p:cBhvr>
                                        <p:cTn id="30" dur="1" fill="hold">
                                          <p:stCondLst>
                                            <p:cond delay="0"/>
                                          </p:stCondLst>
                                        </p:cTn>
                                        <p:tgtEl>
                                          <p:spTgt spid="230427"/>
                                        </p:tgtEl>
                                        <p:attrNameLst>
                                          <p:attrName>style.visibility</p:attrName>
                                        </p:attrNameLst>
                                      </p:cBhvr>
                                      <p:to>
                                        <p:strVal val="visible"/>
                                      </p:to>
                                    </p:set>
                                    <p:animEffect transition="in" filter="wipe(up)">
                                      <p:cBhvr>
                                        <p:cTn id="31" dur="2000"/>
                                        <p:tgtEl>
                                          <p:spTgt spid="230427"/>
                                        </p:tgtEl>
                                      </p:cBhvr>
                                    </p:animEffect>
                                  </p:childTnLst>
                                </p:cTn>
                              </p:par>
                            </p:childTnLst>
                          </p:cTn>
                        </p:par>
                        <p:par>
                          <p:cTn id="32" fill="hold">
                            <p:stCondLst>
                              <p:cond delay="8000"/>
                            </p:stCondLst>
                            <p:childTnLst>
                              <p:par>
                                <p:cTn id="33" presetID="22" presetClass="entr" presetSubtype="2" fill="hold" grpId="0" nodeType="afterEffect">
                                  <p:stCondLst>
                                    <p:cond delay="0"/>
                                  </p:stCondLst>
                                  <p:childTnLst>
                                    <p:set>
                                      <p:cBhvr>
                                        <p:cTn id="34" dur="1" fill="hold">
                                          <p:stCondLst>
                                            <p:cond delay="0"/>
                                          </p:stCondLst>
                                        </p:cTn>
                                        <p:tgtEl>
                                          <p:spTgt spid="230428"/>
                                        </p:tgtEl>
                                        <p:attrNameLst>
                                          <p:attrName>style.visibility</p:attrName>
                                        </p:attrNameLst>
                                      </p:cBhvr>
                                      <p:to>
                                        <p:strVal val="visible"/>
                                      </p:to>
                                    </p:set>
                                    <p:animEffect transition="in" filter="wipe(right)">
                                      <p:cBhvr>
                                        <p:cTn id="35" dur="2000"/>
                                        <p:tgtEl>
                                          <p:spTgt spid="23042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30429"/>
                                        </p:tgtEl>
                                        <p:attrNameLst>
                                          <p:attrName>style.visibility</p:attrName>
                                        </p:attrNameLst>
                                      </p:cBhvr>
                                      <p:to>
                                        <p:strVal val="visible"/>
                                      </p:to>
                                    </p:set>
                                    <p:animEffect transition="in" filter="wipe(left)">
                                      <p:cBhvr>
                                        <p:cTn id="40" dur="2000"/>
                                        <p:tgtEl>
                                          <p:spTgt spid="230429"/>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30430"/>
                                        </p:tgtEl>
                                        <p:attrNameLst>
                                          <p:attrName>style.visibility</p:attrName>
                                        </p:attrNameLst>
                                      </p:cBhvr>
                                      <p:to>
                                        <p:strVal val="visible"/>
                                      </p:to>
                                    </p:set>
                                    <p:animEffect transition="in" filter="wipe(left)">
                                      <p:cBhvr>
                                        <p:cTn id="43" dur="2000"/>
                                        <p:tgtEl>
                                          <p:spTgt spid="230430"/>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3" fill="hold" grpId="0" nodeType="clickEffect">
                                  <p:stCondLst>
                                    <p:cond delay="0"/>
                                  </p:stCondLst>
                                  <p:childTnLst>
                                    <p:set>
                                      <p:cBhvr>
                                        <p:cTn id="47" dur="1" fill="hold">
                                          <p:stCondLst>
                                            <p:cond delay="0"/>
                                          </p:stCondLst>
                                        </p:cTn>
                                        <p:tgtEl>
                                          <p:spTgt spid="230433"/>
                                        </p:tgtEl>
                                        <p:attrNameLst>
                                          <p:attrName>style.visibility</p:attrName>
                                        </p:attrNameLst>
                                      </p:cBhvr>
                                      <p:to>
                                        <p:strVal val="visible"/>
                                      </p:to>
                                    </p:set>
                                    <p:anim calcmode="lin" valueType="num">
                                      <p:cBhvr additive="base">
                                        <p:cTn id="48" dur="2000" fill="hold"/>
                                        <p:tgtEl>
                                          <p:spTgt spid="230433"/>
                                        </p:tgtEl>
                                        <p:attrNameLst>
                                          <p:attrName>ppt_x</p:attrName>
                                        </p:attrNameLst>
                                      </p:cBhvr>
                                      <p:tavLst>
                                        <p:tav tm="0">
                                          <p:val>
                                            <p:strVal val="1+#ppt_w/2"/>
                                          </p:val>
                                        </p:tav>
                                        <p:tav tm="100000">
                                          <p:val>
                                            <p:strVal val="#ppt_x"/>
                                          </p:val>
                                        </p:tav>
                                      </p:tavLst>
                                    </p:anim>
                                    <p:anim calcmode="lin" valueType="num">
                                      <p:cBhvr additive="base">
                                        <p:cTn id="49" dur="2000" fill="hold"/>
                                        <p:tgtEl>
                                          <p:spTgt spid="230433"/>
                                        </p:tgtEl>
                                        <p:attrNameLst>
                                          <p:attrName>ppt_y</p:attrName>
                                        </p:attrNameLst>
                                      </p:cBhvr>
                                      <p:tavLst>
                                        <p:tav tm="0">
                                          <p:val>
                                            <p:strVal val="0-#ppt_h/2"/>
                                          </p:val>
                                        </p:tav>
                                        <p:tav tm="100000">
                                          <p:val>
                                            <p:strVal val="#ppt_y"/>
                                          </p:val>
                                        </p:tav>
                                      </p:tavLst>
                                    </p:anim>
                                  </p:childTnLst>
                                </p:cTn>
                              </p:par>
                            </p:childTnLst>
                          </p:cTn>
                        </p:par>
                        <p:par>
                          <p:cTn id="50" fill="hold">
                            <p:stCondLst>
                              <p:cond delay="2000"/>
                            </p:stCondLst>
                            <p:childTnLst>
                              <p:par>
                                <p:cTn id="51" presetID="2" presetClass="exit" presetSubtype="4" fill="hold" grpId="1" nodeType="afterEffect">
                                  <p:stCondLst>
                                    <p:cond delay="1500"/>
                                  </p:stCondLst>
                                  <p:childTnLst>
                                    <p:anim calcmode="lin" valueType="num">
                                      <p:cBhvr additive="base">
                                        <p:cTn id="52" dur="2000"/>
                                        <p:tgtEl>
                                          <p:spTgt spid="230433"/>
                                        </p:tgtEl>
                                        <p:attrNameLst>
                                          <p:attrName>ppt_x</p:attrName>
                                        </p:attrNameLst>
                                      </p:cBhvr>
                                      <p:tavLst>
                                        <p:tav tm="0">
                                          <p:val>
                                            <p:strVal val="ppt_x"/>
                                          </p:val>
                                        </p:tav>
                                        <p:tav tm="100000">
                                          <p:val>
                                            <p:strVal val="ppt_x"/>
                                          </p:val>
                                        </p:tav>
                                      </p:tavLst>
                                    </p:anim>
                                    <p:anim calcmode="lin" valueType="num">
                                      <p:cBhvr additive="base">
                                        <p:cTn id="53" dur="2000"/>
                                        <p:tgtEl>
                                          <p:spTgt spid="230433"/>
                                        </p:tgtEl>
                                        <p:attrNameLst>
                                          <p:attrName>ppt_y</p:attrName>
                                        </p:attrNameLst>
                                      </p:cBhvr>
                                      <p:tavLst>
                                        <p:tav tm="0">
                                          <p:val>
                                            <p:strVal val="ppt_y"/>
                                          </p:val>
                                        </p:tav>
                                        <p:tav tm="100000">
                                          <p:val>
                                            <p:strVal val="1+ppt_h/2"/>
                                          </p:val>
                                        </p:tav>
                                      </p:tavLst>
                                    </p:anim>
                                    <p:set>
                                      <p:cBhvr>
                                        <p:cTn id="54" dur="1" fill="hold">
                                          <p:stCondLst>
                                            <p:cond delay="1999"/>
                                          </p:stCondLst>
                                        </p:cTn>
                                        <p:tgtEl>
                                          <p:spTgt spid="2304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17" grpId="0" animBg="1"/>
      <p:bldP spid="230418" grpId="0" animBg="1"/>
      <p:bldP spid="230419" grpId="0"/>
      <p:bldP spid="230423" grpId="0"/>
      <p:bldP spid="230424" grpId="0" animBg="1"/>
      <p:bldP spid="230426" grpId="0"/>
      <p:bldP spid="230427" grpId="0" animBg="1"/>
      <p:bldP spid="230428" grpId="0" animBg="1"/>
      <p:bldP spid="230429" grpId="0" animBg="1"/>
      <p:bldP spid="230430" grpId="0" animBg="1"/>
      <p:bldP spid="230433" grpId="0" animBg="1"/>
      <p:bldP spid="230433"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4"/>
          <p:cNvSpPr>
            <a:spLocks noGrp="1"/>
          </p:cNvSpPr>
          <p:nvPr>
            <p:ph type="sldNum" sz="quarter" idx="12"/>
          </p:nvPr>
        </p:nvSpPr>
        <p:spPr/>
        <p:txBody>
          <a:bodyPr/>
          <a:lstStyle/>
          <a:p>
            <a:fld id="{150EC58D-D812-458B-8127-4B3A08B8ADCB}" type="slidenum">
              <a:rPr lang="en-GB"/>
              <a:pPr/>
              <a:t>38</a:t>
            </a:fld>
            <a:endParaRPr lang="en-GB"/>
          </a:p>
        </p:txBody>
      </p:sp>
      <p:sp>
        <p:nvSpPr>
          <p:cNvPr id="232451" name="Line 3"/>
          <p:cNvSpPr>
            <a:spLocks noChangeShapeType="1"/>
          </p:cNvSpPr>
          <p:nvPr/>
        </p:nvSpPr>
        <p:spPr bwMode="auto">
          <a:xfrm>
            <a:off x="2076450" y="1144588"/>
            <a:ext cx="0" cy="4416425"/>
          </a:xfrm>
          <a:prstGeom prst="line">
            <a:avLst/>
          </a:prstGeom>
          <a:noFill/>
          <a:ln w="9525">
            <a:solidFill>
              <a:srgbClr val="4B1500"/>
            </a:solidFill>
            <a:round/>
            <a:headEnd type="triangle" w="med" len="med"/>
            <a:tailEnd/>
          </a:ln>
          <a:effectLst/>
        </p:spPr>
        <p:txBody>
          <a:bodyPr/>
          <a:lstStyle/>
          <a:p>
            <a:endParaRPr lang="en-US"/>
          </a:p>
        </p:txBody>
      </p:sp>
      <p:sp>
        <p:nvSpPr>
          <p:cNvPr id="232452" name="Line 4"/>
          <p:cNvSpPr>
            <a:spLocks noChangeShapeType="1"/>
          </p:cNvSpPr>
          <p:nvPr/>
        </p:nvSpPr>
        <p:spPr bwMode="auto">
          <a:xfrm>
            <a:off x="2124075" y="5589588"/>
            <a:ext cx="6413500" cy="0"/>
          </a:xfrm>
          <a:prstGeom prst="line">
            <a:avLst/>
          </a:prstGeom>
          <a:noFill/>
          <a:ln w="9525">
            <a:solidFill>
              <a:srgbClr val="4B1500"/>
            </a:solidFill>
            <a:round/>
            <a:headEnd/>
            <a:tailEnd type="triangle" w="med" len="med"/>
          </a:ln>
          <a:effectLst/>
        </p:spPr>
        <p:txBody>
          <a:bodyPr/>
          <a:lstStyle/>
          <a:p>
            <a:endParaRPr lang="en-US"/>
          </a:p>
        </p:txBody>
      </p:sp>
      <p:sp>
        <p:nvSpPr>
          <p:cNvPr id="232453" name="Text Box 5"/>
          <p:cNvSpPr txBox="1">
            <a:spLocks noChangeArrowheads="1"/>
          </p:cNvSpPr>
          <p:nvPr/>
        </p:nvSpPr>
        <p:spPr bwMode="auto">
          <a:xfrm>
            <a:off x="6267450" y="5611813"/>
            <a:ext cx="287655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Hours of leisure / month</a:t>
            </a:r>
          </a:p>
        </p:txBody>
      </p:sp>
      <p:sp>
        <p:nvSpPr>
          <p:cNvPr id="232454" name="Text Box 6"/>
          <p:cNvSpPr txBox="1">
            <a:spLocks noChangeArrowheads="1"/>
          </p:cNvSpPr>
          <p:nvPr/>
        </p:nvSpPr>
        <p:spPr bwMode="auto">
          <a:xfrm rot="16200000">
            <a:off x="-1246187" y="2763838"/>
            <a:ext cx="4930775"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Income per month (= earnings + transfers)</a:t>
            </a:r>
          </a:p>
        </p:txBody>
      </p:sp>
      <p:sp>
        <p:nvSpPr>
          <p:cNvPr id="232455" name="Text Box 7"/>
          <p:cNvSpPr txBox="1">
            <a:spLocks noChangeArrowheads="1"/>
          </p:cNvSpPr>
          <p:nvPr/>
        </p:nvSpPr>
        <p:spPr bwMode="auto">
          <a:xfrm>
            <a:off x="1765300" y="5514975"/>
            <a:ext cx="325438"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0</a:t>
            </a:r>
          </a:p>
        </p:txBody>
      </p:sp>
      <p:sp>
        <p:nvSpPr>
          <p:cNvPr id="232456" name="Text Box 8"/>
          <p:cNvSpPr txBox="1">
            <a:spLocks noChangeArrowheads="1"/>
          </p:cNvSpPr>
          <p:nvPr/>
        </p:nvSpPr>
        <p:spPr bwMode="auto">
          <a:xfrm>
            <a:off x="5938838" y="5514975"/>
            <a:ext cx="339725"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T</a:t>
            </a:r>
          </a:p>
        </p:txBody>
      </p:sp>
      <p:sp>
        <p:nvSpPr>
          <p:cNvPr id="232457" name="Line 9"/>
          <p:cNvSpPr>
            <a:spLocks noChangeShapeType="1"/>
          </p:cNvSpPr>
          <p:nvPr/>
        </p:nvSpPr>
        <p:spPr bwMode="auto">
          <a:xfrm flipH="1" flipV="1">
            <a:off x="2076450" y="1625600"/>
            <a:ext cx="4033838" cy="3956050"/>
          </a:xfrm>
          <a:prstGeom prst="line">
            <a:avLst/>
          </a:prstGeom>
          <a:noFill/>
          <a:ln w="9525">
            <a:solidFill>
              <a:srgbClr val="4B1500"/>
            </a:solidFill>
            <a:round/>
            <a:headEnd/>
            <a:tailEnd/>
          </a:ln>
          <a:effectLst/>
        </p:spPr>
        <p:txBody>
          <a:bodyPr/>
          <a:lstStyle/>
          <a:p>
            <a:endParaRPr lang="en-US"/>
          </a:p>
        </p:txBody>
      </p:sp>
      <p:sp>
        <p:nvSpPr>
          <p:cNvPr id="232458" name="Text Box 10"/>
          <p:cNvSpPr txBox="1">
            <a:spLocks noChangeArrowheads="1"/>
          </p:cNvSpPr>
          <p:nvPr/>
        </p:nvSpPr>
        <p:spPr bwMode="auto">
          <a:xfrm>
            <a:off x="1563029" y="1470729"/>
            <a:ext cx="527709" cy="400110"/>
          </a:xfrm>
          <a:prstGeom prst="rect">
            <a:avLst/>
          </a:prstGeom>
          <a:noFill/>
          <a:ln w="9525">
            <a:noFill/>
            <a:miter lim="800000"/>
            <a:headEnd/>
            <a:tailEnd/>
          </a:ln>
          <a:effectLst/>
        </p:spPr>
        <p:txBody>
          <a:bodyPr wrap="none">
            <a:spAutoFit/>
          </a:bodyPr>
          <a:lstStyle/>
          <a:p>
            <a:pPr>
              <a:spcBef>
                <a:spcPct val="0"/>
              </a:spcBef>
              <a:buFontTx/>
              <a:buNone/>
            </a:pPr>
            <a:r>
              <a:rPr lang="en-US" dirty="0" err="1">
                <a:solidFill>
                  <a:schemeClr val="tx2"/>
                </a:solidFill>
                <a:latin typeface="Arial" charset="0"/>
              </a:rPr>
              <a:t>wT</a:t>
            </a:r>
            <a:endParaRPr lang="en-US" dirty="0">
              <a:solidFill>
                <a:schemeClr val="tx2"/>
              </a:solidFill>
              <a:latin typeface="Arial" charset="0"/>
            </a:endParaRPr>
          </a:p>
        </p:txBody>
      </p:sp>
      <p:sp>
        <p:nvSpPr>
          <p:cNvPr id="232460" name="Line 12"/>
          <p:cNvSpPr>
            <a:spLocks noChangeShapeType="1"/>
          </p:cNvSpPr>
          <p:nvPr/>
        </p:nvSpPr>
        <p:spPr bwMode="auto">
          <a:xfrm flipH="1">
            <a:off x="2922588" y="2546350"/>
            <a:ext cx="76200" cy="3073400"/>
          </a:xfrm>
          <a:prstGeom prst="line">
            <a:avLst/>
          </a:prstGeom>
          <a:noFill/>
          <a:ln w="9525">
            <a:solidFill>
              <a:schemeClr val="tx1"/>
            </a:solidFill>
            <a:prstDash val="dash"/>
            <a:round/>
            <a:headEnd/>
            <a:tailEnd/>
          </a:ln>
          <a:effectLst/>
        </p:spPr>
        <p:txBody>
          <a:bodyPr/>
          <a:lstStyle/>
          <a:p>
            <a:endParaRPr lang="en-US"/>
          </a:p>
        </p:txBody>
      </p:sp>
      <p:sp>
        <p:nvSpPr>
          <p:cNvPr id="232461" name="Line 13"/>
          <p:cNvSpPr>
            <a:spLocks noChangeShapeType="1"/>
          </p:cNvSpPr>
          <p:nvPr/>
        </p:nvSpPr>
        <p:spPr bwMode="auto">
          <a:xfrm flipH="1">
            <a:off x="2076450" y="2586038"/>
            <a:ext cx="922338" cy="0"/>
          </a:xfrm>
          <a:prstGeom prst="line">
            <a:avLst/>
          </a:prstGeom>
          <a:noFill/>
          <a:ln w="9525">
            <a:solidFill>
              <a:schemeClr val="tx1"/>
            </a:solidFill>
            <a:prstDash val="dash"/>
            <a:round/>
            <a:headEnd/>
            <a:tailEnd/>
          </a:ln>
          <a:effectLst/>
        </p:spPr>
        <p:txBody>
          <a:bodyPr/>
          <a:lstStyle/>
          <a:p>
            <a:endParaRPr lang="en-US"/>
          </a:p>
        </p:txBody>
      </p:sp>
      <p:sp>
        <p:nvSpPr>
          <p:cNvPr id="232462" name="Text Box 14"/>
          <p:cNvSpPr txBox="1">
            <a:spLocks noChangeArrowheads="1"/>
          </p:cNvSpPr>
          <p:nvPr/>
        </p:nvSpPr>
        <p:spPr bwMode="auto">
          <a:xfrm>
            <a:off x="2730500" y="5534025"/>
            <a:ext cx="395288" cy="396875"/>
          </a:xfrm>
          <a:prstGeom prst="rect">
            <a:avLst/>
          </a:prstGeom>
          <a:noFill/>
          <a:ln w="9525">
            <a:noFill/>
            <a:miter lim="800000"/>
            <a:headEnd/>
            <a:tailEnd/>
          </a:ln>
          <a:effectLst/>
        </p:spPr>
        <p:txBody>
          <a:bodyPr wrap="none">
            <a:spAutoFit/>
          </a:bodyPr>
          <a:lstStyle/>
          <a:p>
            <a:pPr>
              <a:spcBef>
                <a:spcPct val="0"/>
              </a:spcBef>
              <a:buFontTx/>
              <a:buNone/>
            </a:pPr>
            <a:r>
              <a:rPr lang="en-US">
                <a:latin typeface="Arial" charset="0"/>
              </a:rPr>
              <a:t>M</a:t>
            </a:r>
          </a:p>
        </p:txBody>
      </p:sp>
      <p:sp>
        <p:nvSpPr>
          <p:cNvPr id="232464" name="Line 16"/>
          <p:cNvSpPr>
            <a:spLocks noChangeShapeType="1"/>
          </p:cNvSpPr>
          <p:nvPr/>
        </p:nvSpPr>
        <p:spPr bwMode="auto">
          <a:xfrm>
            <a:off x="6110288" y="3354388"/>
            <a:ext cx="0" cy="2227262"/>
          </a:xfrm>
          <a:prstGeom prst="line">
            <a:avLst/>
          </a:prstGeom>
          <a:noFill/>
          <a:ln w="38100">
            <a:solidFill>
              <a:schemeClr val="tx1"/>
            </a:solidFill>
            <a:prstDash val="dash"/>
            <a:round/>
            <a:headEnd/>
            <a:tailEnd/>
          </a:ln>
          <a:effectLst/>
        </p:spPr>
        <p:txBody>
          <a:bodyPr/>
          <a:lstStyle/>
          <a:p>
            <a:endParaRPr lang="en-US"/>
          </a:p>
        </p:txBody>
      </p:sp>
      <p:grpSp>
        <p:nvGrpSpPr>
          <p:cNvPr id="232465" name="Group 17"/>
          <p:cNvGrpSpPr>
            <a:grpSpLocks/>
          </p:cNvGrpSpPr>
          <p:nvPr/>
        </p:nvGrpSpPr>
        <p:grpSpPr bwMode="auto">
          <a:xfrm>
            <a:off x="2076450" y="1625600"/>
            <a:ext cx="4033838" cy="1728788"/>
            <a:chOff x="1283" y="1386"/>
            <a:chExt cx="2541" cy="1089"/>
          </a:xfrm>
        </p:grpSpPr>
        <p:sp>
          <p:nvSpPr>
            <p:cNvPr id="232466" name="Line 18"/>
            <p:cNvSpPr>
              <a:spLocks noChangeShapeType="1"/>
            </p:cNvSpPr>
            <p:nvPr/>
          </p:nvSpPr>
          <p:spPr bwMode="auto">
            <a:xfrm flipH="1">
              <a:off x="2372" y="2474"/>
              <a:ext cx="1452" cy="0"/>
            </a:xfrm>
            <a:prstGeom prst="line">
              <a:avLst/>
            </a:prstGeom>
            <a:noFill/>
            <a:ln w="38100">
              <a:solidFill>
                <a:srgbClr val="945424"/>
              </a:solidFill>
              <a:round/>
              <a:headEnd/>
              <a:tailEnd/>
            </a:ln>
            <a:effectLst/>
          </p:spPr>
          <p:txBody>
            <a:bodyPr/>
            <a:lstStyle/>
            <a:p>
              <a:endParaRPr lang="en-US"/>
            </a:p>
          </p:txBody>
        </p:sp>
        <p:sp>
          <p:nvSpPr>
            <p:cNvPr id="232467" name="Line 19"/>
            <p:cNvSpPr>
              <a:spLocks noChangeShapeType="1"/>
            </p:cNvSpPr>
            <p:nvPr/>
          </p:nvSpPr>
          <p:spPr bwMode="auto">
            <a:xfrm flipH="1" flipV="1">
              <a:off x="1283" y="1386"/>
              <a:ext cx="1089" cy="1089"/>
            </a:xfrm>
            <a:prstGeom prst="line">
              <a:avLst/>
            </a:prstGeom>
            <a:noFill/>
            <a:ln w="38100">
              <a:solidFill>
                <a:srgbClr val="945424"/>
              </a:solidFill>
              <a:round/>
              <a:headEnd/>
              <a:tailEnd/>
            </a:ln>
            <a:effectLst/>
          </p:spPr>
          <p:txBody>
            <a:bodyPr/>
            <a:lstStyle/>
            <a:p>
              <a:endParaRPr lang="en-US"/>
            </a:p>
          </p:txBody>
        </p:sp>
      </p:grpSp>
      <p:sp>
        <p:nvSpPr>
          <p:cNvPr id="232468" name="Text Box 20"/>
          <p:cNvSpPr txBox="1">
            <a:spLocks noChangeArrowheads="1"/>
          </p:cNvSpPr>
          <p:nvPr/>
        </p:nvSpPr>
        <p:spPr bwMode="auto">
          <a:xfrm>
            <a:off x="3405188" y="3192463"/>
            <a:ext cx="368300" cy="396875"/>
          </a:xfrm>
          <a:prstGeom prst="rect">
            <a:avLst/>
          </a:prstGeom>
          <a:noFill/>
          <a:ln w="9525">
            <a:noFill/>
            <a:miter lim="800000"/>
            <a:headEnd/>
            <a:tailEnd/>
          </a:ln>
          <a:effectLst/>
        </p:spPr>
        <p:txBody>
          <a:bodyPr wrap="none">
            <a:spAutoFit/>
          </a:bodyPr>
          <a:lstStyle/>
          <a:p>
            <a:pPr>
              <a:spcBef>
                <a:spcPct val="0"/>
              </a:spcBef>
              <a:buFontTx/>
              <a:buNone/>
            </a:pPr>
            <a:r>
              <a:rPr lang="en-US">
                <a:latin typeface="Arial" charset="0"/>
              </a:rPr>
              <a:t>R</a:t>
            </a:r>
          </a:p>
        </p:txBody>
      </p:sp>
      <p:sp>
        <p:nvSpPr>
          <p:cNvPr id="232469" name="Arc 21"/>
          <p:cNvSpPr>
            <a:spLocks/>
          </p:cNvSpPr>
          <p:nvPr/>
        </p:nvSpPr>
        <p:spPr bwMode="auto">
          <a:xfrm rot="9933366">
            <a:off x="2614613" y="1125538"/>
            <a:ext cx="1766887" cy="21510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bg2"/>
            </a:solidFill>
            <a:round/>
            <a:headEnd/>
            <a:tailEnd/>
          </a:ln>
          <a:effectLst/>
        </p:spPr>
        <p:txBody>
          <a:bodyPr rot="10800000" wrap="none" anchor="ctr"/>
          <a:lstStyle/>
          <a:p>
            <a:pPr algn="ctr">
              <a:spcBef>
                <a:spcPct val="0"/>
              </a:spcBef>
              <a:buFontTx/>
              <a:buNone/>
            </a:pPr>
            <a:endParaRPr lang="en-US">
              <a:latin typeface="Arial" charset="0"/>
            </a:endParaRPr>
          </a:p>
        </p:txBody>
      </p:sp>
      <p:sp>
        <p:nvSpPr>
          <p:cNvPr id="232470" name="Text Box 22"/>
          <p:cNvSpPr txBox="1">
            <a:spLocks noChangeArrowheads="1"/>
          </p:cNvSpPr>
          <p:nvPr/>
        </p:nvSpPr>
        <p:spPr bwMode="auto">
          <a:xfrm>
            <a:off x="3074988" y="2176463"/>
            <a:ext cx="465192" cy="400110"/>
          </a:xfrm>
          <a:prstGeom prst="rect">
            <a:avLst/>
          </a:prstGeom>
          <a:noFill/>
          <a:ln w="9525">
            <a:noFill/>
            <a:miter lim="800000"/>
            <a:headEnd/>
            <a:tailEnd/>
          </a:ln>
          <a:effectLst/>
        </p:spPr>
        <p:txBody>
          <a:bodyPr wrap="none">
            <a:spAutoFit/>
          </a:bodyPr>
          <a:lstStyle/>
          <a:p>
            <a:pPr>
              <a:spcBef>
                <a:spcPct val="0"/>
              </a:spcBef>
              <a:buFontTx/>
              <a:buNone/>
            </a:pPr>
            <a:r>
              <a:rPr lang="en-US" dirty="0">
                <a:latin typeface="Arial" charset="0"/>
              </a:rPr>
              <a:t>D</a:t>
            </a:r>
            <a:r>
              <a:rPr lang="en-US" baseline="-25000" dirty="0">
                <a:latin typeface="Arial" charset="0"/>
              </a:rPr>
              <a:t>4</a:t>
            </a:r>
            <a:endParaRPr lang="en-US" dirty="0">
              <a:latin typeface="Arial" charset="0"/>
            </a:endParaRPr>
          </a:p>
        </p:txBody>
      </p:sp>
      <p:sp>
        <p:nvSpPr>
          <p:cNvPr id="232471" name="AutoShape 23"/>
          <p:cNvSpPr>
            <a:spLocks noChangeArrowheads="1"/>
          </p:cNvSpPr>
          <p:nvPr/>
        </p:nvSpPr>
        <p:spPr bwMode="auto">
          <a:xfrm>
            <a:off x="2987675" y="4221163"/>
            <a:ext cx="1804988" cy="652462"/>
          </a:xfrm>
          <a:prstGeom prst="wedgeRoundRectCallout">
            <a:avLst>
              <a:gd name="adj1" fmla="val -52023"/>
              <a:gd name="adj2" fmla="val 161435"/>
              <a:gd name="adj3" fmla="val 16667"/>
            </a:avLst>
          </a:prstGeom>
          <a:solidFill>
            <a:srgbClr val="FFFF00"/>
          </a:solidFill>
          <a:ln w="9525">
            <a:solidFill>
              <a:schemeClr val="tx1"/>
            </a:solidFill>
            <a:miter lim="800000"/>
            <a:headEnd/>
            <a:tailEnd/>
          </a:ln>
          <a:effectLst/>
        </p:spPr>
        <p:txBody>
          <a:bodyPr/>
          <a:lstStyle/>
          <a:p>
            <a:pPr algn="ctr">
              <a:spcBef>
                <a:spcPct val="0"/>
              </a:spcBef>
              <a:buFontTx/>
              <a:buNone/>
            </a:pPr>
            <a:r>
              <a:rPr lang="en-US">
                <a:latin typeface="Arial" charset="0"/>
              </a:rPr>
              <a:t>Hours worked</a:t>
            </a:r>
          </a:p>
        </p:txBody>
      </p:sp>
      <p:sp>
        <p:nvSpPr>
          <p:cNvPr id="232473" name="Rectangle 25"/>
          <p:cNvSpPr>
            <a:spLocks noGrp="1" noChangeArrowheads="1"/>
          </p:cNvSpPr>
          <p:nvPr>
            <p:ph type="title"/>
          </p:nvPr>
        </p:nvSpPr>
        <p:spPr>
          <a:xfrm>
            <a:off x="684213" y="260350"/>
            <a:ext cx="7772400" cy="936625"/>
          </a:xfrm>
          <a:noFill/>
          <a:ln/>
        </p:spPr>
        <p:txBody>
          <a:bodyPr/>
          <a:lstStyle/>
          <a:p>
            <a:r>
              <a:rPr lang="en-US" sz="3600"/>
              <a:t>Work Incentives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2469"/>
                                        </p:tgtEl>
                                        <p:attrNameLst>
                                          <p:attrName>style.visibility</p:attrName>
                                        </p:attrNameLst>
                                      </p:cBhvr>
                                      <p:to>
                                        <p:strVal val="visible"/>
                                      </p:to>
                                    </p:set>
                                    <p:animEffect transition="in" filter="wipe(left)">
                                      <p:cBhvr>
                                        <p:cTn id="7" dur="2000"/>
                                        <p:tgtEl>
                                          <p:spTgt spid="232469"/>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0"/>
                                          </p:stCondLst>
                                        </p:cTn>
                                        <p:tgtEl>
                                          <p:spTgt spid="232470"/>
                                        </p:tgtEl>
                                        <p:attrNameLst>
                                          <p:attrName>style.visibility</p:attrName>
                                        </p:attrNameLst>
                                      </p:cBhvr>
                                      <p:to>
                                        <p:strVal val="visible"/>
                                      </p:to>
                                    </p:set>
                                  </p:childTnLst>
                                </p:cTn>
                              </p:par>
                            </p:childTnLst>
                          </p:cTn>
                        </p:par>
                        <p:par>
                          <p:cTn id="11" fill="hold">
                            <p:stCondLst>
                              <p:cond delay="2000"/>
                            </p:stCondLst>
                            <p:childTnLst>
                              <p:par>
                                <p:cTn id="12" presetID="22" presetClass="entr" presetSubtype="1" fill="hold" grpId="0" nodeType="afterEffect">
                                  <p:stCondLst>
                                    <p:cond delay="0"/>
                                  </p:stCondLst>
                                  <p:childTnLst>
                                    <p:set>
                                      <p:cBhvr>
                                        <p:cTn id="13" dur="1" fill="hold">
                                          <p:stCondLst>
                                            <p:cond delay="0"/>
                                          </p:stCondLst>
                                        </p:cTn>
                                        <p:tgtEl>
                                          <p:spTgt spid="232460"/>
                                        </p:tgtEl>
                                        <p:attrNameLst>
                                          <p:attrName>style.visibility</p:attrName>
                                        </p:attrNameLst>
                                      </p:cBhvr>
                                      <p:to>
                                        <p:strVal val="visible"/>
                                      </p:to>
                                    </p:set>
                                    <p:animEffect transition="in" filter="wipe(up)">
                                      <p:cBhvr>
                                        <p:cTn id="14" dur="500"/>
                                        <p:tgtEl>
                                          <p:spTgt spid="232460"/>
                                        </p:tgtEl>
                                      </p:cBhvr>
                                    </p:animEffect>
                                  </p:childTnLst>
                                </p:cTn>
                              </p:par>
                            </p:childTnLst>
                          </p:cTn>
                        </p:par>
                        <p:par>
                          <p:cTn id="15" fill="hold">
                            <p:stCondLst>
                              <p:cond delay="2500"/>
                            </p:stCondLst>
                            <p:childTnLst>
                              <p:par>
                                <p:cTn id="16" presetID="22" presetClass="entr" presetSubtype="2" fill="hold" grpId="0" nodeType="afterEffect">
                                  <p:stCondLst>
                                    <p:cond delay="0"/>
                                  </p:stCondLst>
                                  <p:childTnLst>
                                    <p:set>
                                      <p:cBhvr>
                                        <p:cTn id="17" dur="1" fill="hold">
                                          <p:stCondLst>
                                            <p:cond delay="0"/>
                                          </p:stCondLst>
                                        </p:cTn>
                                        <p:tgtEl>
                                          <p:spTgt spid="232461"/>
                                        </p:tgtEl>
                                        <p:attrNameLst>
                                          <p:attrName>style.visibility</p:attrName>
                                        </p:attrNameLst>
                                      </p:cBhvr>
                                      <p:to>
                                        <p:strVal val="visible"/>
                                      </p:to>
                                    </p:set>
                                    <p:animEffect transition="in" filter="wipe(right)">
                                      <p:cBhvr>
                                        <p:cTn id="18" dur="500"/>
                                        <p:tgtEl>
                                          <p:spTgt spid="232461"/>
                                        </p:tgtEl>
                                      </p:cBhvr>
                                    </p:animEffect>
                                  </p:childTnLst>
                                </p:cTn>
                              </p:par>
                            </p:childTnLst>
                          </p:cTn>
                        </p:par>
                        <p:par>
                          <p:cTn id="19" fill="hold">
                            <p:stCondLst>
                              <p:cond delay="3000"/>
                            </p:stCondLst>
                            <p:childTnLst>
                              <p:par>
                                <p:cTn id="20" presetID="1" presetClass="entr" presetSubtype="0" fill="hold" grpId="0" nodeType="afterEffect">
                                  <p:stCondLst>
                                    <p:cond delay="0"/>
                                  </p:stCondLst>
                                  <p:childTnLst>
                                    <p:set>
                                      <p:cBhvr>
                                        <p:cTn id="21" dur="1" fill="hold">
                                          <p:stCondLst>
                                            <p:cond delay="0"/>
                                          </p:stCondLst>
                                        </p:cTn>
                                        <p:tgtEl>
                                          <p:spTgt spid="23246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3" fill="hold" grpId="0" nodeType="clickEffect">
                                  <p:stCondLst>
                                    <p:cond delay="0"/>
                                  </p:stCondLst>
                                  <p:childTnLst>
                                    <p:set>
                                      <p:cBhvr>
                                        <p:cTn id="25" dur="1" fill="hold">
                                          <p:stCondLst>
                                            <p:cond delay="0"/>
                                          </p:stCondLst>
                                        </p:cTn>
                                        <p:tgtEl>
                                          <p:spTgt spid="232471"/>
                                        </p:tgtEl>
                                        <p:attrNameLst>
                                          <p:attrName>style.visibility</p:attrName>
                                        </p:attrNameLst>
                                      </p:cBhvr>
                                      <p:to>
                                        <p:strVal val="visible"/>
                                      </p:to>
                                    </p:set>
                                    <p:anim calcmode="lin" valueType="num">
                                      <p:cBhvr additive="base">
                                        <p:cTn id="26" dur="2000" fill="hold"/>
                                        <p:tgtEl>
                                          <p:spTgt spid="232471"/>
                                        </p:tgtEl>
                                        <p:attrNameLst>
                                          <p:attrName>ppt_x</p:attrName>
                                        </p:attrNameLst>
                                      </p:cBhvr>
                                      <p:tavLst>
                                        <p:tav tm="0">
                                          <p:val>
                                            <p:strVal val="1+#ppt_w/2"/>
                                          </p:val>
                                        </p:tav>
                                        <p:tav tm="100000">
                                          <p:val>
                                            <p:strVal val="#ppt_x"/>
                                          </p:val>
                                        </p:tav>
                                      </p:tavLst>
                                    </p:anim>
                                    <p:anim calcmode="lin" valueType="num">
                                      <p:cBhvr additive="base">
                                        <p:cTn id="27" dur="2000" fill="hold"/>
                                        <p:tgtEl>
                                          <p:spTgt spid="232471"/>
                                        </p:tgtEl>
                                        <p:attrNameLst>
                                          <p:attrName>ppt_y</p:attrName>
                                        </p:attrNameLst>
                                      </p:cBhvr>
                                      <p:tavLst>
                                        <p:tav tm="0">
                                          <p:val>
                                            <p:strVal val="0-#ppt_h/2"/>
                                          </p:val>
                                        </p:tav>
                                        <p:tav tm="100000">
                                          <p:val>
                                            <p:strVal val="#ppt_y"/>
                                          </p:val>
                                        </p:tav>
                                      </p:tavLst>
                                    </p:anim>
                                  </p:childTnLst>
                                </p:cTn>
                              </p:par>
                            </p:childTnLst>
                          </p:cTn>
                        </p:par>
                        <p:par>
                          <p:cTn id="28" fill="hold">
                            <p:stCondLst>
                              <p:cond delay="2000"/>
                            </p:stCondLst>
                            <p:childTnLst>
                              <p:par>
                                <p:cTn id="29" presetID="63" presetClass="path" presetSubtype="0" accel="50000" decel="50000" fill="hold" grpId="1" nodeType="afterEffect">
                                  <p:stCondLst>
                                    <p:cond delay="0"/>
                                  </p:stCondLst>
                                  <p:childTnLst>
                                    <p:animMotion origin="layout" path="M 4.44444E-6 -1.85185E-6 L 0.34236 0.00301 " pathEditMode="relative" rAng="0" ptsTypes="AA">
                                      <p:cBhvr>
                                        <p:cTn id="30" dur="2000" fill="hold"/>
                                        <p:tgtEl>
                                          <p:spTgt spid="232471"/>
                                        </p:tgtEl>
                                        <p:attrNameLst>
                                          <p:attrName>ppt_x</p:attrName>
                                          <p:attrName>ppt_y</p:attrName>
                                        </p:attrNameLst>
                                      </p:cBhvr>
                                      <p:rCtr x="17100" y="100"/>
                                    </p:animMotion>
                                  </p:childTnLst>
                                </p:cTn>
                              </p:par>
                            </p:childTnLst>
                          </p:cTn>
                        </p:par>
                        <p:par>
                          <p:cTn id="31" fill="hold">
                            <p:stCondLst>
                              <p:cond delay="4000"/>
                            </p:stCondLst>
                            <p:childTnLst>
                              <p:par>
                                <p:cTn id="32" presetID="2" presetClass="exit" presetSubtype="4" fill="hold" grpId="2" nodeType="afterEffect">
                                  <p:stCondLst>
                                    <p:cond delay="0"/>
                                  </p:stCondLst>
                                  <p:childTnLst>
                                    <p:anim calcmode="lin" valueType="num">
                                      <p:cBhvr additive="base">
                                        <p:cTn id="33" dur="2000"/>
                                        <p:tgtEl>
                                          <p:spTgt spid="232471"/>
                                        </p:tgtEl>
                                        <p:attrNameLst>
                                          <p:attrName>ppt_x</p:attrName>
                                        </p:attrNameLst>
                                      </p:cBhvr>
                                      <p:tavLst>
                                        <p:tav tm="0">
                                          <p:val>
                                            <p:strVal val="ppt_x"/>
                                          </p:val>
                                        </p:tav>
                                        <p:tav tm="100000">
                                          <p:val>
                                            <p:strVal val="ppt_x"/>
                                          </p:val>
                                        </p:tav>
                                      </p:tavLst>
                                    </p:anim>
                                    <p:anim calcmode="lin" valueType="num">
                                      <p:cBhvr additive="base">
                                        <p:cTn id="34" dur="2000"/>
                                        <p:tgtEl>
                                          <p:spTgt spid="232471"/>
                                        </p:tgtEl>
                                        <p:attrNameLst>
                                          <p:attrName>ppt_y</p:attrName>
                                        </p:attrNameLst>
                                      </p:cBhvr>
                                      <p:tavLst>
                                        <p:tav tm="0">
                                          <p:val>
                                            <p:strVal val="ppt_y"/>
                                          </p:val>
                                        </p:tav>
                                        <p:tav tm="100000">
                                          <p:val>
                                            <p:strVal val="1+ppt_h/2"/>
                                          </p:val>
                                        </p:tav>
                                      </p:tavLst>
                                    </p:anim>
                                    <p:set>
                                      <p:cBhvr>
                                        <p:cTn id="35" dur="1" fill="hold">
                                          <p:stCondLst>
                                            <p:cond delay="1999"/>
                                          </p:stCondLst>
                                        </p:cTn>
                                        <p:tgtEl>
                                          <p:spTgt spid="23247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60" grpId="0" animBg="1"/>
      <p:bldP spid="232461" grpId="0" animBg="1"/>
      <p:bldP spid="232462" grpId="0"/>
      <p:bldP spid="232469" grpId="0" animBg="1"/>
      <p:bldP spid="232470" grpId="0"/>
      <p:bldP spid="232471" grpId="0" animBg="1"/>
      <p:bldP spid="232471" grpId="1" animBg="1"/>
      <p:bldP spid="232471" grpId="2"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7B41A5CB-64AB-4710-BD91-EAC5ADBE2A5C}" type="slidenum">
              <a:rPr lang="en-GB"/>
              <a:pPr/>
              <a:t>39</a:t>
            </a:fld>
            <a:endParaRPr lang="en-GB"/>
          </a:p>
        </p:txBody>
      </p:sp>
      <p:sp>
        <p:nvSpPr>
          <p:cNvPr id="234498" name="Rectangle 2"/>
          <p:cNvSpPr>
            <a:spLocks noGrp="1" noChangeArrowheads="1"/>
          </p:cNvSpPr>
          <p:nvPr>
            <p:ph type="title"/>
          </p:nvPr>
        </p:nvSpPr>
        <p:spPr>
          <a:xfrm>
            <a:off x="685800" y="260350"/>
            <a:ext cx="7772400" cy="936625"/>
          </a:xfrm>
        </p:spPr>
        <p:txBody>
          <a:bodyPr/>
          <a:lstStyle/>
          <a:p>
            <a:r>
              <a:rPr lang="en-US" sz="3600"/>
              <a:t>Work Incentives</a:t>
            </a:r>
          </a:p>
        </p:txBody>
      </p:sp>
      <p:sp>
        <p:nvSpPr>
          <p:cNvPr id="234499" name="Rectangle 3"/>
          <p:cNvSpPr>
            <a:spLocks noGrp="1" noChangeArrowheads="1"/>
          </p:cNvSpPr>
          <p:nvPr>
            <p:ph type="body" idx="1"/>
          </p:nvPr>
        </p:nvSpPr>
        <p:spPr>
          <a:xfrm>
            <a:off x="685800" y="1412875"/>
            <a:ext cx="7772400" cy="4683125"/>
          </a:xfrm>
        </p:spPr>
        <p:txBody>
          <a:bodyPr/>
          <a:lstStyle/>
          <a:p>
            <a:pPr marL="609600" indent="-609600">
              <a:buFontTx/>
              <a:buNone/>
            </a:pPr>
            <a:r>
              <a:rPr lang="en-US" sz="2800" dirty="0"/>
              <a:t>Note:</a:t>
            </a:r>
          </a:p>
          <a:p>
            <a:pPr marL="609600" indent="-609600">
              <a:buFontTx/>
              <a:buNone/>
            </a:pPr>
            <a:r>
              <a:rPr lang="en-US" sz="2800" dirty="0"/>
              <a:t>Negative effect of redistribution on efficiency depends on how strongly people respond</a:t>
            </a:r>
            <a:br>
              <a:rPr lang="en-US" sz="2800" dirty="0"/>
            </a:br>
            <a:r>
              <a:rPr lang="en-US" sz="2800" dirty="0">
                <a:sym typeface="Wingdings" panose="05000000000000000000" pitchFamily="2" charset="2"/>
              </a:rPr>
              <a:t> ‘substitution effect’, see next week.</a:t>
            </a:r>
          </a:p>
          <a:p>
            <a:pPr marL="609600" indent="-609600">
              <a:buFontTx/>
              <a:buNone/>
            </a:pPr>
            <a:endParaRPr lang="en-US" sz="2800" dirty="0">
              <a:sym typeface="Wingdings" panose="05000000000000000000" pitchFamily="2" charset="2"/>
            </a:endParaRPr>
          </a:p>
          <a:p>
            <a:pPr marL="609600" indent="-609600">
              <a:buFontTx/>
              <a:buNone/>
            </a:pPr>
            <a:r>
              <a:rPr lang="en-US" sz="2800" dirty="0">
                <a:sym typeface="Wingdings" panose="05000000000000000000" pitchFamily="2" charset="2"/>
              </a:rPr>
              <a:t>This is an empirical question!</a:t>
            </a:r>
          </a:p>
          <a:p>
            <a:pPr marL="609600" indent="-609600">
              <a:buFontTx/>
              <a:buNone/>
            </a:pPr>
            <a:r>
              <a:rPr lang="en-US" sz="2800" dirty="0">
                <a:sym typeface="Wingdings" panose="05000000000000000000" pitchFamily="2" charset="2"/>
              </a:rPr>
              <a:t> </a:t>
            </a:r>
            <a:r>
              <a:rPr lang="en-US" sz="2800" dirty="0" err="1">
                <a:sym typeface="Wingdings" panose="05000000000000000000" pitchFamily="2" charset="2"/>
              </a:rPr>
              <a:t>Labour</a:t>
            </a:r>
            <a:r>
              <a:rPr lang="en-US" sz="2800" dirty="0">
                <a:sym typeface="Wingdings" panose="05000000000000000000" pitchFamily="2" charset="2"/>
              </a:rPr>
              <a:t> supply elasticity.</a:t>
            </a:r>
            <a:endParaRPr lang="en-US" sz="2400" dirty="0"/>
          </a:p>
          <a:p>
            <a:pPr marL="609600" indent="-609600">
              <a:buFontTx/>
              <a:buNone/>
            </a:pPr>
            <a:endParaRPr lang="en-US" sz="2400" dirty="0"/>
          </a:p>
          <a:p>
            <a:pPr marL="609600" indent="-609600">
              <a:buFontTx/>
              <a:buNone/>
            </a:pPr>
            <a:endParaRPr lang="en-US" sz="1400" dirty="0"/>
          </a:p>
        </p:txBody>
      </p:sp>
    </p:spTree>
    <p:extLst>
      <p:ext uri="{BB962C8B-B14F-4D97-AF65-F5344CB8AC3E}">
        <p14:creationId xmlns:p14="http://schemas.microsoft.com/office/powerpoint/2010/main" val="26370587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553C3CD-6983-40E9-B460-502F636A6E89}" type="slidenum">
              <a:rPr lang="en-GB"/>
              <a:pPr/>
              <a:t>40</a:t>
            </a:fld>
            <a:endParaRPr lang="en-GB"/>
          </a:p>
        </p:txBody>
      </p:sp>
      <p:sp>
        <p:nvSpPr>
          <p:cNvPr id="236546" name="Rectangle 2"/>
          <p:cNvSpPr>
            <a:spLocks noGrp="1" noChangeArrowheads="1"/>
          </p:cNvSpPr>
          <p:nvPr>
            <p:ph type="body" idx="1"/>
          </p:nvPr>
        </p:nvSpPr>
        <p:spPr>
          <a:xfrm>
            <a:off x="685800" y="1196975"/>
            <a:ext cx="7772400" cy="5184775"/>
          </a:xfrm>
        </p:spPr>
        <p:txBody>
          <a:bodyPr/>
          <a:lstStyle/>
          <a:p>
            <a:pPr marL="261938" indent="-261938">
              <a:buFontTx/>
              <a:buNone/>
            </a:pPr>
            <a:r>
              <a:rPr lang="en-US" sz="2400" dirty="0"/>
              <a:t>Interesting ‘variation’ on benefit programs: EITC (see book)</a:t>
            </a:r>
          </a:p>
          <a:p>
            <a:pPr marL="261938" indent="-261938">
              <a:buFontTx/>
              <a:buNone/>
            </a:pPr>
            <a:endParaRPr lang="en-US" sz="1000" dirty="0"/>
          </a:p>
          <a:p>
            <a:pPr marL="261938" indent="-261938">
              <a:buFontTx/>
              <a:buNone/>
            </a:pPr>
            <a:r>
              <a:rPr lang="en-US" sz="2400" dirty="0"/>
              <a:t>EITC = Subsidy on income through reduction in income tax</a:t>
            </a:r>
          </a:p>
          <a:p>
            <a:pPr marL="261938" indent="-261938">
              <a:buFontTx/>
              <a:buNone/>
            </a:pPr>
            <a:r>
              <a:rPr lang="en-US" sz="2400" dirty="0"/>
              <a:t>Result: Low-income workers ‘pay’ negative taxes! </a:t>
            </a:r>
          </a:p>
          <a:p>
            <a:pPr marL="261938" indent="-261938">
              <a:buFontTx/>
              <a:buNone/>
            </a:pPr>
            <a:endParaRPr lang="en-US" sz="2400" dirty="0"/>
          </a:p>
          <a:p>
            <a:pPr marL="261938" indent="-261938">
              <a:buFontTx/>
              <a:buNone/>
            </a:pPr>
            <a:r>
              <a:rPr lang="en-US" sz="2400" dirty="0"/>
              <a:t>Used as instrument to redistribute towards ‘working poor’</a:t>
            </a:r>
          </a:p>
          <a:p>
            <a:pPr marL="261938" indent="-261938">
              <a:buFontTx/>
              <a:buNone/>
            </a:pPr>
            <a:endParaRPr lang="en-US" sz="1200" dirty="0"/>
          </a:p>
          <a:p>
            <a:pPr marL="261938" indent="-261938">
              <a:buFontTx/>
              <a:buNone/>
            </a:pPr>
            <a:r>
              <a:rPr lang="en-US" sz="2400" dirty="0"/>
              <a:t>Efficiency effects:</a:t>
            </a:r>
            <a:br>
              <a:rPr lang="en-US" sz="2400" dirty="0"/>
            </a:br>
            <a:r>
              <a:rPr lang="en-US" sz="2400" dirty="0"/>
              <a:t>Subsidy is negative marginal tax rate!</a:t>
            </a:r>
          </a:p>
          <a:p>
            <a:pPr marL="261938" indent="-261938">
              <a:buFontTx/>
              <a:buNone/>
            </a:pPr>
            <a:r>
              <a:rPr lang="en-US" sz="2400" dirty="0"/>
              <a:t>	</a:t>
            </a:r>
            <a:r>
              <a:rPr lang="en-US" sz="2400" dirty="0">
                <a:sym typeface="Wingdings" pitchFamily="2" charset="2"/>
              </a:rPr>
              <a:t> Stronger incentive to increase earnings in phase-in range</a:t>
            </a:r>
          </a:p>
          <a:p>
            <a:pPr marL="261938" indent="-261938">
              <a:buFontTx/>
              <a:buNone/>
            </a:pPr>
            <a:r>
              <a:rPr lang="en-US" sz="1200" dirty="0">
                <a:sym typeface="Wingdings" pitchFamily="2" charset="2"/>
              </a:rPr>
              <a:t> </a:t>
            </a:r>
          </a:p>
          <a:p>
            <a:pPr marL="261938" indent="-261938">
              <a:buFontTx/>
              <a:buNone/>
            </a:pPr>
            <a:r>
              <a:rPr lang="en-US" sz="2400" dirty="0">
                <a:sym typeface="Wingdings" pitchFamily="2" charset="2"/>
              </a:rPr>
              <a:t>But again:</a:t>
            </a:r>
            <a:br>
              <a:rPr lang="en-US" sz="2400" dirty="0">
                <a:sym typeface="Wingdings" pitchFamily="2" charset="2"/>
              </a:rPr>
            </a:br>
            <a:r>
              <a:rPr lang="en-US" sz="2400" dirty="0">
                <a:sym typeface="Wingdings" pitchFamily="2" charset="2"/>
              </a:rPr>
              <a:t>In phase-out range, high marginal tax rate</a:t>
            </a:r>
            <a:endParaRPr lang="en-US" sz="2400" dirty="0"/>
          </a:p>
        </p:txBody>
      </p:sp>
      <p:sp>
        <p:nvSpPr>
          <p:cNvPr id="236547" name="Rectangle 3"/>
          <p:cNvSpPr>
            <a:spLocks noGrp="1" noChangeArrowheads="1"/>
          </p:cNvSpPr>
          <p:nvPr>
            <p:ph type="title"/>
          </p:nvPr>
        </p:nvSpPr>
        <p:spPr>
          <a:xfrm>
            <a:off x="107504" y="260350"/>
            <a:ext cx="8785671" cy="792163"/>
          </a:xfrm>
          <a:noFill/>
          <a:ln/>
        </p:spPr>
        <p:txBody>
          <a:bodyPr/>
          <a:lstStyle/>
          <a:p>
            <a:r>
              <a:rPr lang="en-US" sz="3600" dirty="0"/>
              <a:t>Subsiding earnings: ‘earned income tax credit’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6546">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6546">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6546">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654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4"/>
          <p:cNvSpPr>
            <a:spLocks noGrp="1"/>
          </p:cNvSpPr>
          <p:nvPr>
            <p:ph type="sldNum" sz="quarter" idx="12"/>
          </p:nvPr>
        </p:nvSpPr>
        <p:spPr/>
        <p:txBody>
          <a:bodyPr/>
          <a:lstStyle/>
          <a:p>
            <a:fld id="{FC9CBFA1-DA84-437E-9A99-EE5FE0658393}" type="slidenum">
              <a:rPr lang="en-GB"/>
              <a:pPr/>
              <a:t>41</a:t>
            </a:fld>
            <a:endParaRPr lang="en-GB"/>
          </a:p>
        </p:txBody>
      </p:sp>
      <p:sp>
        <p:nvSpPr>
          <p:cNvPr id="238594" name="Line 2"/>
          <p:cNvSpPr>
            <a:spLocks noChangeShapeType="1"/>
          </p:cNvSpPr>
          <p:nvPr/>
        </p:nvSpPr>
        <p:spPr bwMode="auto">
          <a:xfrm>
            <a:off x="971550" y="1196975"/>
            <a:ext cx="0" cy="4416425"/>
          </a:xfrm>
          <a:prstGeom prst="line">
            <a:avLst/>
          </a:prstGeom>
          <a:noFill/>
          <a:ln w="9525">
            <a:solidFill>
              <a:srgbClr val="4B1500"/>
            </a:solidFill>
            <a:round/>
            <a:headEnd type="triangle" w="med" len="med"/>
            <a:tailEnd/>
          </a:ln>
          <a:effectLst/>
        </p:spPr>
        <p:txBody>
          <a:bodyPr/>
          <a:lstStyle/>
          <a:p>
            <a:endParaRPr lang="en-US"/>
          </a:p>
        </p:txBody>
      </p:sp>
      <p:sp>
        <p:nvSpPr>
          <p:cNvPr id="238595" name="Line 3"/>
          <p:cNvSpPr>
            <a:spLocks noChangeShapeType="1"/>
          </p:cNvSpPr>
          <p:nvPr/>
        </p:nvSpPr>
        <p:spPr bwMode="auto">
          <a:xfrm>
            <a:off x="971550" y="5589588"/>
            <a:ext cx="3624263" cy="19050"/>
          </a:xfrm>
          <a:prstGeom prst="line">
            <a:avLst/>
          </a:prstGeom>
          <a:noFill/>
          <a:ln w="9525">
            <a:solidFill>
              <a:srgbClr val="4B1500"/>
            </a:solidFill>
            <a:round/>
            <a:headEnd/>
            <a:tailEnd type="triangle" w="med" len="med"/>
          </a:ln>
          <a:effectLst/>
        </p:spPr>
        <p:txBody>
          <a:bodyPr/>
          <a:lstStyle/>
          <a:p>
            <a:endParaRPr lang="en-US"/>
          </a:p>
        </p:txBody>
      </p:sp>
      <p:sp>
        <p:nvSpPr>
          <p:cNvPr id="238596" name="Text Box 4"/>
          <p:cNvSpPr txBox="1">
            <a:spLocks noChangeArrowheads="1"/>
          </p:cNvSpPr>
          <p:nvPr/>
        </p:nvSpPr>
        <p:spPr bwMode="auto">
          <a:xfrm>
            <a:off x="3348038" y="5949950"/>
            <a:ext cx="1028700" cy="7016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leisure</a:t>
            </a:r>
          </a:p>
          <a:p>
            <a:pPr>
              <a:spcBef>
                <a:spcPct val="0"/>
              </a:spcBef>
              <a:buFontTx/>
              <a:buNone/>
            </a:pPr>
            <a:r>
              <a:rPr lang="en-US">
                <a:solidFill>
                  <a:schemeClr val="tx2"/>
                </a:solidFill>
                <a:latin typeface="Arial" charset="0"/>
              </a:rPr>
              <a:t>/ month</a:t>
            </a:r>
          </a:p>
        </p:txBody>
      </p:sp>
      <p:sp>
        <p:nvSpPr>
          <p:cNvPr id="238597" name="Text Box 5"/>
          <p:cNvSpPr txBox="1">
            <a:spLocks noChangeArrowheads="1"/>
          </p:cNvSpPr>
          <p:nvPr/>
        </p:nvSpPr>
        <p:spPr bwMode="auto">
          <a:xfrm rot="16200000">
            <a:off x="-2016125" y="2887663"/>
            <a:ext cx="4930775"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Income per month (= earnings + transfers)</a:t>
            </a:r>
          </a:p>
        </p:txBody>
      </p:sp>
      <p:sp>
        <p:nvSpPr>
          <p:cNvPr id="238598" name="Text Box 6"/>
          <p:cNvSpPr txBox="1">
            <a:spLocks noChangeArrowheads="1"/>
          </p:cNvSpPr>
          <p:nvPr/>
        </p:nvSpPr>
        <p:spPr bwMode="auto">
          <a:xfrm>
            <a:off x="660400" y="5567363"/>
            <a:ext cx="325438"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0</a:t>
            </a:r>
          </a:p>
        </p:txBody>
      </p:sp>
      <p:sp>
        <p:nvSpPr>
          <p:cNvPr id="238599" name="Text Box 7"/>
          <p:cNvSpPr txBox="1">
            <a:spLocks noChangeArrowheads="1"/>
          </p:cNvSpPr>
          <p:nvPr/>
        </p:nvSpPr>
        <p:spPr bwMode="auto">
          <a:xfrm>
            <a:off x="4211638" y="5661025"/>
            <a:ext cx="339725"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T</a:t>
            </a:r>
          </a:p>
        </p:txBody>
      </p:sp>
      <p:sp>
        <p:nvSpPr>
          <p:cNvPr id="238600" name="Line 8"/>
          <p:cNvSpPr>
            <a:spLocks noChangeShapeType="1"/>
          </p:cNvSpPr>
          <p:nvPr/>
        </p:nvSpPr>
        <p:spPr bwMode="auto">
          <a:xfrm flipH="1" flipV="1">
            <a:off x="971550" y="1677988"/>
            <a:ext cx="3313113" cy="3911600"/>
          </a:xfrm>
          <a:prstGeom prst="line">
            <a:avLst/>
          </a:prstGeom>
          <a:noFill/>
          <a:ln w="9525">
            <a:solidFill>
              <a:srgbClr val="4B1500"/>
            </a:solidFill>
            <a:round/>
            <a:headEnd/>
            <a:tailEnd/>
          </a:ln>
          <a:effectLst/>
        </p:spPr>
        <p:txBody>
          <a:bodyPr/>
          <a:lstStyle/>
          <a:p>
            <a:endParaRPr lang="en-US"/>
          </a:p>
        </p:txBody>
      </p:sp>
      <p:sp>
        <p:nvSpPr>
          <p:cNvPr id="238601" name="Text Box 9"/>
          <p:cNvSpPr txBox="1">
            <a:spLocks noChangeArrowheads="1"/>
          </p:cNvSpPr>
          <p:nvPr/>
        </p:nvSpPr>
        <p:spPr bwMode="auto">
          <a:xfrm>
            <a:off x="587375" y="1511300"/>
            <a:ext cx="36830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D</a:t>
            </a:r>
          </a:p>
        </p:txBody>
      </p:sp>
      <p:sp>
        <p:nvSpPr>
          <p:cNvPr id="238614" name="Rectangle 22"/>
          <p:cNvSpPr>
            <a:spLocks noGrp="1" noChangeArrowheads="1"/>
          </p:cNvSpPr>
          <p:nvPr>
            <p:ph type="title"/>
          </p:nvPr>
        </p:nvSpPr>
        <p:spPr>
          <a:xfrm>
            <a:off x="611188" y="188913"/>
            <a:ext cx="7772400" cy="936625"/>
          </a:xfrm>
          <a:noFill/>
          <a:ln/>
        </p:spPr>
        <p:txBody>
          <a:bodyPr/>
          <a:lstStyle/>
          <a:p>
            <a:r>
              <a:rPr lang="en-US" sz="3600"/>
              <a:t>Work Incentives and EITC</a:t>
            </a:r>
          </a:p>
        </p:txBody>
      </p:sp>
      <p:sp>
        <p:nvSpPr>
          <p:cNvPr id="238615" name="Line 23"/>
          <p:cNvSpPr>
            <a:spLocks noChangeShapeType="1"/>
          </p:cNvSpPr>
          <p:nvPr/>
        </p:nvSpPr>
        <p:spPr bwMode="auto">
          <a:xfrm>
            <a:off x="971550" y="1700213"/>
            <a:ext cx="1152525" cy="1296987"/>
          </a:xfrm>
          <a:prstGeom prst="line">
            <a:avLst/>
          </a:prstGeom>
          <a:noFill/>
          <a:ln w="38100">
            <a:solidFill>
              <a:schemeClr val="tx1"/>
            </a:solidFill>
            <a:round/>
            <a:headEnd/>
            <a:tailEnd/>
          </a:ln>
          <a:effectLst/>
        </p:spPr>
        <p:txBody>
          <a:bodyPr/>
          <a:lstStyle/>
          <a:p>
            <a:endParaRPr lang="en-US"/>
          </a:p>
        </p:txBody>
      </p:sp>
      <p:sp>
        <p:nvSpPr>
          <p:cNvPr id="238616" name="Line 24"/>
          <p:cNvSpPr>
            <a:spLocks noChangeShapeType="1"/>
          </p:cNvSpPr>
          <p:nvPr/>
        </p:nvSpPr>
        <p:spPr bwMode="auto">
          <a:xfrm>
            <a:off x="3851275" y="4365625"/>
            <a:ext cx="433388" cy="1223963"/>
          </a:xfrm>
          <a:prstGeom prst="line">
            <a:avLst/>
          </a:prstGeom>
          <a:noFill/>
          <a:ln w="38100">
            <a:solidFill>
              <a:srgbClr val="FF3300"/>
            </a:solidFill>
            <a:round/>
            <a:headEnd/>
            <a:tailEnd/>
          </a:ln>
          <a:effectLst/>
        </p:spPr>
        <p:txBody>
          <a:bodyPr/>
          <a:lstStyle/>
          <a:p>
            <a:endParaRPr lang="en-US"/>
          </a:p>
        </p:txBody>
      </p:sp>
      <p:sp>
        <p:nvSpPr>
          <p:cNvPr id="238617" name="Line 25"/>
          <p:cNvSpPr>
            <a:spLocks noChangeShapeType="1"/>
          </p:cNvSpPr>
          <p:nvPr/>
        </p:nvSpPr>
        <p:spPr bwMode="auto">
          <a:xfrm>
            <a:off x="3059113" y="3429000"/>
            <a:ext cx="792162" cy="936625"/>
          </a:xfrm>
          <a:prstGeom prst="line">
            <a:avLst/>
          </a:prstGeom>
          <a:noFill/>
          <a:ln w="38100">
            <a:solidFill>
              <a:schemeClr val="accent2"/>
            </a:solidFill>
            <a:round/>
            <a:headEnd/>
            <a:tailEnd/>
          </a:ln>
          <a:effectLst/>
        </p:spPr>
        <p:txBody>
          <a:bodyPr/>
          <a:lstStyle/>
          <a:p>
            <a:endParaRPr lang="en-US"/>
          </a:p>
        </p:txBody>
      </p:sp>
      <p:sp>
        <p:nvSpPr>
          <p:cNvPr id="238618" name="Line 26"/>
          <p:cNvSpPr>
            <a:spLocks noChangeShapeType="1"/>
          </p:cNvSpPr>
          <p:nvPr/>
        </p:nvSpPr>
        <p:spPr bwMode="auto">
          <a:xfrm>
            <a:off x="2124075" y="2997200"/>
            <a:ext cx="935038" cy="431800"/>
          </a:xfrm>
          <a:prstGeom prst="line">
            <a:avLst/>
          </a:prstGeom>
          <a:noFill/>
          <a:ln w="38100">
            <a:solidFill>
              <a:srgbClr val="66FF33"/>
            </a:solidFill>
            <a:round/>
            <a:headEnd/>
            <a:tailEnd/>
          </a:ln>
          <a:effectLst/>
        </p:spPr>
        <p:txBody>
          <a:bodyPr/>
          <a:lstStyle/>
          <a:p>
            <a:endParaRPr lang="en-US"/>
          </a:p>
        </p:txBody>
      </p:sp>
      <p:sp>
        <p:nvSpPr>
          <p:cNvPr id="238621" name="Line 29"/>
          <p:cNvSpPr>
            <a:spLocks noChangeShapeType="1"/>
          </p:cNvSpPr>
          <p:nvPr/>
        </p:nvSpPr>
        <p:spPr bwMode="auto">
          <a:xfrm>
            <a:off x="5076825" y="1196975"/>
            <a:ext cx="0" cy="4416425"/>
          </a:xfrm>
          <a:prstGeom prst="line">
            <a:avLst/>
          </a:prstGeom>
          <a:noFill/>
          <a:ln w="9525">
            <a:solidFill>
              <a:srgbClr val="4B1500"/>
            </a:solidFill>
            <a:round/>
            <a:headEnd type="triangle" w="med" len="med"/>
            <a:tailEnd/>
          </a:ln>
          <a:effectLst/>
        </p:spPr>
        <p:txBody>
          <a:bodyPr/>
          <a:lstStyle/>
          <a:p>
            <a:endParaRPr lang="en-US"/>
          </a:p>
        </p:txBody>
      </p:sp>
      <p:sp>
        <p:nvSpPr>
          <p:cNvPr id="238622" name="Line 30"/>
          <p:cNvSpPr>
            <a:spLocks noChangeShapeType="1"/>
          </p:cNvSpPr>
          <p:nvPr/>
        </p:nvSpPr>
        <p:spPr bwMode="auto">
          <a:xfrm>
            <a:off x="5087938" y="5580063"/>
            <a:ext cx="3624262" cy="19050"/>
          </a:xfrm>
          <a:prstGeom prst="line">
            <a:avLst/>
          </a:prstGeom>
          <a:noFill/>
          <a:ln w="9525">
            <a:solidFill>
              <a:srgbClr val="4B1500"/>
            </a:solidFill>
            <a:round/>
            <a:headEnd/>
            <a:tailEnd type="triangle" w="med" len="med"/>
          </a:ln>
          <a:effectLst/>
        </p:spPr>
        <p:txBody>
          <a:bodyPr/>
          <a:lstStyle/>
          <a:p>
            <a:endParaRPr lang="en-US"/>
          </a:p>
        </p:txBody>
      </p:sp>
      <p:sp>
        <p:nvSpPr>
          <p:cNvPr id="238623" name="Text Box 31"/>
          <p:cNvSpPr txBox="1">
            <a:spLocks noChangeArrowheads="1"/>
          </p:cNvSpPr>
          <p:nvPr/>
        </p:nvSpPr>
        <p:spPr bwMode="auto">
          <a:xfrm>
            <a:off x="7524750" y="5805488"/>
            <a:ext cx="118745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Earnings</a:t>
            </a:r>
          </a:p>
        </p:txBody>
      </p:sp>
      <p:sp>
        <p:nvSpPr>
          <p:cNvPr id="238624" name="Text Box 32"/>
          <p:cNvSpPr txBox="1">
            <a:spLocks noChangeArrowheads="1"/>
          </p:cNvSpPr>
          <p:nvPr/>
        </p:nvSpPr>
        <p:spPr bwMode="auto">
          <a:xfrm rot="16200000">
            <a:off x="4388644" y="1380331"/>
            <a:ext cx="763588"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EITC</a:t>
            </a:r>
          </a:p>
        </p:txBody>
      </p:sp>
      <p:sp>
        <p:nvSpPr>
          <p:cNvPr id="238625" name="Text Box 33"/>
          <p:cNvSpPr txBox="1">
            <a:spLocks noChangeArrowheads="1"/>
          </p:cNvSpPr>
          <p:nvPr/>
        </p:nvSpPr>
        <p:spPr bwMode="auto">
          <a:xfrm>
            <a:off x="4776788" y="5557838"/>
            <a:ext cx="325437"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0</a:t>
            </a:r>
          </a:p>
        </p:txBody>
      </p:sp>
      <p:sp>
        <p:nvSpPr>
          <p:cNvPr id="238630" name="Line 38"/>
          <p:cNvSpPr>
            <a:spLocks noChangeShapeType="1"/>
          </p:cNvSpPr>
          <p:nvPr/>
        </p:nvSpPr>
        <p:spPr bwMode="auto">
          <a:xfrm flipH="1">
            <a:off x="5076825" y="4292600"/>
            <a:ext cx="1077913" cy="1296988"/>
          </a:xfrm>
          <a:prstGeom prst="line">
            <a:avLst/>
          </a:prstGeom>
          <a:noFill/>
          <a:ln w="38100">
            <a:solidFill>
              <a:srgbClr val="FF3300"/>
            </a:solidFill>
            <a:round/>
            <a:headEnd/>
            <a:tailEnd/>
          </a:ln>
          <a:effectLst/>
        </p:spPr>
        <p:txBody>
          <a:bodyPr/>
          <a:lstStyle/>
          <a:p>
            <a:endParaRPr lang="en-US"/>
          </a:p>
        </p:txBody>
      </p:sp>
      <p:sp>
        <p:nvSpPr>
          <p:cNvPr id="238631" name="Line 39"/>
          <p:cNvSpPr>
            <a:spLocks noChangeShapeType="1"/>
          </p:cNvSpPr>
          <p:nvPr/>
        </p:nvSpPr>
        <p:spPr bwMode="auto">
          <a:xfrm>
            <a:off x="6156325" y="4292600"/>
            <a:ext cx="1079500" cy="0"/>
          </a:xfrm>
          <a:prstGeom prst="line">
            <a:avLst/>
          </a:prstGeom>
          <a:noFill/>
          <a:ln w="38100">
            <a:solidFill>
              <a:schemeClr val="accent2"/>
            </a:solidFill>
            <a:round/>
            <a:headEnd/>
            <a:tailEnd/>
          </a:ln>
          <a:effectLst/>
        </p:spPr>
        <p:txBody>
          <a:bodyPr/>
          <a:lstStyle/>
          <a:p>
            <a:endParaRPr lang="en-US"/>
          </a:p>
        </p:txBody>
      </p:sp>
      <p:sp>
        <p:nvSpPr>
          <p:cNvPr id="238632" name="Line 40"/>
          <p:cNvSpPr>
            <a:spLocks noChangeShapeType="1"/>
          </p:cNvSpPr>
          <p:nvPr/>
        </p:nvSpPr>
        <p:spPr bwMode="auto">
          <a:xfrm>
            <a:off x="7235825" y="4292600"/>
            <a:ext cx="1152525" cy="1296988"/>
          </a:xfrm>
          <a:prstGeom prst="line">
            <a:avLst/>
          </a:prstGeom>
          <a:noFill/>
          <a:ln w="38100">
            <a:solidFill>
              <a:srgbClr val="66FF33"/>
            </a:solidFill>
            <a:round/>
            <a:headEnd/>
            <a:tailEnd/>
          </a:ln>
          <a:effectLst/>
        </p:spPr>
        <p:txBody>
          <a:bodyPr/>
          <a:lstStyle/>
          <a:p>
            <a:endParaRPr lang="en-US"/>
          </a:p>
        </p:txBody>
      </p:sp>
      <p:sp>
        <p:nvSpPr>
          <p:cNvPr id="238634" name="AutoShape 42"/>
          <p:cNvSpPr>
            <a:spLocks noChangeArrowheads="1"/>
          </p:cNvSpPr>
          <p:nvPr/>
        </p:nvSpPr>
        <p:spPr bwMode="auto">
          <a:xfrm>
            <a:off x="4572000" y="3500438"/>
            <a:ext cx="1150938" cy="719137"/>
          </a:xfrm>
          <a:prstGeom prst="wedgeRoundRectCallout">
            <a:avLst>
              <a:gd name="adj1" fmla="val 51380"/>
              <a:gd name="adj2" fmla="val 112250"/>
              <a:gd name="adj3" fmla="val 16667"/>
            </a:avLst>
          </a:prstGeom>
          <a:solidFill>
            <a:srgbClr val="FFFF00"/>
          </a:solidFill>
          <a:ln w="9525" algn="ctr">
            <a:solidFill>
              <a:schemeClr val="tx1"/>
            </a:solidFill>
            <a:miter lim="800000"/>
            <a:headEnd/>
            <a:tailEnd/>
          </a:ln>
          <a:effectLst/>
        </p:spPr>
        <p:txBody>
          <a:bodyPr/>
          <a:lstStyle/>
          <a:p>
            <a:pPr>
              <a:buFontTx/>
              <a:buNone/>
            </a:pPr>
            <a:r>
              <a:rPr lang="en-US"/>
              <a:t>Phase-in range</a:t>
            </a:r>
          </a:p>
        </p:txBody>
      </p:sp>
      <p:sp>
        <p:nvSpPr>
          <p:cNvPr id="238635" name="AutoShape 43"/>
          <p:cNvSpPr>
            <a:spLocks noChangeArrowheads="1"/>
          </p:cNvSpPr>
          <p:nvPr/>
        </p:nvSpPr>
        <p:spPr bwMode="auto">
          <a:xfrm>
            <a:off x="7740650" y="3357563"/>
            <a:ext cx="1403350" cy="719137"/>
          </a:xfrm>
          <a:prstGeom prst="wedgeRoundRectCallout">
            <a:avLst>
              <a:gd name="adj1" fmla="val -50000"/>
              <a:gd name="adj2" fmla="val 131458"/>
              <a:gd name="adj3" fmla="val 16667"/>
            </a:avLst>
          </a:prstGeom>
          <a:solidFill>
            <a:srgbClr val="FFFF00"/>
          </a:solidFill>
          <a:ln w="9525" algn="ctr">
            <a:solidFill>
              <a:schemeClr val="tx1"/>
            </a:solidFill>
            <a:miter lim="800000"/>
            <a:headEnd/>
            <a:tailEnd/>
          </a:ln>
          <a:effectLst/>
        </p:spPr>
        <p:txBody>
          <a:bodyPr/>
          <a:lstStyle/>
          <a:p>
            <a:pPr>
              <a:buFontTx/>
              <a:buNone/>
            </a:pPr>
            <a:r>
              <a:rPr lang="en-US"/>
              <a:t>Phase-out range</a:t>
            </a:r>
          </a:p>
        </p:txBody>
      </p:sp>
      <p:sp>
        <p:nvSpPr>
          <p:cNvPr id="238636" name="Line 44"/>
          <p:cNvSpPr>
            <a:spLocks noChangeShapeType="1"/>
          </p:cNvSpPr>
          <p:nvPr/>
        </p:nvSpPr>
        <p:spPr bwMode="auto">
          <a:xfrm flipV="1">
            <a:off x="8316913" y="5589588"/>
            <a:ext cx="647700" cy="0"/>
          </a:xfrm>
          <a:prstGeom prst="line">
            <a:avLst/>
          </a:prstGeom>
          <a:noFill/>
          <a:ln w="38100">
            <a:solidFill>
              <a:schemeClr val="tx1"/>
            </a:solidFill>
            <a:round/>
            <a:headEnd/>
            <a:tailEnd/>
          </a:ln>
          <a:effectLst/>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86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86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86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86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86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38630"/>
                                        </p:tgtEl>
                                        <p:attrNameLst>
                                          <p:attrName>style.visibility</p:attrName>
                                        </p:attrNameLst>
                                      </p:cBhvr>
                                      <p:to>
                                        <p:strVal val="visible"/>
                                      </p:to>
                                    </p:set>
                                    <p:animEffect transition="in" filter="wipe(down)">
                                      <p:cBhvr>
                                        <p:cTn id="19" dur="1000"/>
                                        <p:tgtEl>
                                          <p:spTgt spid="238630"/>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2386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38616"/>
                                        </p:tgtEl>
                                        <p:attrNameLst>
                                          <p:attrName>style.visibility</p:attrName>
                                        </p:attrNameLst>
                                      </p:cBhvr>
                                      <p:to>
                                        <p:strVal val="visible"/>
                                      </p:to>
                                    </p:set>
                                    <p:animEffect transition="in" filter="wipe(down)">
                                      <p:cBhvr>
                                        <p:cTn id="27" dur="1000"/>
                                        <p:tgtEl>
                                          <p:spTgt spid="2386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8631"/>
                                        </p:tgtEl>
                                        <p:attrNameLst>
                                          <p:attrName>style.visibility</p:attrName>
                                        </p:attrNameLst>
                                      </p:cBhvr>
                                      <p:to>
                                        <p:strVal val="visible"/>
                                      </p:to>
                                    </p:set>
                                    <p:animEffect transition="in" filter="wipe(left)">
                                      <p:cBhvr>
                                        <p:cTn id="32" dur="1000"/>
                                        <p:tgtEl>
                                          <p:spTgt spid="238631"/>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238617"/>
                                        </p:tgtEl>
                                        <p:attrNameLst>
                                          <p:attrName>style.visibility</p:attrName>
                                        </p:attrNameLst>
                                      </p:cBhvr>
                                      <p:to>
                                        <p:strVal val="visible"/>
                                      </p:to>
                                    </p:set>
                                    <p:animEffect transition="in" filter="wipe(down)">
                                      <p:cBhvr>
                                        <p:cTn id="35" dur="1000"/>
                                        <p:tgtEl>
                                          <p:spTgt spid="23861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238632"/>
                                        </p:tgtEl>
                                        <p:attrNameLst>
                                          <p:attrName>style.visibility</p:attrName>
                                        </p:attrNameLst>
                                      </p:cBhvr>
                                      <p:to>
                                        <p:strVal val="visible"/>
                                      </p:to>
                                    </p:set>
                                    <p:animEffect transition="in" filter="wipe(up)">
                                      <p:cBhvr>
                                        <p:cTn id="40" dur="1000"/>
                                        <p:tgtEl>
                                          <p:spTgt spid="238632"/>
                                        </p:tgtEl>
                                      </p:cBhvr>
                                    </p:animEffect>
                                  </p:childTnLst>
                                </p:cTn>
                              </p:par>
                            </p:childTnLst>
                          </p:cTn>
                        </p:par>
                        <p:par>
                          <p:cTn id="41" fill="hold">
                            <p:stCondLst>
                              <p:cond delay="1000"/>
                            </p:stCondLst>
                            <p:childTnLst>
                              <p:par>
                                <p:cTn id="42" presetID="1" presetClass="entr" presetSubtype="0" fill="hold" grpId="0" nodeType="afterEffect">
                                  <p:stCondLst>
                                    <p:cond delay="0"/>
                                  </p:stCondLst>
                                  <p:childTnLst>
                                    <p:set>
                                      <p:cBhvr>
                                        <p:cTn id="43" dur="1" fill="hold">
                                          <p:stCondLst>
                                            <p:cond delay="0"/>
                                          </p:stCondLst>
                                        </p:cTn>
                                        <p:tgtEl>
                                          <p:spTgt spid="23863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238618"/>
                                        </p:tgtEl>
                                        <p:attrNameLst>
                                          <p:attrName>style.visibility</p:attrName>
                                        </p:attrNameLst>
                                      </p:cBhvr>
                                      <p:to>
                                        <p:strVal val="visible"/>
                                      </p:to>
                                    </p:set>
                                    <p:animEffect transition="in" filter="wipe(down)">
                                      <p:cBhvr>
                                        <p:cTn id="48" dur="1000"/>
                                        <p:tgtEl>
                                          <p:spTgt spid="23861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38636"/>
                                        </p:tgtEl>
                                        <p:attrNameLst>
                                          <p:attrName>style.visibility</p:attrName>
                                        </p:attrNameLst>
                                      </p:cBhvr>
                                      <p:to>
                                        <p:strVal val="visible"/>
                                      </p:to>
                                    </p:set>
                                    <p:animEffect transition="in" filter="wipe(left)">
                                      <p:cBhvr>
                                        <p:cTn id="53" dur="500"/>
                                        <p:tgtEl>
                                          <p:spTgt spid="238636"/>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238615"/>
                                        </p:tgtEl>
                                        <p:attrNameLst>
                                          <p:attrName>style.visibility</p:attrName>
                                        </p:attrNameLst>
                                      </p:cBhvr>
                                      <p:to>
                                        <p:strVal val="visible"/>
                                      </p:to>
                                    </p:set>
                                    <p:animEffect transition="in" filter="wipe(down)">
                                      <p:cBhvr>
                                        <p:cTn id="56" dur="500"/>
                                        <p:tgtEl>
                                          <p:spTgt spid="238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615" grpId="0" animBg="1"/>
      <p:bldP spid="238616" grpId="0" animBg="1"/>
      <p:bldP spid="238617" grpId="0" animBg="1"/>
      <p:bldP spid="238618" grpId="0" animBg="1"/>
      <p:bldP spid="238621" grpId="0" animBg="1"/>
      <p:bldP spid="238622" grpId="0" animBg="1"/>
      <p:bldP spid="238623" grpId="0"/>
      <p:bldP spid="238624" grpId="0"/>
      <p:bldP spid="238625" grpId="0"/>
      <p:bldP spid="238630" grpId="0" animBg="1"/>
      <p:bldP spid="238631" grpId="0" animBg="1"/>
      <p:bldP spid="238632" grpId="0" animBg="1"/>
      <p:bldP spid="238634" grpId="0" animBg="1"/>
      <p:bldP spid="238635" grpId="0" animBg="1"/>
      <p:bldP spid="23863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p:cNvSpPr>
            <a:spLocks noGrp="1"/>
          </p:cNvSpPr>
          <p:nvPr>
            <p:ph type="sldNum" sz="quarter" idx="12"/>
          </p:nvPr>
        </p:nvSpPr>
        <p:spPr/>
        <p:txBody>
          <a:bodyPr/>
          <a:lstStyle/>
          <a:p>
            <a:fld id="{9294B600-C811-4FC0-8FA7-E312CC0AA8F8}" type="slidenum">
              <a:rPr lang="en-GB"/>
              <a:pPr/>
              <a:t>42</a:t>
            </a:fld>
            <a:endParaRPr lang="en-GB"/>
          </a:p>
        </p:txBody>
      </p:sp>
      <p:sp>
        <p:nvSpPr>
          <p:cNvPr id="240642" name="Rectangle 2"/>
          <p:cNvSpPr>
            <a:spLocks noGrp="1" noChangeArrowheads="1"/>
          </p:cNvSpPr>
          <p:nvPr>
            <p:ph type="title"/>
          </p:nvPr>
        </p:nvSpPr>
        <p:spPr>
          <a:xfrm>
            <a:off x="611188" y="260350"/>
            <a:ext cx="7772400" cy="865188"/>
          </a:xfrm>
        </p:spPr>
        <p:txBody>
          <a:bodyPr/>
          <a:lstStyle/>
          <a:p>
            <a:r>
              <a:rPr lang="en-US" sz="3600" dirty="0"/>
              <a:t>Work Incentives: exercise</a:t>
            </a:r>
          </a:p>
        </p:txBody>
      </p:sp>
      <p:sp>
        <p:nvSpPr>
          <p:cNvPr id="240643" name="Rectangle 3"/>
          <p:cNvSpPr>
            <a:spLocks noGrp="1" noChangeArrowheads="1"/>
          </p:cNvSpPr>
          <p:nvPr>
            <p:ph type="body" sz="half" idx="1"/>
          </p:nvPr>
        </p:nvSpPr>
        <p:spPr>
          <a:xfrm>
            <a:off x="611188" y="1196975"/>
            <a:ext cx="8134350" cy="4899025"/>
          </a:xfrm>
        </p:spPr>
        <p:txBody>
          <a:bodyPr/>
          <a:lstStyle/>
          <a:p>
            <a:pPr marL="609600" indent="-609600">
              <a:buFontTx/>
              <a:buNone/>
            </a:pPr>
            <a:r>
              <a:rPr lang="en-US" sz="2400" dirty="0"/>
              <a:t>Bob has to decide how many hours to work.</a:t>
            </a:r>
          </a:p>
          <a:p>
            <a:pPr marL="609600" indent="-609600"/>
            <a:r>
              <a:rPr lang="en-US" sz="2400" dirty="0"/>
              <a:t>Hourly wage w = 15 euro.</a:t>
            </a:r>
          </a:p>
          <a:p>
            <a:pPr marL="609600" indent="-609600"/>
            <a:r>
              <a:rPr lang="en-US" sz="2400" dirty="0"/>
              <a:t>Total number of hours available per month T = 720</a:t>
            </a:r>
          </a:p>
          <a:p>
            <a:pPr marL="609600" indent="-609600"/>
            <a:endParaRPr lang="en-US" sz="1600" dirty="0"/>
          </a:p>
          <a:p>
            <a:pPr marL="609600" indent="-609600">
              <a:buFontTx/>
              <a:buNone/>
            </a:pPr>
            <a:r>
              <a:rPr lang="en-US" sz="2400" dirty="0"/>
              <a:t>Utility function </a:t>
            </a:r>
          </a:p>
          <a:p>
            <a:pPr marL="609600" indent="-609600">
              <a:buFontTx/>
              <a:buNone/>
            </a:pPr>
            <a:endParaRPr lang="en-US" sz="1000" dirty="0"/>
          </a:p>
          <a:p>
            <a:pPr marL="609600" indent="-609600">
              <a:buFontTx/>
              <a:buNone/>
            </a:pPr>
            <a:r>
              <a:rPr lang="en-US" sz="2400" dirty="0"/>
              <a:t>where Y = income (euro’s); L = Leisure (hours) </a:t>
            </a:r>
          </a:p>
          <a:p>
            <a:pPr marL="609600" indent="-609600">
              <a:buFontTx/>
              <a:buNone/>
            </a:pPr>
            <a:endParaRPr lang="en-US" sz="2400" dirty="0"/>
          </a:p>
          <a:p>
            <a:pPr marL="609600" indent="-609600">
              <a:buFontTx/>
              <a:buNone/>
            </a:pPr>
            <a:r>
              <a:rPr lang="en-US" sz="2400" dirty="0"/>
              <a:t>Budget constraint: </a:t>
            </a:r>
          </a:p>
          <a:p>
            <a:pPr marL="609600" indent="-609600"/>
            <a:r>
              <a:rPr lang="en-US" sz="2400" dirty="0"/>
              <a:t>Max Y = 720x15 = 10800</a:t>
            </a:r>
          </a:p>
          <a:p>
            <a:pPr marL="609600" indent="-609600"/>
            <a:r>
              <a:rPr lang="en-US" sz="2400" dirty="0"/>
              <a:t>Each hour of leisure reduces Y by 15</a:t>
            </a:r>
          </a:p>
          <a:p>
            <a:pPr marL="609600" indent="-609600">
              <a:buFontTx/>
              <a:buNone/>
            </a:pPr>
            <a:r>
              <a:rPr lang="en-US" sz="2400">
                <a:sym typeface="Wingdings" pitchFamily="2" charset="2"/>
              </a:rPr>
              <a:t> 	Y = 15(720 – L)  Y = 10800 – 15L </a:t>
            </a:r>
            <a:endParaRPr lang="en-US" sz="2400"/>
          </a:p>
        </p:txBody>
      </p:sp>
      <p:graphicFrame>
        <p:nvGraphicFramePr>
          <p:cNvPr id="240644" name="Object 4"/>
          <p:cNvGraphicFramePr>
            <a:graphicFrameLocks noGrp="1" noChangeAspect="1"/>
          </p:cNvGraphicFramePr>
          <p:nvPr>
            <p:ph sz="half" idx="2"/>
          </p:nvPr>
        </p:nvGraphicFramePr>
        <p:xfrm>
          <a:off x="3132138" y="2852738"/>
          <a:ext cx="2808287" cy="482600"/>
        </p:xfrm>
        <a:graphic>
          <a:graphicData uri="http://schemas.openxmlformats.org/presentationml/2006/ole">
            <mc:AlternateContent xmlns:mc="http://schemas.openxmlformats.org/markup-compatibility/2006">
              <mc:Choice xmlns:v="urn:schemas-microsoft-com:vml" Requires="v">
                <p:oleObj name="Equation" r:id="rId2" imgW="1180800" imgH="203040" progId="Equation.3">
                  <p:embed/>
                </p:oleObj>
              </mc:Choice>
              <mc:Fallback>
                <p:oleObj name="Equation" r:id="rId2" imgW="1180800" imgH="203040" progId="Equation.3">
                  <p:embed/>
                  <p:pic>
                    <p:nvPicPr>
                      <p:cNvPr id="24064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2852738"/>
                        <a:ext cx="2808287"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064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064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06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064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064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064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064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p:cNvSpPr>
            <a:spLocks noGrp="1"/>
          </p:cNvSpPr>
          <p:nvPr>
            <p:ph type="sldNum" sz="quarter" idx="12"/>
          </p:nvPr>
        </p:nvSpPr>
        <p:spPr/>
        <p:txBody>
          <a:bodyPr/>
          <a:lstStyle/>
          <a:p>
            <a:fld id="{79DFF69E-0A37-4FAA-B71C-10B32F98E222}" type="slidenum">
              <a:rPr lang="en-GB"/>
              <a:pPr/>
              <a:t>43</a:t>
            </a:fld>
            <a:endParaRPr lang="en-GB"/>
          </a:p>
        </p:txBody>
      </p:sp>
      <p:sp>
        <p:nvSpPr>
          <p:cNvPr id="248834" name="Line 2"/>
          <p:cNvSpPr>
            <a:spLocks noChangeShapeType="1"/>
          </p:cNvSpPr>
          <p:nvPr/>
        </p:nvSpPr>
        <p:spPr bwMode="auto">
          <a:xfrm>
            <a:off x="1908175" y="1196975"/>
            <a:ext cx="0" cy="4416425"/>
          </a:xfrm>
          <a:prstGeom prst="line">
            <a:avLst/>
          </a:prstGeom>
          <a:noFill/>
          <a:ln w="9525">
            <a:solidFill>
              <a:srgbClr val="4B1500"/>
            </a:solidFill>
            <a:round/>
            <a:headEnd type="triangle" w="med" len="med"/>
            <a:tailEnd/>
          </a:ln>
          <a:effectLst/>
        </p:spPr>
        <p:txBody>
          <a:bodyPr/>
          <a:lstStyle/>
          <a:p>
            <a:endParaRPr lang="en-US"/>
          </a:p>
        </p:txBody>
      </p:sp>
      <p:sp>
        <p:nvSpPr>
          <p:cNvPr id="248835" name="Line 3"/>
          <p:cNvSpPr>
            <a:spLocks noChangeShapeType="1"/>
          </p:cNvSpPr>
          <p:nvPr/>
        </p:nvSpPr>
        <p:spPr bwMode="auto">
          <a:xfrm>
            <a:off x="1906588" y="5588000"/>
            <a:ext cx="6413500" cy="0"/>
          </a:xfrm>
          <a:prstGeom prst="line">
            <a:avLst/>
          </a:prstGeom>
          <a:noFill/>
          <a:ln w="9525">
            <a:solidFill>
              <a:srgbClr val="4B1500"/>
            </a:solidFill>
            <a:round/>
            <a:headEnd/>
            <a:tailEnd type="triangle" w="med" len="med"/>
          </a:ln>
          <a:effectLst/>
        </p:spPr>
        <p:txBody>
          <a:bodyPr/>
          <a:lstStyle/>
          <a:p>
            <a:endParaRPr lang="en-US"/>
          </a:p>
        </p:txBody>
      </p:sp>
      <p:sp>
        <p:nvSpPr>
          <p:cNvPr id="248836" name="Text Box 4"/>
          <p:cNvSpPr txBox="1">
            <a:spLocks noChangeArrowheads="1"/>
          </p:cNvSpPr>
          <p:nvPr/>
        </p:nvSpPr>
        <p:spPr bwMode="auto">
          <a:xfrm>
            <a:off x="6732588" y="5734050"/>
            <a:ext cx="184785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leisure / month</a:t>
            </a:r>
          </a:p>
        </p:txBody>
      </p:sp>
      <p:sp>
        <p:nvSpPr>
          <p:cNvPr id="248837" name="Text Box 5"/>
          <p:cNvSpPr txBox="1">
            <a:spLocks noChangeArrowheads="1"/>
          </p:cNvSpPr>
          <p:nvPr/>
        </p:nvSpPr>
        <p:spPr bwMode="auto">
          <a:xfrm rot="16200000">
            <a:off x="-375444" y="2470944"/>
            <a:ext cx="2227263"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Income per month</a:t>
            </a:r>
          </a:p>
        </p:txBody>
      </p:sp>
      <p:sp>
        <p:nvSpPr>
          <p:cNvPr id="248838" name="Text Box 6"/>
          <p:cNvSpPr txBox="1">
            <a:spLocks noChangeArrowheads="1"/>
          </p:cNvSpPr>
          <p:nvPr/>
        </p:nvSpPr>
        <p:spPr bwMode="auto">
          <a:xfrm>
            <a:off x="1547813" y="5634038"/>
            <a:ext cx="325437"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0</a:t>
            </a:r>
          </a:p>
        </p:txBody>
      </p:sp>
      <p:sp>
        <p:nvSpPr>
          <p:cNvPr id="248839" name="Text Box 7"/>
          <p:cNvSpPr txBox="1">
            <a:spLocks noChangeArrowheads="1"/>
          </p:cNvSpPr>
          <p:nvPr/>
        </p:nvSpPr>
        <p:spPr bwMode="auto">
          <a:xfrm>
            <a:off x="5795963" y="5634038"/>
            <a:ext cx="608012"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720</a:t>
            </a:r>
          </a:p>
        </p:txBody>
      </p:sp>
      <p:sp>
        <p:nvSpPr>
          <p:cNvPr id="248840" name="Line 8"/>
          <p:cNvSpPr>
            <a:spLocks noChangeShapeType="1"/>
          </p:cNvSpPr>
          <p:nvPr/>
        </p:nvSpPr>
        <p:spPr bwMode="auto">
          <a:xfrm flipH="1" flipV="1">
            <a:off x="1908175" y="1628775"/>
            <a:ext cx="4032250" cy="3954463"/>
          </a:xfrm>
          <a:prstGeom prst="line">
            <a:avLst/>
          </a:prstGeom>
          <a:noFill/>
          <a:ln w="9525">
            <a:solidFill>
              <a:srgbClr val="4B1500"/>
            </a:solidFill>
            <a:round/>
            <a:headEnd/>
            <a:tailEnd/>
          </a:ln>
          <a:effectLst/>
        </p:spPr>
        <p:txBody>
          <a:bodyPr/>
          <a:lstStyle/>
          <a:p>
            <a:endParaRPr lang="en-US"/>
          </a:p>
        </p:txBody>
      </p:sp>
      <p:sp>
        <p:nvSpPr>
          <p:cNvPr id="248841" name="Text Box 9"/>
          <p:cNvSpPr txBox="1">
            <a:spLocks noChangeArrowheads="1"/>
          </p:cNvSpPr>
          <p:nvPr/>
        </p:nvSpPr>
        <p:spPr bwMode="auto">
          <a:xfrm>
            <a:off x="971550" y="1411288"/>
            <a:ext cx="890588"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10800</a:t>
            </a:r>
          </a:p>
        </p:txBody>
      </p:sp>
      <p:sp>
        <p:nvSpPr>
          <p:cNvPr id="248842" name="Text Box 10"/>
          <p:cNvSpPr txBox="1">
            <a:spLocks noChangeArrowheads="1"/>
          </p:cNvSpPr>
          <p:nvPr/>
        </p:nvSpPr>
        <p:spPr bwMode="auto">
          <a:xfrm>
            <a:off x="2843213" y="1771650"/>
            <a:ext cx="1655762" cy="396875"/>
          </a:xfrm>
          <a:prstGeom prst="rect">
            <a:avLst/>
          </a:prstGeom>
          <a:noFill/>
          <a:ln w="9525">
            <a:noFill/>
            <a:miter lim="800000"/>
            <a:headEnd/>
            <a:tailEnd/>
          </a:ln>
          <a:effectLst/>
        </p:spPr>
        <p:txBody>
          <a:bodyPr>
            <a:spAutoFit/>
          </a:bodyPr>
          <a:lstStyle/>
          <a:p>
            <a:pPr>
              <a:spcBef>
                <a:spcPct val="50000"/>
              </a:spcBef>
              <a:buFontTx/>
              <a:buNone/>
            </a:pPr>
            <a:r>
              <a:rPr lang="en-US">
                <a:solidFill>
                  <a:schemeClr val="tx2"/>
                </a:solidFill>
                <a:latin typeface="Arial" charset="0"/>
                <a:cs typeface="Arial" charset="0"/>
              </a:rPr>
              <a:t>|Slope| = 15</a:t>
            </a:r>
          </a:p>
        </p:txBody>
      </p:sp>
      <p:sp>
        <p:nvSpPr>
          <p:cNvPr id="248843" name="Line 11"/>
          <p:cNvSpPr>
            <a:spLocks noChangeShapeType="1"/>
          </p:cNvSpPr>
          <p:nvPr/>
        </p:nvSpPr>
        <p:spPr bwMode="auto">
          <a:xfrm flipH="1">
            <a:off x="2771775" y="2132013"/>
            <a:ext cx="692150" cy="307975"/>
          </a:xfrm>
          <a:prstGeom prst="line">
            <a:avLst/>
          </a:prstGeom>
          <a:noFill/>
          <a:ln w="9525">
            <a:solidFill>
              <a:srgbClr val="4B1500"/>
            </a:solidFill>
            <a:round/>
            <a:headEnd/>
            <a:tailEnd type="triangle" w="med" len="med"/>
          </a:ln>
          <a:effectLst/>
        </p:spPr>
        <p:txBody>
          <a:bodyPr/>
          <a:lstStyle/>
          <a:p>
            <a:endParaRPr lang="en-US"/>
          </a:p>
        </p:txBody>
      </p:sp>
      <p:sp>
        <p:nvSpPr>
          <p:cNvPr id="248844" name="Rectangle 12"/>
          <p:cNvSpPr>
            <a:spLocks noGrp="1" noChangeArrowheads="1"/>
          </p:cNvSpPr>
          <p:nvPr>
            <p:ph type="title"/>
          </p:nvPr>
        </p:nvSpPr>
        <p:spPr>
          <a:xfrm>
            <a:off x="611188" y="260350"/>
            <a:ext cx="7772400" cy="865188"/>
          </a:xfrm>
          <a:noFill/>
          <a:ln/>
        </p:spPr>
        <p:txBody>
          <a:bodyPr/>
          <a:lstStyle/>
          <a:p>
            <a:r>
              <a:rPr lang="en-US" sz="3600"/>
              <a:t>Work Incentives: mathematical example</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fld id="{75FA0AE6-25AF-4A80-A219-AD16E59C32FA}" type="slidenum">
              <a:rPr lang="en-GB"/>
              <a:pPr/>
              <a:t>44</a:t>
            </a:fld>
            <a:endParaRPr lang="en-GB"/>
          </a:p>
        </p:txBody>
      </p:sp>
      <p:sp>
        <p:nvSpPr>
          <p:cNvPr id="244738" name="Rectangle 2"/>
          <p:cNvSpPr>
            <a:spLocks noGrp="1" noChangeArrowheads="1"/>
          </p:cNvSpPr>
          <p:nvPr>
            <p:ph type="title"/>
          </p:nvPr>
        </p:nvSpPr>
        <p:spPr>
          <a:xfrm>
            <a:off x="611188" y="260350"/>
            <a:ext cx="7772400" cy="865188"/>
          </a:xfrm>
        </p:spPr>
        <p:txBody>
          <a:bodyPr/>
          <a:lstStyle/>
          <a:p>
            <a:r>
              <a:rPr lang="en-US" sz="3600"/>
              <a:t>Work Incentives: mathematical example</a:t>
            </a:r>
          </a:p>
        </p:txBody>
      </p:sp>
      <p:sp>
        <p:nvSpPr>
          <p:cNvPr id="244739" name="Rectangle 3"/>
          <p:cNvSpPr>
            <a:spLocks noGrp="1" noChangeArrowheads="1"/>
          </p:cNvSpPr>
          <p:nvPr>
            <p:ph type="body" sz="half" idx="1"/>
          </p:nvPr>
        </p:nvSpPr>
        <p:spPr>
          <a:xfrm>
            <a:off x="684213" y="1268413"/>
            <a:ext cx="8134350" cy="4899025"/>
          </a:xfrm>
        </p:spPr>
        <p:txBody>
          <a:bodyPr/>
          <a:lstStyle/>
          <a:p>
            <a:pPr marL="609600" indent="-609600">
              <a:buFontTx/>
              <a:buNone/>
            </a:pPr>
            <a:r>
              <a:rPr lang="en-US" sz="2400"/>
              <a:t>To find optimal L and Y:</a:t>
            </a:r>
          </a:p>
          <a:p>
            <a:pPr marL="609600" indent="-609600" algn="ctr">
              <a:buFontTx/>
              <a:buNone/>
            </a:pPr>
            <a:r>
              <a:rPr lang="en-US" sz="2400" b="1"/>
              <a:t>Max U to L and Y, subject to budget constraint</a:t>
            </a:r>
          </a:p>
          <a:p>
            <a:pPr marL="609600" indent="-609600">
              <a:buFontTx/>
              <a:buNone/>
            </a:pPr>
            <a:endParaRPr lang="en-US" sz="2400"/>
          </a:p>
          <a:p>
            <a:pPr marL="609600" indent="-609600">
              <a:buFontTx/>
              <a:buNone/>
            </a:pPr>
            <a:r>
              <a:rPr lang="en-US" sz="2400"/>
              <a:t>Two methods</a:t>
            </a:r>
          </a:p>
          <a:p>
            <a:pPr marL="609600" indent="-609600">
              <a:buFontTx/>
              <a:buAutoNum type="arabicPeriod"/>
            </a:pPr>
            <a:r>
              <a:rPr lang="en-US" sz="2400"/>
              <a:t>Substitute budget constraint into U, optimize to L.</a:t>
            </a:r>
          </a:p>
          <a:p>
            <a:pPr marL="609600" indent="-609600">
              <a:buFontTx/>
              <a:buAutoNum type="arabicPeriod"/>
            </a:pPr>
            <a:r>
              <a:rPr lang="en-US" sz="2400"/>
              <a:t>Use Lagrange </a:t>
            </a:r>
          </a:p>
          <a:p>
            <a:pPr marL="609600" indent="-609600"/>
            <a:endParaRPr 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473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473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47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7"/>
          <p:cNvSpPr>
            <a:spLocks noGrp="1"/>
          </p:cNvSpPr>
          <p:nvPr>
            <p:ph type="sldNum" sz="quarter" idx="12"/>
          </p:nvPr>
        </p:nvSpPr>
        <p:spPr/>
        <p:txBody>
          <a:bodyPr/>
          <a:lstStyle/>
          <a:p>
            <a:fld id="{7BE92C26-0499-493E-872D-716315EE7E9A}" type="slidenum">
              <a:rPr lang="en-GB"/>
              <a:pPr/>
              <a:t>45</a:t>
            </a:fld>
            <a:endParaRPr lang="en-GB"/>
          </a:p>
        </p:txBody>
      </p:sp>
      <p:sp>
        <p:nvSpPr>
          <p:cNvPr id="246786" name="Rectangle 2"/>
          <p:cNvSpPr>
            <a:spLocks noGrp="1" noChangeArrowheads="1"/>
          </p:cNvSpPr>
          <p:nvPr>
            <p:ph type="title"/>
          </p:nvPr>
        </p:nvSpPr>
        <p:spPr>
          <a:xfrm>
            <a:off x="611188" y="188913"/>
            <a:ext cx="7772400" cy="863600"/>
          </a:xfrm>
        </p:spPr>
        <p:txBody>
          <a:bodyPr/>
          <a:lstStyle/>
          <a:p>
            <a:r>
              <a:rPr lang="en-US" sz="3600"/>
              <a:t>Work Incentives: mathematical example</a:t>
            </a:r>
          </a:p>
        </p:txBody>
      </p:sp>
      <p:sp>
        <p:nvSpPr>
          <p:cNvPr id="246787" name="Rectangle 3"/>
          <p:cNvSpPr>
            <a:spLocks noGrp="1" noChangeArrowheads="1"/>
          </p:cNvSpPr>
          <p:nvPr>
            <p:ph type="body" sz="half" idx="1"/>
          </p:nvPr>
        </p:nvSpPr>
        <p:spPr>
          <a:xfrm>
            <a:off x="685800" y="1268413"/>
            <a:ext cx="7631113" cy="4827587"/>
          </a:xfrm>
        </p:spPr>
        <p:txBody>
          <a:bodyPr/>
          <a:lstStyle/>
          <a:p>
            <a:pPr marL="609600" indent="-609600">
              <a:lnSpc>
                <a:spcPct val="90000"/>
              </a:lnSpc>
              <a:buFontTx/>
              <a:buNone/>
            </a:pPr>
            <a:r>
              <a:rPr lang="en-US" sz="2400"/>
              <a:t>Lagrange equation: </a:t>
            </a:r>
          </a:p>
          <a:p>
            <a:pPr marL="609600" indent="-609600">
              <a:lnSpc>
                <a:spcPct val="90000"/>
              </a:lnSpc>
              <a:buFontTx/>
              <a:buNone/>
            </a:pPr>
            <a:endParaRPr lang="en-US" sz="2400"/>
          </a:p>
          <a:p>
            <a:pPr marL="609600" indent="-609600">
              <a:lnSpc>
                <a:spcPct val="90000"/>
              </a:lnSpc>
              <a:buFontTx/>
              <a:buNone/>
            </a:pPr>
            <a:endParaRPr lang="en-US" sz="1600"/>
          </a:p>
          <a:p>
            <a:pPr marL="609600" indent="-609600">
              <a:lnSpc>
                <a:spcPct val="90000"/>
              </a:lnSpc>
              <a:buFontTx/>
              <a:buNone/>
            </a:pPr>
            <a:r>
              <a:rPr lang="en-US" sz="2400"/>
              <a:t>Maximise to Y, L, and </a:t>
            </a:r>
            <a:r>
              <a:rPr lang="en-US" sz="2400">
                <a:sym typeface="Symbol" pitchFamily="18" charset="2"/>
              </a:rPr>
              <a:t>:</a:t>
            </a:r>
          </a:p>
          <a:p>
            <a:pPr marL="609600" indent="-609600">
              <a:lnSpc>
                <a:spcPct val="90000"/>
              </a:lnSpc>
              <a:buFontTx/>
              <a:buNone/>
            </a:pPr>
            <a:endParaRPr lang="en-US" sz="2400">
              <a:sym typeface="Symbol" pitchFamily="18" charset="2"/>
            </a:endParaRPr>
          </a:p>
          <a:p>
            <a:pPr marL="609600" indent="-609600">
              <a:lnSpc>
                <a:spcPct val="90000"/>
              </a:lnSpc>
              <a:buFontTx/>
              <a:buNone/>
            </a:pPr>
            <a:endParaRPr lang="en-US" sz="2400"/>
          </a:p>
          <a:p>
            <a:pPr marL="609600" indent="-609600">
              <a:lnSpc>
                <a:spcPct val="90000"/>
              </a:lnSpc>
              <a:buFontTx/>
              <a:buNone/>
            </a:pPr>
            <a:endParaRPr lang="en-US" sz="2400"/>
          </a:p>
          <a:p>
            <a:pPr marL="609600" indent="-609600">
              <a:lnSpc>
                <a:spcPct val="90000"/>
              </a:lnSpc>
              <a:buFontTx/>
              <a:buNone/>
            </a:pPr>
            <a:endParaRPr lang="en-US" sz="2400"/>
          </a:p>
          <a:p>
            <a:pPr marL="609600" indent="-609600">
              <a:lnSpc>
                <a:spcPct val="90000"/>
              </a:lnSpc>
              <a:buFontTx/>
              <a:buNone/>
            </a:pPr>
            <a:endParaRPr lang="en-US" sz="2400"/>
          </a:p>
          <a:p>
            <a:pPr marL="609600" indent="-609600">
              <a:lnSpc>
                <a:spcPct val="90000"/>
              </a:lnSpc>
              <a:buFontTx/>
              <a:buNone/>
            </a:pPr>
            <a:endParaRPr lang="en-US" sz="2000"/>
          </a:p>
          <a:p>
            <a:pPr marL="609600" indent="-609600">
              <a:lnSpc>
                <a:spcPct val="90000"/>
              </a:lnSpc>
              <a:buFontTx/>
              <a:buNone/>
            </a:pPr>
            <a:r>
              <a:rPr lang="en-US" sz="2400"/>
              <a:t>Combining first two gives: 9000 = 15L </a:t>
            </a:r>
            <a:r>
              <a:rPr lang="en-US" sz="2400">
                <a:sym typeface="Wingdings" pitchFamily="2" charset="2"/>
              </a:rPr>
              <a:t> L = 600</a:t>
            </a:r>
            <a:endParaRPr lang="en-US" sz="2400"/>
          </a:p>
          <a:p>
            <a:pPr marL="609600" indent="-609600">
              <a:lnSpc>
                <a:spcPct val="90000"/>
              </a:lnSpc>
              <a:buFontTx/>
              <a:buNone/>
            </a:pPr>
            <a:r>
              <a:rPr lang="en-US" sz="2400"/>
              <a:t>Substitute L = 600 into third gives Y = 1800</a:t>
            </a:r>
            <a:endParaRPr lang="en-US" sz="1600"/>
          </a:p>
        </p:txBody>
      </p:sp>
      <p:graphicFrame>
        <p:nvGraphicFramePr>
          <p:cNvPr id="246788" name="Object 4"/>
          <p:cNvGraphicFramePr>
            <a:graphicFrameLocks noGrp="1" noChangeAspect="1"/>
          </p:cNvGraphicFramePr>
          <p:nvPr>
            <p:ph sz="quarter" idx="2"/>
          </p:nvPr>
        </p:nvGraphicFramePr>
        <p:xfrm>
          <a:off x="1403350" y="1773238"/>
          <a:ext cx="5786438" cy="485775"/>
        </p:xfrm>
        <a:graphic>
          <a:graphicData uri="http://schemas.openxmlformats.org/presentationml/2006/ole">
            <mc:AlternateContent xmlns:mc="http://schemas.openxmlformats.org/markup-compatibility/2006">
              <mc:Choice xmlns:v="urn:schemas-microsoft-com:vml" Requires="v">
                <p:oleObj name="Equation" r:id="rId2" imgW="2425680" imgH="203040" progId="Equation.3">
                  <p:embed/>
                </p:oleObj>
              </mc:Choice>
              <mc:Fallback>
                <p:oleObj name="Equation" r:id="rId2" imgW="2425680" imgH="203040" progId="Equation.3">
                  <p:embed/>
                  <p:pic>
                    <p:nvPicPr>
                      <p:cNvPr id="24678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773238"/>
                        <a:ext cx="5786438"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6790" name="Object 6"/>
          <p:cNvGraphicFramePr>
            <a:graphicFrameLocks noGrp="1" noChangeAspect="1"/>
          </p:cNvGraphicFramePr>
          <p:nvPr>
            <p:ph sz="quarter" idx="3"/>
          </p:nvPr>
        </p:nvGraphicFramePr>
        <p:xfrm>
          <a:off x="4211638" y="2349500"/>
          <a:ext cx="3744912" cy="2705100"/>
        </p:xfrm>
        <a:graphic>
          <a:graphicData uri="http://schemas.openxmlformats.org/presentationml/2006/ole">
            <mc:AlternateContent xmlns:mc="http://schemas.openxmlformats.org/markup-compatibility/2006">
              <mc:Choice xmlns:v="urn:schemas-microsoft-com:vml" Requires="v">
                <p:oleObj name="Equation" r:id="rId4" imgW="1574640" imgH="1206360" progId="Equation.3">
                  <p:embed/>
                </p:oleObj>
              </mc:Choice>
              <mc:Fallback>
                <p:oleObj name="Equation" r:id="rId4" imgW="1574640" imgH="1206360" progId="Equation.3">
                  <p:embed/>
                  <p:pic>
                    <p:nvPicPr>
                      <p:cNvPr id="24679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1638" y="2349500"/>
                        <a:ext cx="3744912" cy="2705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6787">
                                            <p:txEl>
                                              <p:pRg st="3" end="3"/>
                                            </p:txEl>
                                          </p:spTgt>
                                        </p:tgtEl>
                                        <p:attrNameLst>
                                          <p:attrName>style.visibility</p:attrName>
                                        </p:attrNameLst>
                                      </p:cBhvr>
                                      <p:to>
                                        <p:strVal val="visible"/>
                                      </p:to>
                                    </p:set>
                                    <p:animEffect transition="in" filter="blinds(horizontal)">
                                      <p:cBhvr>
                                        <p:cTn id="7" dur="500"/>
                                        <p:tgtEl>
                                          <p:spTgt spid="246787">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4679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46787">
                                            <p:txEl>
                                              <p:pRg st="10" end="10"/>
                                            </p:txEl>
                                          </p:spTgt>
                                        </p:tgtEl>
                                        <p:attrNameLst>
                                          <p:attrName>style.visibility</p:attrName>
                                        </p:attrNameLst>
                                      </p:cBhvr>
                                      <p:to>
                                        <p:strVal val="visible"/>
                                      </p:to>
                                    </p:set>
                                    <p:animEffect transition="in" filter="wipe(left)">
                                      <p:cBhvr>
                                        <p:cTn id="16" dur="2000"/>
                                        <p:tgtEl>
                                          <p:spTgt spid="246787">
                                            <p:txEl>
                                              <p:pRg st="10" end="1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46787">
                                            <p:txEl>
                                              <p:pRg st="11" end="11"/>
                                            </p:txEl>
                                          </p:spTgt>
                                        </p:tgtEl>
                                        <p:attrNameLst>
                                          <p:attrName>style.visibility</p:attrName>
                                        </p:attrNameLst>
                                      </p:cBhvr>
                                      <p:to>
                                        <p:strVal val="visible"/>
                                      </p:to>
                                    </p:set>
                                    <p:animEffect transition="in" filter="wipe(left)">
                                      <p:cBhvr>
                                        <p:cTn id="21" dur="2000"/>
                                        <p:tgtEl>
                                          <p:spTgt spid="24678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4"/>
          <p:cNvSpPr>
            <a:spLocks noGrp="1"/>
          </p:cNvSpPr>
          <p:nvPr>
            <p:ph type="sldNum" sz="quarter" idx="12"/>
          </p:nvPr>
        </p:nvSpPr>
        <p:spPr/>
        <p:txBody>
          <a:bodyPr/>
          <a:lstStyle/>
          <a:p>
            <a:fld id="{2C895CD4-2083-45F7-84CF-FB538B10A6CA}" type="slidenum">
              <a:rPr lang="en-GB"/>
              <a:pPr/>
              <a:t>46</a:t>
            </a:fld>
            <a:endParaRPr lang="en-GB"/>
          </a:p>
        </p:txBody>
      </p:sp>
      <p:sp>
        <p:nvSpPr>
          <p:cNvPr id="242690" name="Line 2"/>
          <p:cNvSpPr>
            <a:spLocks noChangeShapeType="1"/>
          </p:cNvSpPr>
          <p:nvPr/>
        </p:nvSpPr>
        <p:spPr bwMode="auto">
          <a:xfrm>
            <a:off x="1908175" y="1196975"/>
            <a:ext cx="0" cy="4416425"/>
          </a:xfrm>
          <a:prstGeom prst="line">
            <a:avLst/>
          </a:prstGeom>
          <a:noFill/>
          <a:ln w="9525">
            <a:solidFill>
              <a:srgbClr val="4B1500"/>
            </a:solidFill>
            <a:round/>
            <a:headEnd type="triangle" w="med" len="med"/>
            <a:tailEnd/>
          </a:ln>
          <a:effectLst/>
        </p:spPr>
        <p:txBody>
          <a:bodyPr/>
          <a:lstStyle/>
          <a:p>
            <a:endParaRPr lang="en-US"/>
          </a:p>
        </p:txBody>
      </p:sp>
      <p:sp>
        <p:nvSpPr>
          <p:cNvPr id="242691" name="Line 3"/>
          <p:cNvSpPr>
            <a:spLocks noChangeShapeType="1"/>
          </p:cNvSpPr>
          <p:nvPr/>
        </p:nvSpPr>
        <p:spPr bwMode="auto">
          <a:xfrm>
            <a:off x="1906588" y="5588000"/>
            <a:ext cx="6413500" cy="0"/>
          </a:xfrm>
          <a:prstGeom prst="line">
            <a:avLst/>
          </a:prstGeom>
          <a:noFill/>
          <a:ln w="9525">
            <a:solidFill>
              <a:srgbClr val="4B1500"/>
            </a:solidFill>
            <a:round/>
            <a:headEnd/>
            <a:tailEnd type="triangle" w="med" len="med"/>
          </a:ln>
          <a:effectLst/>
        </p:spPr>
        <p:txBody>
          <a:bodyPr/>
          <a:lstStyle/>
          <a:p>
            <a:endParaRPr lang="en-US"/>
          </a:p>
        </p:txBody>
      </p:sp>
      <p:sp>
        <p:nvSpPr>
          <p:cNvPr id="242692" name="Text Box 4"/>
          <p:cNvSpPr txBox="1">
            <a:spLocks noChangeArrowheads="1"/>
          </p:cNvSpPr>
          <p:nvPr/>
        </p:nvSpPr>
        <p:spPr bwMode="auto">
          <a:xfrm>
            <a:off x="6732588" y="5734050"/>
            <a:ext cx="184785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leisure / month</a:t>
            </a:r>
          </a:p>
        </p:txBody>
      </p:sp>
      <p:sp>
        <p:nvSpPr>
          <p:cNvPr id="242693" name="Text Box 5"/>
          <p:cNvSpPr txBox="1">
            <a:spLocks noChangeArrowheads="1"/>
          </p:cNvSpPr>
          <p:nvPr/>
        </p:nvSpPr>
        <p:spPr bwMode="auto">
          <a:xfrm rot="16200000">
            <a:off x="-375444" y="2470944"/>
            <a:ext cx="2227263"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Income per month</a:t>
            </a:r>
          </a:p>
        </p:txBody>
      </p:sp>
      <p:sp>
        <p:nvSpPr>
          <p:cNvPr id="242694" name="Text Box 6"/>
          <p:cNvSpPr txBox="1">
            <a:spLocks noChangeArrowheads="1"/>
          </p:cNvSpPr>
          <p:nvPr/>
        </p:nvSpPr>
        <p:spPr bwMode="auto">
          <a:xfrm>
            <a:off x="1547813" y="5634038"/>
            <a:ext cx="325437"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0</a:t>
            </a:r>
          </a:p>
        </p:txBody>
      </p:sp>
      <p:sp>
        <p:nvSpPr>
          <p:cNvPr id="242695" name="Text Box 7"/>
          <p:cNvSpPr txBox="1">
            <a:spLocks noChangeArrowheads="1"/>
          </p:cNvSpPr>
          <p:nvPr/>
        </p:nvSpPr>
        <p:spPr bwMode="auto">
          <a:xfrm>
            <a:off x="5795963" y="5634038"/>
            <a:ext cx="608012"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720</a:t>
            </a:r>
          </a:p>
        </p:txBody>
      </p:sp>
      <p:sp>
        <p:nvSpPr>
          <p:cNvPr id="242696" name="Line 8"/>
          <p:cNvSpPr>
            <a:spLocks noChangeShapeType="1"/>
          </p:cNvSpPr>
          <p:nvPr/>
        </p:nvSpPr>
        <p:spPr bwMode="auto">
          <a:xfrm flipH="1" flipV="1">
            <a:off x="1908175" y="1628775"/>
            <a:ext cx="4032250" cy="3954463"/>
          </a:xfrm>
          <a:prstGeom prst="line">
            <a:avLst/>
          </a:prstGeom>
          <a:noFill/>
          <a:ln w="9525">
            <a:solidFill>
              <a:srgbClr val="4B1500"/>
            </a:solidFill>
            <a:round/>
            <a:headEnd/>
            <a:tailEnd/>
          </a:ln>
          <a:effectLst/>
        </p:spPr>
        <p:txBody>
          <a:bodyPr/>
          <a:lstStyle/>
          <a:p>
            <a:endParaRPr lang="en-US"/>
          </a:p>
        </p:txBody>
      </p:sp>
      <p:sp>
        <p:nvSpPr>
          <p:cNvPr id="242697" name="Text Box 9"/>
          <p:cNvSpPr txBox="1">
            <a:spLocks noChangeArrowheads="1"/>
          </p:cNvSpPr>
          <p:nvPr/>
        </p:nvSpPr>
        <p:spPr bwMode="auto">
          <a:xfrm>
            <a:off x="971550" y="1411288"/>
            <a:ext cx="890588"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10800</a:t>
            </a:r>
          </a:p>
        </p:txBody>
      </p:sp>
      <p:sp>
        <p:nvSpPr>
          <p:cNvPr id="242698" name="Text Box 10"/>
          <p:cNvSpPr txBox="1">
            <a:spLocks noChangeArrowheads="1"/>
          </p:cNvSpPr>
          <p:nvPr/>
        </p:nvSpPr>
        <p:spPr bwMode="auto">
          <a:xfrm>
            <a:off x="2843213" y="1771650"/>
            <a:ext cx="1655762" cy="396875"/>
          </a:xfrm>
          <a:prstGeom prst="rect">
            <a:avLst/>
          </a:prstGeom>
          <a:noFill/>
          <a:ln w="9525">
            <a:noFill/>
            <a:miter lim="800000"/>
            <a:headEnd/>
            <a:tailEnd/>
          </a:ln>
          <a:effectLst/>
        </p:spPr>
        <p:txBody>
          <a:bodyPr>
            <a:spAutoFit/>
          </a:bodyPr>
          <a:lstStyle/>
          <a:p>
            <a:pPr>
              <a:spcBef>
                <a:spcPct val="50000"/>
              </a:spcBef>
              <a:buFontTx/>
              <a:buNone/>
            </a:pPr>
            <a:r>
              <a:rPr lang="en-US">
                <a:solidFill>
                  <a:schemeClr val="tx2"/>
                </a:solidFill>
                <a:latin typeface="Arial" charset="0"/>
                <a:cs typeface="Arial" charset="0"/>
              </a:rPr>
              <a:t>|Slope| = 15</a:t>
            </a:r>
          </a:p>
        </p:txBody>
      </p:sp>
      <p:sp>
        <p:nvSpPr>
          <p:cNvPr id="242699" name="Line 11"/>
          <p:cNvSpPr>
            <a:spLocks noChangeShapeType="1"/>
          </p:cNvSpPr>
          <p:nvPr/>
        </p:nvSpPr>
        <p:spPr bwMode="auto">
          <a:xfrm flipH="1">
            <a:off x="2771775" y="2132013"/>
            <a:ext cx="692150" cy="307975"/>
          </a:xfrm>
          <a:prstGeom prst="line">
            <a:avLst/>
          </a:prstGeom>
          <a:noFill/>
          <a:ln w="9525">
            <a:solidFill>
              <a:srgbClr val="4B1500"/>
            </a:solidFill>
            <a:round/>
            <a:headEnd/>
            <a:tailEnd type="triangle" w="med" len="med"/>
          </a:ln>
          <a:effectLst/>
        </p:spPr>
        <p:txBody>
          <a:bodyPr/>
          <a:lstStyle/>
          <a:p>
            <a:endParaRPr lang="en-US"/>
          </a:p>
        </p:txBody>
      </p:sp>
      <p:sp>
        <p:nvSpPr>
          <p:cNvPr id="242717" name="Rectangle 29"/>
          <p:cNvSpPr>
            <a:spLocks noGrp="1" noChangeArrowheads="1"/>
          </p:cNvSpPr>
          <p:nvPr>
            <p:ph type="title"/>
          </p:nvPr>
        </p:nvSpPr>
        <p:spPr>
          <a:xfrm>
            <a:off x="611188" y="260350"/>
            <a:ext cx="7772400" cy="865188"/>
          </a:xfrm>
          <a:noFill/>
          <a:ln/>
        </p:spPr>
        <p:txBody>
          <a:bodyPr/>
          <a:lstStyle/>
          <a:p>
            <a:r>
              <a:rPr lang="en-US" sz="3600"/>
              <a:t>Work Incentives: mathematical example</a:t>
            </a:r>
          </a:p>
        </p:txBody>
      </p:sp>
      <p:sp>
        <p:nvSpPr>
          <p:cNvPr id="242718" name="Arc 30"/>
          <p:cNvSpPr>
            <a:spLocks/>
          </p:cNvSpPr>
          <p:nvPr/>
        </p:nvSpPr>
        <p:spPr bwMode="auto">
          <a:xfrm rot="9933366">
            <a:off x="4427538" y="3068638"/>
            <a:ext cx="1766887" cy="21510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p:spPr>
        <p:txBody>
          <a:bodyPr rot="10800000" wrap="none" anchor="ctr"/>
          <a:lstStyle/>
          <a:p>
            <a:pPr algn="ctr">
              <a:spcBef>
                <a:spcPct val="0"/>
              </a:spcBef>
              <a:buFontTx/>
              <a:buNone/>
            </a:pPr>
            <a:endParaRPr lang="en-US">
              <a:latin typeface="Arial" charset="0"/>
            </a:endParaRPr>
          </a:p>
        </p:txBody>
      </p:sp>
      <p:sp>
        <p:nvSpPr>
          <p:cNvPr id="242719" name="Text Box 31"/>
          <p:cNvSpPr txBox="1">
            <a:spLocks noChangeArrowheads="1"/>
          </p:cNvSpPr>
          <p:nvPr/>
        </p:nvSpPr>
        <p:spPr bwMode="auto">
          <a:xfrm>
            <a:off x="4427538" y="5661025"/>
            <a:ext cx="608012"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600</a:t>
            </a:r>
          </a:p>
        </p:txBody>
      </p:sp>
      <p:sp>
        <p:nvSpPr>
          <p:cNvPr id="242720" name="Line 32"/>
          <p:cNvSpPr>
            <a:spLocks noChangeShapeType="1"/>
          </p:cNvSpPr>
          <p:nvPr/>
        </p:nvSpPr>
        <p:spPr bwMode="auto">
          <a:xfrm>
            <a:off x="4787900" y="4508500"/>
            <a:ext cx="0" cy="1081088"/>
          </a:xfrm>
          <a:prstGeom prst="line">
            <a:avLst/>
          </a:prstGeom>
          <a:noFill/>
          <a:ln w="9525">
            <a:solidFill>
              <a:schemeClr val="tx1"/>
            </a:solidFill>
            <a:prstDash val="dash"/>
            <a:round/>
            <a:headEnd/>
            <a:tailEnd/>
          </a:ln>
          <a:effectLst/>
        </p:spPr>
        <p:txBody>
          <a:bodyPr/>
          <a:lstStyle/>
          <a:p>
            <a:endParaRPr lang="en-US"/>
          </a:p>
        </p:txBody>
      </p:sp>
      <p:sp>
        <p:nvSpPr>
          <p:cNvPr id="242721" name="Line 33"/>
          <p:cNvSpPr>
            <a:spLocks noChangeShapeType="1"/>
          </p:cNvSpPr>
          <p:nvPr/>
        </p:nvSpPr>
        <p:spPr bwMode="auto">
          <a:xfrm flipH="1">
            <a:off x="1908175" y="4508500"/>
            <a:ext cx="2879725" cy="0"/>
          </a:xfrm>
          <a:prstGeom prst="line">
            <a:avLst/>
          </a:prstGeom>
          <a:noFill/>
          <a:ln w="19050">
            <a:solidFill>
              <a:schemeClr val="tx1"/>
            </a:solidFill>
            <a:prstDash val="dash"/>
            <a:round/>
            <a:headEnd/>
            <a:tailEnd/>
          </a:ln>
          <a:effectLst/>
        </p:spPr>
        <p:txBody>
          <a:bodyPr/>
          <a:lstStyle/>
          <a:p>
            <a:endParaRPr lang="en-US"/>
          </a:p>
        </p:txBody>
      </p:sp>
      <p:sp>
        <p:nvSpPr>
          <p:cNvPr id="242722" name="Text Box 34"/>
          <p:cNvSpPr txBox="1">
            <a:spLocks noChangeArrowheads="1"/>
          </p:cNvSpPr>
          <p:nvPr/>
        </p:nvSpPr>
        <p:spPr bwMode="auto">
          <a:xfrm>
            <a:off x="900113" y="4292600"/>
            <a:ext cx="74930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1800</a:t>
            </a:r>
          </a:p>
        </p:txBody>
      </p:sp>
      <p:sp>
        <p:nvSpPr>
          <p:cNvPr id="242723" name="AutoShape 35"/>
          <p:cNvSpPr>
            <a:spLocks/>
          </p:cNvSpPr>
          <p:nvPr/>
        </p:nvSpPr>
        <p:spPr bwMode="auto">
          <a:xfrm rot="16200000">
            <a:off x="3167857" y="4833144"/>
            <a:ext cx="287337" cy="2663825"/>
          </a:xfrm>
          <a:prstGeom prst="leftBrace">
            <a:avLst>
              <a:gd name="adj1" fmla="val 77256"/>
              <a:gd name="adj2" fmla="val 50000"/>
            </a:avLst>
          </a:prstGeom>
          <a:noFill/>
          <a:ln w="38100">
            <a:solidFill>
              <a:schemeClr val="tx1"/>
            </a:solidFill>
            <a:round/>
            <a:headEnd/>
            <a:tailEnd/>
          </a:ln>
          <a:effectLst/>
        </p:spPr>
        <p:txBody>
          <a:bodyPr wrap="none" anchor="ctr"/>
          <a:lstStyle/>
          <a:p>
            <a:endParaRPr lang="en-US"/>
          </a:p>
        </p:txBody>
      </p:sp>
      <p:sp>
        <p:nvSpPr>
          <p:cNvPr id="242724" name="Text Box 36"/>
          <p:cNvSpPr txBox="1">
            <a:spLocks noChangeArrowheads="1"/>
          </p:cNvSpPr>
          <p:nvPr/>
        </p:nvSpPr>
        <p:spPr bwMode="auto">
          <a:xfrm>
            <a:off x="2700338" y="6308725"/>
            <a:ext cx="1152525" cy="396875"/>
          </a:xfrm>
          <a:prstGeom prst="rect">
            <a:avLst/>
          </a:prstGeom>
          <a:noFill/>
          <a:ln w="9525" algn="ctr">
            <a:noFill/>
            <a:miter lim="800000"/>
            <a:headEnd/>
            <a:tailEnd/>
          </a:ln>
          <a:effectLst/>
        </p:spPr>
        <p:txBody>
          <a:bodyPr>
            <a:spAutoFit/>
          </a:bodyPr>
          <a:lstStyle/>
          <a:p>
            <a:pPr marL="363538" indent="-363538">
              <a:spcBef>
                <a:spcPct val="50000"/>
              </a:spcBef>
              <a:buFontTx/>
              <a:buNone/>
            </a:pPr>
            <a:r>
              <a:rPr lang="en-US"/>
              <a:t>Leisure</a:t>
            </a:r>
          </a:p>
        </p:txBody>
      </p:sp>
      <p:sp>
        <p:nvSpPr>
          <p:cNvPr id="242725" name="AutoShape 37"/>
          <p:cNvSpPr>
            <a:spLocks/>
          </p:cNvSpPr>
          <p:nvPr/>
        </p:nvSpPr>
        <p:spPr bwMode="auto">
          <a:xfrm rot="16200000">
            <a:off x="5257006" y="5550694"/>
            <a:ext cx="358775" cy="1296988"/>
          </a:xfrm>
          <a:prstGeom prst="leftBrace">
            <a:avLst>
              <a:gd name="adj1" fmla="val 30125"/>
              <a:gd name="adj2" fmla="val 50000"/>
            </a:avLst>
          </a:prstGeom>
          <a:noFill/>
          <a:ln w="38100">
            <a:solidFill>
              <a:schemeClr val="tx1"/>
            </a:solidFill>
            <a:round/>
            <a:headEnd/>
            <a:tailEnd/>
          </a:ln>
          <a:effectLst/>
        </p:spPr>
        <p:txBody>
          <a:bodyPr wrap="none" anchor="ctr"/>
          <a:lstStyle/>
          <a:p>
            <a:endParaRPr lang="en-US"/>
          </a:p>
        </p:txBody>
      </p:sp>
      <p:sp>
        <p:nvSpPr>
          <p:cNvPr id="242726" name="Text Box 38"/>
          <p:cNvSpPr txBox="1">
            <a:spLocks noChangeArrowheads="1"/>
          </p:cNvSpPr>
          <p:nvPr/>
        </p:nvSpPr>
        <p:spPr bwMode="auto">
          <a:xfrm>
            <a:off x="5003800" y="6308725"/>
            <a:ext cx="1152525" cy="396875"/>
          </a:xfrm>
          <a:prstGeom prst="rect">
            <a:avLst/>
          </a:prstGeom>
          <a:noFill/>
          <a:ln w="9525" algn="ctr">
            <a:noFill/>
            <a:miter lim="800000"/>
            <a:headEnd/>
            <a:tailEnd/>
          </a:ln>
          <a:effectLst/>
        </p:spPr>
        <p:txBody>
          <a:bodyPr>
            <a:spAutoFit/>
          </a:bodyPr>
          <a:lstStyle/>
          <a:p>
            <a:pPr marL="363538" indent="-363538">
              <a:spcBef>
                <a:spcPct val="50000"/>
              </a:spcBef>
              <a:buFontTx/>
              <a:buNone/>
            </a:pPr>
            <a:r>
              <a:rPr lang="en-US"/>
              <a:t>Work</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2718"/>
                                        </p:tgtEl>
                                        <p:attrNameLst>
                                          <p:attrName>style.visibility</p:attrName>
                                        </p:attrNameLst>
                                      </p:cBhvr>
                                      <p:to>
                                        <p:strVal val="visible"/>
                                      </p:to>
                                    </p:set>
                                    <p:animEffect transition="in" filter="wipe(left)">
                                      <p:cBhvr>
                                        <p:cTn id="7" dur="2000"/>
                                        <p:tgtEl>
                                          <p:spTgt spid="2427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242721"/>
                                        </p:tgtEl>
                                        <p:attrNameLst>
                                          <p:attrName>style.visibility</p:attrName>
                                        </p:attrNameLst>
                                      </p:cBhvr>
                                      <p:to>
                                        <p:strVal val="visible"/>
                                      </p:to>
                                    </p:set>
                                    <p:animEffect transition="in" filter="wipe(right)">
                                      <p:cBhvr>
                                        <p:cTn id="12" dur="500"/>
                                        <p:tgtEl>
                                          <p:spTgt spid="242721"/>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242720"/>
                                        </p:tgtEl>
                                        <p:attrNameLst>
                                          <p:attrName>style.visibility</p:attrName>
                                        </p:attrNameLst>
                                      </p:cBhvr>
                                      <p:to>
                                        <p:strVal val="visible"/>
                                      </p:to>
                                    </p:set>
                                    <p:animEffect transition="in" filter="wipe(up)">
                                      <p:cBhvr>
                                        <p:cTn id="15" dur="500"/>
                                        <p:tgtEl>
                                          <p:spTgt spid="242720"/>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2427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27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27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27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27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27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718" grpId="0" animBg="1"/>
      <p:bldP spid="242719" grpId="0"/>
      <p:bldP spid="242720" grpId="0" animBg="1"/>
      <p:bldP spid="242721" grpId="0" animBg="1"/>
      <p:bldP spid="242722" grpId="0"/>
      <p:bldP spid="242723" grpId="0" animBg="1"/>
      <p:bldP spid="242724" grpId="0"/>
      <p:bldP spid="242725" grpId="0" animBg="1"/>
      <p:bldP spid="24272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fld id="{CEC1A798-FDEE-42DD-A875-D18D420962EA}" type="slidenum">
              <a:rPr lang="en-GB"/>
              <a:pPr/>
              <a:t>47</a:t>
            </a:fld>
            <a:endParaRPr lang="en-GB"/>
          </a:p>
        </p:txBody>
      </p:sp>
      <p:sp>
        <p:nvSpPr>
          <p:cNvPr id="250882" name="Rectangle 2"/>
          <p:cNvSpPr>
            <a:spLocks noGrp="1" noChangeArrowheads="1"/>
          </p:cNvSpPr>
          <p:nvPr>
            <p:ph type="title"/>
          </p:nvPr>
        </p:nvSpPr>
        <p:spPr>
          <a:xfrm>
            <a:off x="611188" y="260350"/>
            <a:ext cx="7772400" cy="865188"/>
          </a:xfrm>
        </p:spPr>
        <p:txBody>
          <a:bodyPr/>
          <a:lstStyle/>
          <a:p>
            <a:r>
              <a:rPr lang="en-US" sz="3600"/>
              <a:t>Work Incentives: mathematical example</a:t>
            </a:r>
          </a:p>
        </p:txBody>
      </p:sp>
      <p:sp>
        <p:nvSpPr>
          <p:cNvPr id="250883" name="Rectangle 3"/>
          <p:cNvSpPr>
            <a:spLocks noGrp="1" noChangeArrowheads="1"/>
          </p:cNvSpPr>
          <p:nvPr>
            <p:ph type="body" sz="half" idx="1"/>
          </p:nvPr>
        </p:nvSpPr>
        <p:spPr>
          <a:xfrm>
            <a:off x="684213" y="1268413"/>
            <a:ext cx="8134350" cy="4899025"/>
          </a:xfrm>
        </p:spPr>
        <p:txBody>
          <a:bodyPr/>
          <a:lstStyle/>
          <a:p>
            <a:pPr marL="449263" indent="-449263">
              <a:buFontTx/>
              <a:buNone/>
            </a:pPr>
            <a:r>
              <a:rPr lang="en-US" sz="2400" dirty="0"/>
              <a:t>Now: benefit program.</a:t>
            </a:r>
          </a:p>
          <a:p>
            <a:pPr marL="449263" indent="-449263"/>
            <a:r>
              <a:rPr lang="en-US" sz="2400" dirty="0"/>
              <a:t>Maximum grant (in case of zero earnings) G = 450 euro.</a:t>
            </a:r>
          </a:p>
          <a:p>
            <a:pPr marL="449263" indent="-449263"/>
            <a:r>
              <a:rPr lang="en-US" sz="2400" dirty="0"/>
              <a:t>Each euro in earnings reduces benefit B by 10 cents: t = 0.1</a:t>
            </a:r>
          </a:p>
          <a:p>
            <a:pPr marL="449263" indent="-449263"/>
            <a:r>
              <a:rPr lang="en-US" sz="2400" dirty="0"/>
              <a:t>This implies B = 0 when earnings </a:t>
            </a:r>
            <a:r>
              <a:rPr lang="en-US" sz="2400" dirty="0">
                <a:cs typeface="Times New Roman" pitchFamily="18" charset="0"/>
              </a:rPr>
              <a:t>≥ 4500</a:t>
            </a:r>
          </a:p>
          <a:p>
            <a:pPr marL="449263" indent="-449263"/>
            <a:r>
              <a:rPr lang="en-US" sz="2400" dirty="0">
                <a:cs typeface="Times New Roman" pitchFamily="18" charset="0"/>
              </a:rPr>
              <a:t>For Bob, this occurs when hours worked ≥ 4500/15 = 300; or when L ≤ 720 – 300 = 420</a:t>
            </a:r>
          </a:p>
          <a:p>
            <a:pPr marL="449263" indent="-449263"/>
            <a:endParaRPr lang="en-US" sz="1600" dirty="0"/>
          </a:p>
          <a:p>
            <a:pPr marL="449263" indent="-449263">
              <a:buFontTx/>
              <a:buNone/>
            </a:pPr>
            <a:r>
              <a:rPr lang="en-US" sz="2400" dirty="0"/>
              <a:t>Bob’s new budget constraint:</a:t>
            </a:r>
          </a:p>
          <a:p>
            <a:pPr marL="449263" indent="-449263"/>
            <a:r>
              <a:rPr lang="en-US" sz="2400" dirty="0"/>
              <a:t>For </a:t>
            </a:r>
            <a:r>
              <a:rPr lang="en-US" sz="2400" dirty="0">
                <a:cs typeface="Times New Roman" pitchFamily="18" charset="0"/>
              </a:rPr>
              <a:t>L ≤ 420 equal to old: Y = 10800 – 15L</a:t>
            </a:r>
          </a:p>
          <a:p>
            <a:pPr marL="449263" indent="-449263"/>
            <a:r>
              <a:rPr lang="en-US" sz="2400" dirty="0">
                <a:cs typeface="Times New Roman" pitchFamily="18" charset="0"/>
              </a:rPr>
              <a:t>For L &gt; 420: increase in L by 1 reduces Y by (</a:t>
            </a:r>
            <a:r>
              <a:rPr lang="en-US" sz="2400" b="1" dirty="0">
                <a:cs typeface="Times New Roman" pitchFamily="18" charset="0"/>
              </a:rPr>
              <a:t>0.9</a:t>
            </a:r>
            <a:r>
              <a:rPr lang="en-US" sz="2400" dirty="0">
                <a:cs typeface="Times New Roman" pitchFamily="18" charset="0"/>
              </a:rPr>
              <a:t>)x15 = 13.5</a:t>
            </a:r>
          </a:p>
          <a:p>
            <a:pPr>
              <a:buFont typeface="Wingdings" panose="05000000000000000000" pitchFamily="2" charset="2"/>
              <a:buChar char="à"/>
            </a:pPr>
            <a:r>
              <a:rPr lang="en-US" sz="2400" dirty="0">
                <a:cs typeface="Times New Roman" pitchFamily="18" charset="0"/>
                <a:sym typeface="Wingdings" pitchFamily="2" charset="2"/>
              </a:rPr>
              <a:t>In math: Y = 450 + 13.5 (720 – L)  Y = 10170 – 13.5L</a:t>
            </a:r>
            <a:endParaRPr lang="en-US" sz="2400" dirty="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088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088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088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088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088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088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p:cNvSpPr>
            <a:spLocks noGrp="1"/>
          </p:cNvSpPr>
          <p:nvPr>
            <p:ph type="sldNum" sz="quarter" idx="12"/>
          </p:nvPr>
        </p:nvSpPr>
        <p:spPr/>
        <p:txBody>
          <a:bodyPr/>
          <a:lstStyle/>
          <a:p>
            <a:fld id="{57556297-BE2F-45A8-B3DC-003CDDC6AF89}" type="slidenum">
              <a:rPr lang="en-GB"/>
              <a:pPr/>
              <a:t>48</a:t>
            </a:fld>
            <a:endParaRPr lang="en-GB"/>
          </a:p>
        </p:txBody>
      </p:sp>
      <p:sp>
        <p:nvSpPr>
          <p:cNvPr id="251906" name="Line 2"/>
          <p:cNvSpPr>
            <a:spLocks noChangeShapeType="1"/>
          </p:cNvSpPr>
          <p:nvPr/>
        </p:nvSpPr>
        <p:spPr bwMode="auto">
          <a:xfrm>
            <a:off x="1908175" y="1196975"/>
            <a:ext cx="0" cy="4416425"/>
          </a:xfrm>
          <a:prstGeom prst="line">
            <a:avLst/>
          </a:prstGeom>
          <a:noFill/>
          <a:ln w="9525">
            <a:solidFill>
              <a:srgbClr val="4B1500"/>
            </a:solidFill>
            <a:round/>
            <a:headEnd type="triangle" w="med" len="med"/>
            <a:tailEnd/>
          </a:ln>
          <a:effectLst/>
        </p:spPr>
        <p:txBody>
          <a:bodyPr/>
          <a:lstStyle/>
          <a:p>
            <a:endParaRPr lang="en-US"/>
          </a:p>
        </p:txBody>
      </p:sp>
      <p:sp>
        <p:nvSpPr>
          <p:cNvPr id="251907" name="Line 3"/>
          <p:cNvSpPr>
            <a:spLocks noChangeShapeType="1"/>
          </p:cNvSpPr>
          <p:nvPr/>
        </p:nvSpPr>
        <p:spPr bwMode="auto">
          <a:xfrm>
            <a:off x="1906588" y="5588000"/>
            <a:ext cx="6413500" cy="0"/>
          </a:xfrm>
          <a:prstGeom prst="line">
            <a:avLst/>
          </a:prstGeom>
          <a:noFill/>
          <a:ln w="9525">
            <a:solidFill>
              <a:srgbClr val="4B1500"/>
            </a:solidFill>
            <a:round/>
            <a:headEnd/>
            <a:tailEnd type="triangle" w="med" len="med"/>
          </a:ln>
          <a:effectLst/>
        </p:spPr>
        <p:txBody>
          <a:bodyPr/>
          <a:lstStyle/>
          <a:p>
            <a:endParaRPr lang="en-US"/>
          </a:p>
        </p:txBody>
      </p:sp>
      <p:sp>
        <p:nvSpPr>
          <p:cNvPr id="251908" name="Text Box 4"/>
          <p:cNvSpPr txBox="1">
            <a:spLocks noChangeArrowheads="1"/>
          </p:cNvSpPr>
          <p:nvPr/>
        </p:nvSpPr>
        <p:spPr bwMode="auto">
          <a:xfrm>
            <a:off x="6732588" y="5734050"/>
            <a:ext cx="184785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leisure / month</a:t>
            </a:r>
          </a:p>
        </p:txBody>
      </p:sp>
      <p:sp>
        <p:nvSpPr>
          <p:cNvPr id="251909" name="Text Box 5"/>
          <p:cNvSpPr txBox="1">
            <a:spLocks noChangeArrowheads="1"/>
          </p:cNvSpPr>
          <p:nvPr/>
        </p:nvSpPr>
        <p:spPr bwMode="auto">
          <a:xfrm rot="16200000">
            <a:off x="-375444" y="2470944"/>
            <a:ext cx="2227263"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Income per month</a:t>
            </a:r>
          </a:p>
        </p:txBody>
      </p:sp>
      <p:sp>
        <p:nvSpPr>
          <p:cNvPr id="251910" name="Text Box 6"/>
          <p:cNvSpPr txBox="1">
            <a:spLocks noChangeArrowheads="1"/>
          </p:cNvSpPr>
          <p:nvPr/>
        </p:nvSpPr>
        <p:spPr bwMode="auto">
          <a:xfrm>
            <a:off x="1547813" y="5634038"/>
            <a:ext cx="325437"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0</a:t>
            </a:r>
          </a:p>
        </p:txBody>
      </p:sp>
      <p:sp>
        <p:nvSpPr>
          <p:cNvPr id="251911" name="Text Box 7"/>
          <p:cNvSpPr txBox="1">
            <a:spLocks noChangeArrowheads="1"/>
          </p:cNvSpPr>
          <p:nvPr/>
        </p:nvSpPr>
        <p:spPr bwMode="auto">
          <a:xfrm>
            <a:off x="5795963" y="5634038"/>
            <a:ext cx="608012"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720</a:t>
            </a:r>
          </a:p>
        </p:txBody>
      </p:sp>
      <p:sp>
        <p:nvSpPr>
          <p:cNvPr id="251912" name="Line 8"/>
          <p:cNvSpPr>
            <a:spLocks noChangeShapeType="1"/>
          </p:cNvSpPr>
          <p:nvPr/>
        </p:nvSpPr>
        <p:spPr bwMode="auto">
          <a:xfrm flipH="1" flipV="1">
            <a:off x="1908175" y="1628775"/>
            <a:ext cx="4032250" cy="3954463"/>
          </a:xfrm>
          <a:prstGeom prst="line">
            <a:avLst/>
          </a:prstGeom>
          <a:noFill/>
          <a:ln w="9525">
            <a:solidFill>
              <a:srgbClr val="4B1500"/>
            </a:solidFill>
            <a:round/>
            <a:headEnd/>
            <a:tailEnd/>
          </a:ln>
          <a:effectLst/>
        </p:spPr>
        <p:txBody>
          <a:bodyPr/>
          <a:lstStyle/>
          <a:p>
            <a:endParaRPr lang="en-US"/>
          </a:p>
        </p:txBody>
      </p:sp>
      <p:sp>
        <p:nvSpPr>
          <p:cNvPr id="251913" name="Text Box 9"/>
          <p:cNvSpPr txBox="1">
            <a:spLocks noChangeArrowheads="1"/>
          </p:cNvSpPr>
          <p:nvPr/>
        </p:nvSpPr>
        <p:spPr bwMode="auto">
          <a:xfrm>
            <a:off x="971550" y="1411288"/>
            <a:ext cx="890588"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10800</a:t>
            </a:r>
          </a:p>
        </p:txBody>
      </p:sp>
      <p:sp>
        <p:nvSpPr>
          <p:cNvPr id="251914" name="Text Box 10"/>
          <p:cNvSpPr txBox="1">
            <a:spLocks noChangeArrowheads="1"/>
          </p:cNvSpPr>
          <p:nvPr/>
        </p:nvSpPr>
        <p:spPr bwMode="auto">
          <a:xfrm>
            <a:off x="2843213" y="1771650"/>
            <a:ext cx="1655762" cy="396875"/>
          </a:xfrm>
          <a:prstGeom prst="rect">
            <a:avLst/>
          </a:prstGeom>
          <a:noFill/>
          <a:ln w="9525">
            <a:noFill/>
            <a:miter lim="800000"/>
            <a:headEnd/>
            <a:tailEnd/>
          </a:ln>
          <a:effectLst/>
        </p:spPr>
        <p:txBody>
          <a:bodyPr>
            <a:spAutoFit/>
          </a:bodyPr>
          <a:lstStyle/>
          <a:p>
            <a:pPr>
              <a:spcBef>
                <a:spcPct val="50000"/>
              </a:spcBef>
              <a:buFontTx/>
              <a:buNone/>
            </a:pPr>
            <a:r>
              <a:rPr lang="en-US">
                <a:solidFill>
                  <a:schemeClr val="tx2"/>
                </a:solidFill>
                <a:latin typeface="Arial" charset="0"/>
                <a:cs typeface="Arial" charset="0"/>
              </a:rPr>
              <a:t>|Slope| = 15</a:t>
            </a:r>
          </a:p>
        </p:txBody>
      </p:sp>
      <p:sp>
        <p:nvSpPr>
          <p:cNvPr id="251915" name="Line 11"/>
          <p:cNvSpPr>
            <a:spLocks noChangeShapeType="1"/>
          </p:cNvSpPr>
          <p:nvPr/>
        </p:nvSpPr>
        <p:spPr bwMode="auto">
          <a:xfrm flipH="1">
            <a:off x="2771775" y="2132013"/>
            <a:ext cx="692150" cy="307975"/>
          </a:xfrm>
          <a:prstGeom prst="line">
            <a:avLst/>
          </a:prstGeom>
          <a:noFill/>
          <a:ln w="9525">
            <a:solidFill>
              <a:srgbClr val="4B1500"/>
            </a:solidFill>
            <a:round/>
            <a:headEnd/>
            <a:tailEnd type="triangle" w="med" len="med"/>
          </a:ln>
          <a:effectLst/>
        </p:spPr>
        <p:txBody>
          <a:bodyPr/>
          <a:lstStyle/>
          <a:p>
            <a:endParaRPr lang="en-US"/>
          </a:p>
        </p:txBody>
      </p:sp>
      <p:sp>
        <p:nvSpPr>
          <p:cNvPr id="251916" name="Rectangle 12"/>
          <p:cNvSpPr>
            <a:spLocks noGrp="1" noChangeArrowheads="1"/>
          </p:cNvSpPr>
          <p:nvPr>
            <p:ph type="title"/>
          </p:nvPr>
        </p:nvSpPr>
        <p:spPr>
          <a:xfrm>
            <a:off x="611188" y="260350"/>
            <a:ext cx="7772400" cy="865188"/>
          </a:xfrm>
          <a:noFill/>
          <a:ln/>
        </p:spPr>
        <p:txBody>
          <a:bodyPr/>
          <a:lstStyle/>
          <a:p>
            <a:r>
              <a:rPr lang="en-US" sz="3600"/>
              <a:t>Work Incentives: mathematical example</a:t>
            </a:r>
          </a:p>
        </p:txBody>
      </p:sp>
      <p:sp>
        <p:nvSpPr>
          <p:cNvPr id="251917" name="Arc 13"/>
          <p:cNvSpPr>
            <a:spLocks/>
          </p:cNvSpPr>
          <p:nvPr/>
        </p:nvSpPr>
        <p:spPr bwMode="auto">
          <a:xfrm rot="9933366">
            <a:off x="4427538" y="3068638"/>
            <a:ext cx="1766887" cy="215106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p:spPr>
        <p:txBody>
          <a:bodyPr rot="10800000" wrap="none" anchor="ctr"/>
          <a:lstStyle/>
          <a:p>
            <a:pPr algn="ctr">
              <a:spcBef>
                <a:spcPct val="0"/>
              </a:spcBef>
              <a:buFontTx/>
              <a:buNone/>
            </a:pPr>
            <a:endParaRPr lang="en-US">
              <a:latin typeface="Arial" charset="0"/>
            </a:endParaRPr>
          </a:p>
        </p:txBody>
      </p:sp>
      <p:sp>
        <p:nvSpPr>
          <p:cNvPr id="251918" name="Text Box 14"/>
          <p:cNvSpPr txBox="1">
            <a:spLocks noChangeArrowheads="1"/>
          </p:cNvSpPr>
          <p:nvPr/>
        </p:nvSpPr>
        <p:spPr bwMode="auto">
          <a:xfrm>
            <a:off x="4427538" y="5661025"/>
            <a:ext cx="608012"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600</a:t>
            </a:r>
          </a:p>
        </p:txBody>
      </p:sp>
      <p:sp>
        <p:nvSpPr>
          <p:cNvPr id="251919" name="Line 15"/>
          <p:cNvSpPr>
            <a:spLocks noChangeShapeType="1"/>
          </p:cNvSpPr>
          <p:nvPr/>
        </p:nvSpPr>
        <p:spPr bwMode="auto">
          <a:xfrm>
            <a:off x="4787900" y="4508500"/>
            <a:ext cx="0" cy="1081088"/>
          </a:xfrm>
          <a:prstGeom prst="line">
            <a:avLst/>
          </a:prstGeom>
          <a:noFill/>
          <a:ln w="9525">
            <a:solidFill>
              <a:schemeClr val="tx1"/>
            </a:solidFill>
            <a:prstDash val="dash"/>
            <a:round/>
            <a:headEnd/>
            <a:tailEnd/>
          </a:ln>
          <a:effectLst/>
        </p:spPr>
        <p:txBody>
          <a:bodyPr/>
          <a:lstStyle/>
          <a:p>
            <a:endParaRPr lang="en-US"/>
          </a:p>
        </p:txBody>
      </p:sp>
      <p:sp>
        <p:nvSpPr>
          <p:cNvPr id="251920" name="Line 16"/>
          <p:cNvSpPr>
            <a:spLocks noChangeShapeType="1"/>
          </p:cNvSpPr>
          <p:nvPr/>
        </p:nvSpPr>
        <p:spPr bwMode="auto">
          <a:xfrm flipH="1">
            <a:off x="1908175" y="4508500"/>
            <a:ext cx="2879725" cy="0"/>
          </a:xfrm>
          <a:prstGeom prst="line">
            <a:avLst/>
          </a:prstGeom>
          <a:noFill/>
          <a:ln w="19050">
            <a:solidFill>
              <a:schemeClr val="tx1"/>
            </a:solidFill>
            <a:prstDash val="dash"/>
            <a:round/>
            <a:headEnd/>
            <a:tailEnd/>
          </a:ln>
          <a:effectLst/>
        </p:spPr>
        <p:txBody>
          <a:bodyPr/>
          <a:lstStyle/>
          <a:p>
            <a:endParaRPr lang="en-US"/>
          </a:p>
        </p:txBody>
      </p:sp>
      <p:sp>
        <p:nvSpPr>
          <p:cNvPr id="251921" name="Text Box 17"/>
          <p:cNvSpPr txBox="1">
            <a:spLocks noChangeArrowheads="1"/>
          </p:cNvSpPr>
          <p:nvPr/>
        </p:nvSpPr>
        <p:spPr bwMode="auto">
          <a:xfrm>
            <a:off x="900113" y="4292600"/>
            <a:ext cx="74930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1800</a:t>
            </a:r>
          </a:p>
        </p:txBody>
      </p:sp>
      <p:sp>
        <p:nvSpPr>
          <p:cNvPr id="251929" name="Line 25"/>
          <p:cNvSpPr>
            <a:spLocks noChangeShapeType="1"/>
          </p:cNvSpPr>
          <p:nvPr/>
        </p:nvSpPr>
        <p:spPr bwMode="auto">
          <a:xfrm>
            <a:off x="3995738" y="3644900"/>
            <a:ext cx="0" cy="1944688"/>
          </a:xfrm>
          <a:prstGeom prst="line">
            <a:avLst/>
          </a:prstGeom>
          <a:noFill/>
          <a:ln w="9525">
            <a:solidFill>
              <a:schemeClr val="tx1"/>
            </a:solidFill>
            <a:prstDash val="dash"/>
            <a:round/>
            <a:headEnd/>
            <a:tailEnd/>
          </a:ln>
          <a:effectLst/>
        </p:spPr>
        <p:txBody>
          <a:bodyPr/>
          <a:lstStyle/>
          <a:p>
            <a:endParaRPr lang="en-US"/>
          </a:p>
        </p:txBody>
      </p:sp>
      <p:sp>
        <p:nvSpPr>
          <p:cNvPr id="251930" name="Text Box 26"/>
          <p:cNvSpPr txBox="1">
            <a:spLocks noChangeArrowheads="1"/>
          </p:cNvSpPr>
          <p:nvPr/>
        </p:nvSpPr>
        <p:spPr bwMode="auto">
          <a:xfrm>
            <a:off x="3563938" y="5661025"/>
            <a:ext cx="608012"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420</a:t>
            </a:r>
          </a:p>
        </p:txBody>
      </p:sp>
      <p:sp>
        <p:nvSpPr>
          <p:cNvPr id="251931" name="Line 27"/>
          <p:cNvSpPr>
            <a:spLocks noChangeShapeType="1"/>
          </p:cNvSpPr>
          <p:nvPr/>
        </p:nvSpPr>
        <p:spPr bwMode="auto">
          <a:xfrm flipH="1">
            <a:off x="1908175" y="3644900"/>
            <a:ext cx="2087563" cy="0"/>
          </a:xfrm>
          <a:prstGeom prst="line">
            <a:avLst/>
          </a:prstGeom>
          <a:noFill/>
          <a:ln w="19050">
            <a:solidFill>
              <a:schemeClr val="tx1"/>
            </a:solidFill>
            <a:prstDash val="dash"/>
            <a:round/>
            <a:headEnd/>
            <a:tailEnd/>
          </a:ln>
          <a:effectLst/>
        </p:spPr>
        <p:txBody>
          <a:bodyPr/>
          <a:lstStyle/>
          <a:p>
            <a:endParaRPr lang="en-US"/>
          </a:p>
        </p:txBody>
      </p:sp>
      <p:sp>
        <p:nvSpPr>
          <p:cNvPr id="251932" name="Text Box 28"/>
          <p:cNvSpPr txBox="1">
            <a:spLocks noChangeArrowheads="1"/>
          </p:cNvSpPr>
          <p:nvPr/>
        </p:nvSpPr>
        <p:spPr bwMode="auto">
          <a:xfrm>
            <a:off x="971550" y="3500438"/>
            <a:ext cx="74930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4500</a:t>
            </a:r>
          </a:p>
        </p:txBody>
      </p:sp>
      <p:sp>
        <p:nvSpPr>
          <p:cNvPr id="251933" name="Text Box 29"/>
          <p:cNvSpPr txBox="1">
            <a:spLocks noChangeArrowheads="1"/>
          </p:cNvSpPr>
          <p:nvPr/>
        </p:nvSpPr>
        <p:spPr bwMode="auto">
          <a:xfrm>
            <a:off x="5364163" y="3500438"/>
            <a:ext cx="3455987" cy="396875"/>
          </a:xfrm>
          <a:prstGeom prst="rect">
            <a:avLst/>
          </a:prstGeom>
          <a:noFill/>
          <a:ln w="9525">
            <a:noFill/>
            <a:miter lim="800000"/>
            <a:headEnd/>
            <a:tailEnd/>
          </a:ln>
          <a:effectLst/>
        </p:spPr>
        <p:txBody>
          <a:bodyPr>
            <a:spAutoFit/>
          </a:bodyPr>
          <a:lstStyle/>
          <a:p>
            <a:pPr>
              <a:spcBef>
                <a:spcPct val="50000"/>
              </a:spcBef>
              <a:buFontTx/>
              <a:buNone/>
            </a:pPr>
            <a:r>
              <a:rPr lang="en-US">
                <a:solidFill>
                  <a:schemeClr val="tx2"/>
                </a:solidFill>
                <a:latin typeface="Arial" charset="0"/>
                <a:cs typeface="Arial" charset="0"/>
              </a:rPr>
              <a:t>|Slope| = (1 – 0.1)15 = 13.5</a:t>
            </a:r>
          </a:p>
        </p:txBody>
      </p:sp>
      <p:sp>
        <p:nvSpPr>
          <p:cNvPr id="251934" name="Line 30"/>
          <p:cNvSpPr>
            <a:spLocks noChangeShapeType="1"/>
          </p:cNvSpPr>
          <p:nvPr/>
        </p:nvSpPr>
        <p:spPr bwMode="auto">
          <a:xfrm flipH="1">
            <a:off x="5148263" y="4005263"/>
            <a:ext cx="692150" cy="307975"/>
          </a:xfrm>
          <a:prstGeom prst="line">
            <a:avLst/>
          </a:prstGeom>
          <a:noFill/>
          <a:ln w="9525">
            <a:solidFill>
              <a:srgbClr val="4B1500"/>
            </a:solidFill>
            <a:round/>
            <a:headEnd/>
            <a:tailEnd type="triangle" w="med" len="med"/>
          </a:ln>
          <a:effectLst/>
        </p:spPr>
        <p:txBody>
          <a:bodyPr/>
          <a:lstStyle/>
          <a:p>
            <a:endParaRPr lang="en-US"/>
          </a:p>
        </p:txBody>
      </p:sp>
      <p:sp>
        <p:nvSpPr>
          <p:cNvPr id="251935" name="Line 31"/>
          <p:cNvSpPr>
            <a:spLocks noChangeShapeType="1"/>
          </p:cNvSpPr>
          <p:nvPr/>
        </p:nvSpPr>
        <p:spPr bwMode="auto">
          <a:xfrm>
            <a:off x="1908175" y="1628775"/>
            <a:ext cx="2087563" cy="2087563"/>
          </a:xfrm>
          <a:prstGeom prst="line">
            <a:avLst/>
          </a:prstGeom>
          <a:noFill/>
          <a:ln w="38100">
            <a:solidFill>
              <a:schemeClr val="accent2"/>
            </a:solidFill>
            <a:round/>
            <a:headEnd/>
            <a:tailEnd/>
          </a:ln>
          <a:effectLst/>
        </p:spPr>
        <p:txBody>
          <a:bodyPr/>
          <a:lstStyle/>
          <a:p>
            <a:endParaRPr lang="en-US"/>
          </a:p>
        </p:txBody>
      </p:sp>
      <p:sp>
        <p:nvSpPr>
          <p:cNvPr id="251936" name="Line 32"/>
          <p:cNvSpPr>
            <a:spLocks noChangeShapeType="1"/>
          </p:cNvSpPr>
          <p:nvPr/>
        </p:nvSpPr>
        <p:spPr bwMode="auto">
          <a:xfrm>
            <a:off x="3995738" y="3716338"/>
            <a:ext cx="1944687" cy="1368425"/>
          </a:xfrm>
          <a:prstGeom prst="line">
            <a:avLst/>
          </a:prstGeom>
          <a:noFill/>
          <a:ln w="38100">
            <a:solidFill>
              <a:srgbClr val="FF3300"/>
            </a:solidFill>
            <a:round/>
            <a:headEnd/>
            <a:tailEnd/>
          </a:ln>
          <a:effectLst/>
        </p:spPr>
        <p:txBody>
          <a:bodyPr/>
          <a:lstStyle/>
          <a:p>
            <a:endParaRPr lang="en-US"/>
          </a:p>
        </p:txBody>
      </p:sp>
      <p:sp>
        <p:nvSpPr>
          <p:cNvPr id="251937" name="Line 33"/>
          <p:cNvSpPr>
            <a:spLocks noChangeShapeType="1"/>
          </p:cNvSpPr>
          <p:nvPr/>
        </p:nvSpPr>
        <p:spPr bwMode="auto">
          <a:xfrm flipH="1">
            <a:off x="1908175" y="5084763"/>
            <a:ext cx="4032250" cy="0"/>
          </a:xfrm>
          <a:prstGeom prst="line">
            <a:avLst/>
          </a:prstGeom>
          <a:noFill/>
          <a:ln w="19050">
            <a:solidFill>
              <a:schemeClr val="tx1"/>
            </a:solidFill>
            <a:prstDash val="dash"/>
            <a:round/>
            <a:headEnd/>
            <a:tailEnd/>
          </a:ln>
          <a:effectLst/>
        </p:spPr>
        <p:txBody>
          <a:bodyPr/>
          <a:lstStyle/>
          <a:p>
            <a:endParaRPr lang="en-US"/>
          </a:p>
        </p:txBody>
      </p:sp>
      <p:sp>
        <p:nvSpPr>
          <p:cNvPr id="251938" name="Text Box 34"/>
          <p:cNvSpPr txBox="1">
            <a:spLocks noChangeArrowheads="1"/>
          </p:cNvSpPr>
          <p:nvPr/>
        </p:nvSpPr>
        <p:spPr bwMode="auto">
          <a:xfrm>
            <a:off x="1042988" y="4868863"/>
            <a:ext cx="608012"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450</a:t>
            </a:r>
          </a:p>
        </p:txBody>
      </p:sp>
      <p:sp>
        <p:nvSpPr>
          <p:cNvPr id="251939" name="Line 35"/>
          <p:cNvSpPr>
            <a:spLocks noChangeShapeType="1"/>
          </p:cNvSpPr>
          <p:nvPr/>
        </p:nvSpPr>
        <p:spPr bwMode="auto">
          <a:xfrm>
            <a:off x="5940425" y="5084763"/>
            <a:ext cx="0" cy="504825"/>
          </a:xfrm>
          <a:prstGeom prst="line">
            <a:avLst/>
          </a:prstGeom>
          <a:noFill/>
          <a:ln w="9525">
            <a:solidFill>
              <a:schemeClr val="tx1"/>
            </a:solidFill>
            <a:prstDash val="dash"/>
            <a:round/>
            <a:headEnd/>
            <a:tailEnd/>
          </a:ln>
          <a:effectLst/>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1935"/>
                                        </p:tgtEl>
                                        <p:attrNameLst>
                                          <p:attrName>style.visibility</p:attrName>
                                        </p:attrNameLst>
                                      </p:cBhvr>
                                      <p:to>
                                        <p:strVal val="visible"/>
                                      </p:to>
                                    </p:set>
                                    <p:animEffect transition="in" filter="wipe(up)">
                                      <p:cBhvr>
                                        <p:cTn id="7" dur="2000"/>
                                        <p:tgtEl>
                                          <p:spTgt spid="251935"/>
                                        </p:tgtEl>
                                      </p:cBhvr>
                                    </p:animEffect>
                                  </p:childTnLst>
                                </p:cTn>
                              </p:par>
                            </p:childTnLst>
                          </p:cTn>
                        </p:par>
                        <p:par>
                          <p:cTn id="8" fill="hold">
                            <p:stCondLst>
                              <p:cond delay="2000"/>
                            </p:stCondLst>
                            <p:childTnLst>
                              <p:par>
                                <p:cTn id="9" presetID="22" presetClass="entr" presetSubtype="2" fill="hold" grpId="0" nodeType="afterEffect">
                                  <p:stCondLst>
                                    <p:cond delay="0"/>
                                  </p:stCondLst>
                                  <p:childTnLst>
                                    <p:set>
                                      <p:cBhvr>
                                        <p:cTn id="10" dur="1" fill="hold">
                                          <p:stCondLst>
                                            <p:cond delay="0"/>
                                          </p:stCondLst>
                                        </p:cTn>
                                        <p:tgtEl>
                                          <p:spTgt spid="251931"/>
                                        </p:tgtEl>
                                        <p:attrNameLst>
                                          <p:attrName>style.visibility</p:attrName>
                                        </p:attrNameLst>
                                      </p:cBhvr>
                                      <p:to>
                                        <p:strVal val="visible"/>
                                      </p:to>
                                    </p:set>
                                    <p:animEffect transition="in" filter="wipe(right)">
                                      <p:cBhvr>
                                        <p:cTn id="11" dur="1000"/>
                                        <p:tgtEl>
                                          <p:spTgt spid="251931"/>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251929"/>
                                        </p:tgtEl>
                                        <p:attrNameLst>
                                          <p:attrName>style.visibility</p:attrName>
                                        </p:attrNameLst>
                                      </p:cBhvr>
                                      <p:to>
                                        <p:strVal val="visible"/>
                                      </p:to>
                                    </p:set>
                                    <p:animEffect transition="in" filter="wipe(up)">
                                      <p:cBhvr>
                                        <p:cTn id="14" dur="1000"/>
                                        <p:tgtEl>
                                          <p:spTgt spid="251929"/>
                                        </p:tgtEl>
                                      </p:cBhvr>
                                    </p:animEffect>
                                  </p:childTnLst>
                                </p:cTn>
                              </p:par>
                            </p:childTnLst>
                          </p:cTn>
                        </p:par>
                        <p:par>
                          <p:cTn id="15" fill="hold">
                            <p:stCondLst>
                              <p:cond delay="3000"/>
                            </p:stCondLst>
                            <p:childTnLst>
                              <p:par>
                                <p:cTn id="16" presetID="1" presetClass="entr" presetSubtype="0" fill="hold" grpId="0" nodeType="afterEffect">
                                  <p:stCondLst>
                                    <p:cond delay="0"/>
                                  </p:stCondLst>
                                  <p:childTnLst>
                                    <p:set>
                                      <p:cBhvr>
                                        <p:cTn id="17" dur="1" fill="hold">
                                          <p:stCondLst>
                                            <p:cond delay="0"/>
                                          </p:stCondLst>
                                        </p:cTn>
                                        <p:tgtEl>
                                          <p:spTgt spid="251932"/>
                                        </p:tgtEl>
                                        <p:attrNameLst>
                                          <p:attrName>style.visibility</p:attrName>
                                        </p:attrNameLst>
                                      </p:cBhvr>
                                      <p:to>
                                        <p:strVal val="visible"/>
                                      </p:to>
                                    </p:set>
                                  </p:childTnLst>
                                </p:cTn>
                              </p:par>
                            </p:childTnLst>
                          </p:cTn>
                        </p:par>
                        <p:par>
                          <p:cTn id="18" fill="hold">
                            <p:stCondLst>
                              <p:cond delay="3000"/>
                            </p:stCondLst>
                            <p:childTnLst>
                              <p:par>
                                <p:cTn id="19" presetID="1" presetClass="entr" presetSubtype="0" fill="hold" grpId="0" nodeType="afterEffect">
                                  <p:stCondLst>
                                    <p:cond delay="0"/>
                                  </p:stCondLst>
                                  <p:childTnLst>
                                    <p:set>
                                      <p:cBhvr>
                                        <p:cTn id="20" dur="1" fill="hold">
                                          <p:stCondLst>
                                            <p:cond delay="0"/>
                                          </p:stCondLst>
                                        </p:cTn>
                                        <p:tgtEl>
                                          <p:spTgt spid="2519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51936"/>
                                        </p:tgtEl>
                                        <p:attrNameLst>
                                          <p:attrName>style.visibility</p:attrName>
                                        </p:attrNameLst>
                                      </p:cBhvr>
                                      <p:to>
                                        <p:strVal val="visible"/>
                                      </p:to>
                                    </p:set>
                                    <p:animEffect transition="in" filter="wipe(up)">
                                      <p:cBhvr>
                                        <p:cTn id="25" dur="2000"/>
                                        <p:tgtEl>
                                          <p:spTgt spid="251936"/>
                                        </p:tgtEl>
                                      </p:cBhvr>
                                    </p:animEffect>
                                  </p:childTnLst>
                                </p:cTn>
                              </p:par>
                              <p:par>
                                <p:cTn id="26" presetID="1" presetClass="entr" presetSubtype="0" fill="hold" grpId="0" nodeType="withEffect">
                                  <p:stCondLst>
                                    <p:cond delay="0"/>
                                  </p:stCondLst>
                                  <p:childTnLst>
                                    <p:set>
                                      <p:cBhvr>
                                        <p:cTn id="27" dur="1" fill="hold">
                                          <p:stCondLst>
                                            <p:cond delay="0"/>
                                          </p:stCondLst>
                                        </p:cTn>
                                        <p:tgtEl>
                                          <p:spTgt spid="251934"/>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51933"/>
                                        </p:tgtEl>
                                        <p:attrNameLst>
                                          <p:attrName>style.visibility</p:attrName>
                                        </p:attrNameLst>
                                      </p:cBhvr>
                                      <p:to>
                                        <p:strVal val="visible"/>
                                      </p:to>
                                    </p:set>
                                  </p:childTnLst>
                                </p:cTn>
                              </p:par>
                            </p:childTnLst>
                          </p:cTn>
                        </p:par>
                        <p:par>
                          <p:cTn id="30" fill="hold">
                            <p:stCondLst>
                              <p:cond delay="2000"/>
                            </p:stCondLst>
                            <p:childTnLst>
                              <p:par>
                                <p:cTn id="31" presetID="22" presetClass="entr" presetSubtype="2" fill="hold" grpId="0" nodeType="afterEffect">
                                  <p:stCondLst>
                                    <p:cond delay="0"/>
                                  </p:stCondLst>
                                  <p:childTnLst>
                                    <p:set>
                                      <p:cBhvr>
                                        <p:cTn id="32" dur="1" fill="hold">
                                          <p:stCondLst>
                                            <p:cond delay="0"/>
                                          </p:stCondLst>
                                        </p:cTn>
                                        <p:tgtEl>
                                          <p:spTgt spid="251937"/>
                                        </p:tgtEl>
                                        <p:attrNameLst>
                                          <p:attrName>style.visibility</p:attrName>
                                        </p:attrNameLst>
                                      </p:cBhvr>
                                      <p:to>
                                        <p:strVal val="visible"/>
                                      </p:to>
                                    </p:set>
                                    <p:animEffect transition="in" filter="wipe(right)">
                                      <p:cBhvr>
                                        <p:cTn id="33" dur="1000"/>
                                        <p:tgtEl>
                                          <p:spTgt spid="251937"/>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251939"/>
                                        </p:tgtEl>
                                        <p:attrNameLst>
                                          <p:attrName>style.visibility</p:attrName>
                                        </p:attrNameLst>
                                      </p:cBhvr>
                                      <p:to>
                                        <p:strVal val="visible"/>
                                      </p:to>
                                    </p:set>
                                    <p:animEffect transition="in" filter="wipe(up)">
                                      <p:cBhvr>
                                        <p:cTn id="36" dur="1000"/>
                                        <p:tgtEl>
                                          <p:spTgt spid="251939"/>
                                        </p:tgtEl>
                                      </p:cBhvr>
                                    </p:animEffect>
                                  </p:childTnLst>
                                </p:cTn>
                              </p:par>
                            </p:childTnLst>
                          </p:cTn>
                        </p:par>
                        <p:par>
                          <p:cTn id="37" fill="hold">
                            <p:stCondLst>
                              <p:cond delay="3000"/>
                            </p:stCondLst>
                            <p:childTnLst>
                              <p:par>
                                <p:cTn id="38" presetID="1" presetClass="entr" presetSubtype="0" fill="hold" grpId="0" nodeType="afterEffect">
                                  <p:stCondLst>
                                    <p:cond delay="0"/>
                                  </p:stCondLst>
                                  <p:childTnLst>
                                    <p:set>
                                      <p:cBhvr>
                                        <p:cTn id="39" dur="1" fill="hold">
                                          <p:stCondLst>
                                            <p:cond delay="0"/>
                                          </p:stCondLst>
                                        </p:cTn>
                                        <p:tgtEl>
                                          <p:spTgt spid="251911"/>
                                        </p:tgtEl>
                                        <p:attrNameLst>
                                          <p:attrName>style.visibility</p:attrName>
                                        </p:attrNameLst>
                                      </p:cBhvr>
                                      <p:to>
                                        <p:strVal val="visible"/>
                                      </p:to>
                                    </p:set>
                                  </p:childTnLst>
                                </p:cTn>
                              </p:par>
                            </p:childTnLst>
                          </p:cTn>
                        </p:par>
                        <p:par>
                          <p:cTn id="40" fill="hold">
                            <p:stCondLst>
                              <p:cond delay="3000"/>
                            </p:stCondLst>
                            <p:childTnLst>
                              <p:par>
                                <p:cTn id="41" presetID="1" presetClass="entr" presetSubtype="0" fill="hold" grpId="0" nodeType="afterEffect">
                                  <p:stCondLst>
                                    <p:cond delay="0"/>
                                  </p:stCondLst>
                                  <p:childTnLst>
                                    <p:set>
                                      <p:cBhvr>
                                        <p:cTn id="42" dur="1" fill="hold">
                                          <p:stCondLst>
                                            <p:cond delay="0"/>
                                          </p:stCondLst>
                                        </p:cTn>
                                        <p:tgtEl>
                                          <p:spTgt spid="2519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11" grpId="0"/>
      <p:bldP spid="251929" grpId="0" animBg="1"/>
      <p:bldP spid="251930" grpId="0"/>
      <p:bldP spid="251931" grpId="0" animBg="1"/>
      <p:bldP spid="251932" grpId="0"/>
      <p:bldP spid="251933" grpId="0"/>
      <p:bldP spid="251934" grpId="0" animBg="1"/>
      <p:bldP spid="251935" grpId="0" animBg="1"/>
      <p:bldP spid="251936" grpId="0" animBg="1"/>
      <p:bldP spid="251937" grpId="0" animBg="1"/>
      <p:bldP spid="251938" grpId="0"/>
      <p:bldP spid="25193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7"/>
          <p:cNvSpPr>
            <a:spLocks noGrp="1"/>
          </p:cNvSpPr>
          <p:nvPr>
            <p:ph type="sldNum" sz="quarter" idx="12"/>
          </p:nvPr>
        </p:nvSpPr>
        <p:spPr/>
        <p:txBody>
          <a:bodyPr/>
          <a:lstStyle/>
          <a:p>
            <a:fld id="{7857EF02-CAE7-405A-8C73-69DDE0E9EC46}" type="slidenum">
              <a:rPr lang="en-GB"/>
              <a:pPr/>
              <a:t>49</a:t>
            </a:fld>
            <a:endParaRPr lang="en-GB"/>
          </a:p>
        </p:txBody>
      </p:sp>
      <p:sp>
        <p:nvSpPr>
          <p:cNvPr id="254978" name="Rectangle 2"/>
          <p:cNvSpPr>
            <a:spLocks noGrp="1" noChangeArrowheads="1"/>
          </p:cNvSpPr>
          <p:nvPr>
            <p:ph type="title"/>
          </p:nvPr>
        </p:nvSpPr>
        <p:spPr>
          <a:xfrm>
            <a:off x="611188" y="188913"/>
            <a:ext cx="7772400" cy="863600"/>
          </a:xfrm>
        </p:spPr>
        <p:txBody>
          <a:bodyPr/>
          <a:lstStyle/>
          <a:p>
            <a:r>
              <a:rPr lang="en-US" sz="3600"/>
              <a:t>Work Incentives: mathematical example</a:t>
            </a:r>
          </a:p>
        </p:txBody>
      </p:sp>
      <p:sp>
        <p:nvSpPr>
          <p:cNvPr id="254979" name="Rectangle 3"/>
          <p:cNvSpPr>
            <a:spLocks noGrp="1" noChangeArrowheads="1"/>
          </p:cNvSpPr>
          <p:nvPr>
            <p:ph type="body" sz="half" idx="1"/>
          </p:nvPr>
        </p:nvSpPr>
        <p:spPr>
          <a:xfrm>
            <a:off x="685800" y="981075"/>
            <a:ext cx="7631113" cy="5400675"/>
          </a:xfrm>
        </p:spPr>
        <p:txBody>
          <a:bodyPr/>
          <a:lstStyle/>
          <a:p>
            <a:pPr marL="609600" indent="-609600">
              <a:buFontTx/>
              <a:buNone/>
            </a:pPr>
            <a:r>
              <a:rPr lang="en-US" sz="2400"/>
              <a:t>Figure shows: optimum on ‘new’ part of budget constr.</a:t>
            </a:r>
          </a:p>
          <a:p>
            <a:pPr marL="609600" indent="-609600">
              <a:buFontTx/>
              <a:buNone/>
            </a:pPr>
            <a:r>
              <a:rPr lang="en-US" sz="2400"/>
              <a:t>Using Lagrange again: </a:t>
            </a:r>
          </a:p>
          <a:p>
            <a:pPr marL="609600" indent="-609600">
              <a:buFontTx/>
              <a:buNone/>
            </a:pPr>
            <a:endParaRPr lang="en-US"/>
          </a:p>
          <a:p>
            <a:pPr marL="609600" indent="-609600">
              <a:buFontTx/>
              <a:buNone/>
            </a:pPr>
            <a:r>
              <a:rPr lang="en-US" sz="2400"/>
              <a:t>Maximise wrt Y, L, and </a:t>
            </a:r>
            <a:r>
              <a:rPr lang="en-US" sz="2400">
                <a:sym typeface="Symbol" pitchFamily="18" charset="2"/>
              </a:rPr>
              <a:t>:</a:t>
            </a:r>
          </a:p>
          <a:p>
            <a:pPr marL="609600" indent="-609600">
              <a:buFontTx/>
              <a:buNone/>
            </a:pPr>
            <a:endParaRPr lang="en-US" sz="2400">
              <a:sym typeface="Symbol" pitchFamily="18" charset="2"/>
            </a:endParaRPr>
          </a:p>
          <a:p>
            <a:pPr marL="609600" indent="-609600">
              <a:buFontTx/>
              <a:buNone/>
            </a:pPr>
            <a:endParaRPr lang="en-US" sz="2400"/>
          </a:p>
          <a:p>
            <a:pPr marL="609600" indent="-609600">
              <a:buFontTx/>
              <a:buNone/>
            </a:pPr>
            <a:endParaRPr lang="en-US" sz="2400"/>
          </a:p>
          <a:p>
            <a:pPr marL="609600" indent="-609600">
              <a:buFontTx/>
              <a:buNone/>
            </a:pPr>
            <a:endParaRPr lang="en-US" sz="2400"/>
          </a:p>
          <a:p>
            <a:pPr marL="609600" indent="-609600">
              <a:buFontTx/>
              <a:buNone/>
            </a:pPr>
            <a:endParaRPr lang="en-US"/>
          </a:p>
          <a:p>
            <a:pPr marL="609600" indent="-609600">
              <a:buFontTx/>
              <a:buNone/>
            </a:pPr>
            <a:r>
              <a:rPr lang="en-US" sz="2400"/>
              <a:t>Combining first two gives: 9000 = 13.5L </a:t>
            </a:r>
            <a:r>
              <a:rPr lang="en-US" sz="2400">
                <a:sym typeface="Wingdings" pitchFamily="2" charset="2"/>
              </a:rPr>
              <a:t> L = 666,2/3 </a:t>
            </a:r>
            <a:endParaRPr lang="en-US" sz="2400"/>
          </a:p>
          <a:p>
            <a:pPr marL="609600" indent="-609600">
              <a:buFontTx/>
              <a:buNone/>
            </a:pPr>
            <a:r>
              <a:rPr lang="en-US" sz="2400"/>
              <a:t>Substitute L = </a:t>
            </a:r>
            <a:r>
              <a:rPr lang="en-US" sz="2400">
                <a:sym typeface="Wingdings" pitchFamily="2" charset="2"/>
              </a:rPr>
              <a:t>666,2/3</a:t>
            </a:r>
            <a:r>
              <a:rPr lang="en-US" sz="2400"/>
              <a:t> into third gives Y = 1170</a:t>
            </a:r>
          </a:p>
        </p:txBody>
      </p:sp>
      <p:graphicFrame>
        <p:nvGraphicFramePr>
          <p:cNvPr id="254980" name="Object 4"/>
          <p:cNvGraphicFramePr>
            <a:graphicFrameLocks noGrp="1" noChangeAspect="1"/>
          </p:cNvGraphicFramePr>
          <p:nvPr>
            <p:ph sz="quarter" idx="2"/>
          </p:nvPr>
        </p:nvGraphicFramePr>
        <p:xfrm>
          <a:off x="1403350" y="1989138"/>
          <a:ext cx="5786438" cy="463550"/>
        </p:xfrm>
        <a:graphic>
          <a:graphicData uri="http://schemas.openxmlformats.org/presentationml/2006/ole">
            <mc:AlternateContent xmlns:mc="http://schemas.openxmlformats.org/markup-compatibility/2006">
              <mc:Choice xmlns:v="urn:schemas-microsoft-com:vml" Requires="v">
                <p:oleObj name="Equation" r:id="rId2" imgW="2539800" imgH="203040" progId="Equation.3">
                  <p:embed/>
                </p:oleObj>
              </mc:Choice>
              <mc:Fallback>
                <p:oleObj name="Equation" r:id="rId2" imgW="2539800" imgH="203040" progId="Equation.3">
                  <p:embed/>
                  <p:pic>
                    <p:nvPicPr>
                      <p:cNvPr id="25498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989138"/>
                        <a:ext cx="5786438"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4981" name="Object 5"/>
          <p:cNvGraphicFramePr>
            <a:graphicFrameLocks noGrp="1" noChangeAspect="1"/>
          </p:cNvGraphicFramePr>
          <p:nvPr>
            <p:ph sz="quarter" idx="3"/>
          </p:nvPr>
        </p:nvGraphicFramePr>
        <p:xfrm>
          <a:off x="4284663" y="2492375"/>
          <a:ext cx="3744912" cy="2674938"/>
        </p:xfrm>
        <a:graphic>
          <a:graphicData uri="http://schemas.openxmlformats.org/presentationml/2006/ole">
            <mc:AlternateContent xmlns:mc="http://schemas.openxmlformats.org/markup-compatibility/2006">
              <mc:Choice xmlns:v="urn:schemas-microsoft-com:vml" Requires="v">
                <p:oleObj name="Equation" r:id="rId4" imgW="1688760" imgH="1206360" progId="Equation.3">
                  <p:embed/>
                </p:oleObj>
              </mc:Choice>
              <mc:Fallback>
                <p:oleObj name="Equation" r:id="rId4" imgW="1688760" imgH="1206360" progId="Equation.3">
                  <p:embed/>
                  <p:pic>
                    <p:nvPicPr>
                      <p:cNvPr id="25498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4663" y="2492375"/>
                        <a:ext cx="3744912" cy="2674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497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498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4979">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497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4"/>
          <p:cNvSpPr>
            <a:spLocks noGrp="1"/>
          </p:cNvSpPr>
          <p:nvPr>
            <p:ph type="sldNum" sz="quarter" idx="12"/>
          </p:nvPr>
        </p:nvSpPr>
        <p:spPr/>
        <p:txBody>
          <a:bodyPr/>
          <a:lstStyle/>
          <a:p>
            <a:fld id="{C1AB74CF-756B-4C97-9425-C8A1668801DB}" type="slidenum">
              <a:rPr lang="en-GB"/>
              <a:pPr/>
              <a:t>50</a:t>
            </a:fld>
            <a:endParaRPr lang="en-GB"/>
          </a:p>
        </p:txBody>
      </p:sp>
      <p:sp>
        <p:nvSpPr>
          <p:cNvPr id="256002" name="Line 2"/>
          <p:cNvSpPr>
            <a:spLocks noChangeShapeType="1"/>
          </p:cNvSpPr>
          <p:nvPr/>
        </p:nvSpPr>
        <p:spPr bwMode="auto">
          <a:xfrm>
            <a:off x="1908175" y="1196975"/>
            <a:ext cx="0" cy="4416425"/>
          </a:xfrm>
          <a:prstGeom prst="line">
            <a:avLst/>
          </a:prstGeom>
          <a:noFill/>
          <a:ln w="9525">
            <a:solidFill>
              <a:srgbClr val="4B1500"/>
            </a:solidFill>
            <a:round/>
            <a:headEnd type="triangle" w="med" len="med"/>
            <a:tailEnd/>
          </a:ln>
          <a:effectLst/>
        </p:spPr>
        <p:txBody>
          <a:bodyPr/>
          <a:lstStyle/>
          <a:p>
            <a:endParaRPr lang="en-US"/>
          </a:p>
        </p:txBody>
      </p:sp>
      <p:sp>
        <p:nvSpPr>
          <p:cNvPr id="256003" name="Line 3"/>
          <p:cNvSpPr>
            <a:spLocks noChangeShapeType="1"/>
          </p:cNvSpPr>
          <p:nvPr/>
        </p:nvSpPr>
        <p:spPr bwMode="auto">
          <a:xfrm>
            <a:off x="1906588" y="5588000"/>
            <a:ext cx="6413500" cy="0"/>
          </a:xfrm>
          <a:prstGeom prst="line">
            <a:avLst/>
          </a:prstGeom>
          <a:noFill/>
          <a:ln w="9525">
            <a:solidFill>
              <a:srgbClr val="4B1500"/>
            </a:solidFill>
            <a:round/>
            <a:headEnd/>
            <a:tailEnd type="triangle" w="med" len="med"/>
          </a:ln>
          <a:effectLst/>
        </p:spPr>
        <p:txBody>
          <a:bodyPr/>
          <a:lstStyle/>
          <a:p>
            <a:endParaRPr lang="en-US"/>
          </a:p>
        </p:txBody>
      </p:sp>
      <p:sp>
        <p:nvSpPr>
          <p:cNvPr id="256004" name="Text Box 4"/>
          <p:cNvSpPr txBox="1">
            <a:spLocks noChangeArrowheads="1"/>
          </p:cNvSpPr>
          <p:nvPr/>
        </p:nvSpPr>
        <p:spPr bwMode="auto">
          <a:xfrm>
            <a:off x="6732588" y="5734050"/>
            <a:ext cx="184785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leisure / month</a:t>
            </a:r>
          </a:p>
        </p:txBody>
      </p:sp>
      <p:sp>
        <p:nvSpPr>
          <p:cNvPr id="256005" name="Text Box 5"/>
          <p:cNvSpPr txBox="1">
            <a:spLocks noChangeArrowheads="1"/>
          </p:cNvSpPr>
          <p:nvPr/>
        </p:nvSpPr>
        <p:spPr bwMode="auto">
          <a:xfrm rot="16200000">
            <a:off x="-375444" y="2470944"/>
            <a:ext cx="2227263"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Income per month</a:t>
            </a:r>
          </a:p>
        </p:txBody>
      </p:sp>
      <p:sp>
        <p:nvSpPr>
          <p:cNvPr id="256006" name="Text Box 6"/>
          <p:cNvSpPr txBox="1">
            <a:spLocks noChangeArrowheads="1"/>
          </p:cNvSpPr>
          <p:nvPr/>
        </p:nvSpPr>
        <p:spPr bwMode="auto">
          <a:xfrm>
            <a:off x="1547813" y="5634038"/>
            <a:ext cx="325437"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0</a:t>
            </a:r>
          </a:p>
        </p:txBody>
      </p:sp>
      <p:sp>
        <p:nvSpPr>
          <p:cNvPr id="256007" name="Text Box 7"/>
          <p:cNvSpPr txBox="1">
            <a:spLocks noChangeArrowheads="1"/>
          </p:cNvSpPr>
          <p:nvPr/>
        </p:nvSpPr>
        <p:spPr bwMode="auto">
          <a:xfrm>
            <a:off x="5795963" y="5634038"/>
            <a:ext cx="608012"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720</a:t>
            </a:r>
          </a:p>
        </p:txBody>
      </p:sp>
      <p:sp>
        <p:nvSpPr>
          <p:cNvPr id="256008" name="Line 8"/>
          <p:cNvSpPr>
            <a:spLocks noChangeShapeType="1"/>
          </p:cNvSpPr>
          <p:nvPr/>
        </p:nvSpPr>
        <p:spPr bwMode="auto">
          <a:xfrm flipH="1" flipV="1">
            <a:off x="1908175" y="1628775"/>
            <a:ext cx="4032250" cy="3954463"/>
          </a:xfrm>
          <a:prstGeom prst="line">
            <a:avLst/>
          </a:prstGeom>
          <a:noFill/>
          <a:ln w="9525">
            <a:solidFill>
              <a:srgbClr val="4B1500"/>
            </a:solidFill>
            <a:round/>
            <a:headEnd/>
            <a:tailEnd/>
          </a:ln>
          <a:effectLst/>
        </p:spPr>
        <p:txBody>
          <a:bodyPr/>
          <a:lstStyle/>
          <a:p>
            <a:endParaRPr lang="en-US"/>
          </a:p>
        </p:txBody>
      </p:sp>
      <p:sp>
        <p:nvSpPr>
          <p:cNvPr id="256009" name="Text Box 9"/>
          <p:cNvSpPr txBox="1">
            <a:spLocks noChangeArrowheads="1"/>
          </p:cNvSpPr>
          <p:nvPr/>
        </p:nvSpPr>
        <p:spPr bwMode="auto">
          <a:xfrm>
            <a:off x="971550" y="1411288"/>
            <a:ext cx="890588"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10800</a:t>
            </a:r>
          </a:p>
        </p:txBody>
      </p:sp>
      <p:sp>
        <p:nvSpPr>
          <p:cNvPr id="256012" name="Rectangle 12"/>
          <p:cNvSpPr>
            <a:spLocks noGrp="1" noChangeArrowheads="1"/>
          </p:cNvSpPr>
          <p:nvPr>
            <p:ph type="title"/>
          </p:nvPr>
        </p:nvSpPr>
        <p:spPr>
          <a:xfrm>
            <a:off x="611188" y="260350"/>
            <a:ext cx="7772400" cy="865188"/>
          </a:xfrm>
          <a:noFill/>
          <a:ln/>
        </p:spPr>
        <p:txBody>
          <a:bodyPr/>
          <a:lstStyle/>
          <a:p>
            <a:r>
              <a:rPr lang="en-US" sz="3600"/>
              <a:t>Work Incentives: mathematical example</a:t>
            </a:r>
          </a:p>
        </p:txBody>
      </p:sp>
      <p:sp>
        <p:nvSpPr>
          <p:cNvPr id="256013" name="Arc 13"/>
          <p:cNvSpPr>
            <a:spLocks/>
          </p:cNvSpPr>
          <p:nvPr/>
        </p:nvSpPr>
        <p:spPr bwMode="auto">
          <a:xfrm rot="10391039">
            <a:off x="4356100" y="2997200"/>
            <a:ext cx="1766888" cy="215106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ffectLst/>
        </p:spPr>
        <p:txBody>
          <a:bodyPr rot="10800000" wrap="none" anchor="ctr"/>
          <a:lstStyle/>
          <a:p>
            <a:pPr algn="ctr">
              <a:spcBef>
                <a:spcPct val="0"/>
              </a:spcBef>
              <a:buFontTx/>
              <a:buNone/>
            </a:pPr>
            <a:endParaRPr lang="en-US">
              <a:latin typeface="Arial" charset="0"/>
            </a:endParaRPr>
          </a:p>
        </p:txBody>
      </p:sp>
      <p:sp>
        <p:nvSpPr>
          <p:cNvPr id="256014" name="Text Box 14"/>
          <p:cNvSpPr txBox="1">
            <a:spLocks noChangeArrowheads="1"/>
          </p:cNvSpPr>
          <p:nvPr/>
        </p:nvSpPr>
        <p:spPr bwMode="auto">
          <a:xfrm>
            <a:off x="4427538" y="5661025"/>
            <a:ext cx="608012"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600</a:t>
            </a:r>
          </a:p>
        </p:txBody>
      </p:sp>
      <p:sp>
        <p:nvSpPr>
          <p:cNvPr id="256015" name="Line 15"/>
          <p:cNvSpPr>
            <a:spLocks noChangeShapeType="1"/>
          </p:cNvSpPr>
          <p:nvPr/>
        </p:nvSpPr>
        <p:spPr bwMode="auto">
          <a:xfrm>
            <a:off x="4787900" y="4508500"/>
            <a:ext cx="0" cy="1081088"/>
          </a:xfrm>
          <a:prstGeom prst="line">
            <a:avLst/>
          </a:prstGeom>
          <a:noFill/>
          <a:ln w="9525">
            <a:solidFill>
              <a:schemeClr val="tx1"/>
            </a:solidFill>
            <a:prstDash val="dash"/>
            <a:round/>
            <a:headEnd/>
            <a:tailEnd/>
          </a:ln>
          <a:effectLst/>
        </p:spPr>
        <p:txBody>
          <a:bodyPr/>
          <a:lstStyle/>
          <a:p>
            <a:endParaRPr lang="en-US"/>
          </a:p>
        </p:txBody>
      </p:sp>
      <p:sp>
        <p:nvSpPr>
          <p:cNvPr id="256016" name="Line 16"/>
          <p:cNvSpPr>
            <a:spLocks noChangeShapeType="1"/>
          </p:cNvSpPr>
          <p:nvPr/>
        </p:nvSpPr>
        <p:spPr bwMode="auto">
          <a:xfrm flipH="1">
            <a:off x="1908175" y="4508500"/>
            <a:ext cx="2879725" cy="0"/>
          </a:xfrm>
          <a:prstGeom prst="line">
            <a:avLst/>
          </a:prstGeom>
          <a:noFill/>
          <a:ln w="19050">
            <a:solidFill>
              <a:schemeClr val="tx1"/>
            </a:solidFill>
            <a:prstDash val="dash"/>
            <a:round/>
            <a:headEnd/>
            <a:tailEnd/>
          </a:ln>
          <a:effectLst/>
        </p:spPr>
        <p:txBody>
          <a:bodyPr/>
          <a:lstStyle/>
          <a:p>
            <a:endParaRPr lang="en-US"/>
          </a:p>
        </p:txBody>
      </p:sp>
      <p:sp>
        <p:nvSpPr>
          <p:cNvPr id="256017" name="Text Box 17"/>
          <p:cNvSpPr txBox="1">
            <a:spLocks noChangeArrowheads="1"/>
          </p:cNvSpPr>
          <p:nvPr/>
        </p:nvSpPr>
        <p:spPr bwMode="auto">
          <a:xfrm>
            <a:off x="1042988" y="4149725"/>
            <a:ext cx="74930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1800</a:t>
            </a:r>
          </a:p>
        </p:txBody>
      </p:sp>
      <p:sp>
        <p:nvSpPr>
          <p:cNvPr id="256018" name="Line 18"/>
          <p:cNvSpPr>
            <a:spLocks noChangeShapeType="1"/>
          </p:cNvSpPr>
          <p:nvPr/>
        </p:nvSpPr>
        <p:spPr bwMode="auto">
          <a:xfrm>
            <a:off x="3995738" y="3644900"/>
            <a:ext cx="0" cy="1944688"/>
          </a:xfrm>
          <a:prstGeom prst="line">
            <a:avLst/>
          </a:prstGeom>
          <a:noFill/>
          <a:ln w="9525">
            <a:solidFill>
              <a:schemeClr val="tx1"/>
            </a:solidFill>
            <a:prstDash val="dash"/>
            <a:round/>
            <a:headEnd/>
            <a:tailEnd/>
          </a:ln>
          <a:effectLst/>
        </p:spPr>
        <p:txBody>
          <a:bodyPr/>
          <a:lstStyle/>
          <a:p>
            <a:endParaRPr lang="en-US"/>
          </a:p>
        </p:txBody>
      </p:sp>
      <p:sp>
        <p:nvSpPr>
          <p:cNvPr id="256019" name="Text Box 19"/>
          <p:cNvSpPr txBox="1">
            <a:spLocks noChangeArrowheads="1"/>
          </p:cNvSpPr>
          <p:nvPr/>
        </p:nvSpPr>
        <p:spPr bwMode="auto">
          <a:xfrm>
            <a:off x="3563938" y="5661025"/>
            <a:ext cx="608012"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420</a:t>
            </a:r>
          </a:p>
        </p:txBody>
      </p:sp>
      <p:sp>
        <p:nvSpPr>
          <p:cNvPr id="256020" name="Line 20"/>
          <p:cNvSpPr>
            <a:spLocks noChangeShapeType="1"/>
          </p:cNvSpPr>
          <p:nvPr/>
        </p:nvSpPr>
        <p:spPr bwMode="auto">
          <a:xfrm flipH="1">
            <a:off x="1908175" y="3644900"/>
            <a:ext cx="2087563" cy="0"/>
          </a:xfrm>
          <a:prstGeom prst="line">
            <a:avLst/>
          </a:prstGeom>
          <a:noFill/>
          <a:ln w="19050">
            <a:solidFill>
              <a:schemeClr val="tx1"/>
            </a:solidFill>
            <a:prstDash val="dash"/>
            <a:round/>
            <a:headEnd/>
            <a:tailEnd/>
          </a:ln>
          <a:effectLst/>
        </p:spPr>
        <p:txBody>
          <a:bodyPr/>
          <a:lstStyle/>
          <a:p>
            <a:endParaRPr lang="en-US"/>
          </a:p>
        </p:txBody>
      </p:sp>
      <p:sp>
        <p:nvSpPr>
          <p:cNvPr id="256021" name="Text Box 21"/>
          <p:cNvSpPr txBox="1">
            <a:spLocks noChangeArrowheads="1"/>
          </p:cNvSpPr>
          <p:nvPr/>
        </p:nvSpPr>
        <p:spPr bwMode="auto">
          <a:xfrm>
            <a:off x="971550" y="3500438"/>
            <a:ext cx="74930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4500</a:t>
            </a:r>
          </a:p>
        </p:txBody>
      </p:sp>
      <p:sp>
        <p:nvSpPr>
          <p:cNvPr id="256024" name="Line 24"/>
          <p:cNvSpPr>
            <a:spLocks noChangeShapeType="1"/>
          </p:cNvSpPr>
          <p:nvPr/>
        </p:nvSpPr>
        <p:spPr bwMode="auto">
          <a:xfrm>
            <a:off x="1908175" y="1628775"/>
            <a:ext cx="2087563" cy="2087563"/>
          </a:xfrm>
          <a:prstGeom prst="line">
            <a:avLst/>
          </a:prstGeom>
          <a:noFill/>
          <a:ln w="38100">
            <a:solidFill>
              <a:schemeClr val="accent2"/>
            </a:solidFill>
            <a:round/>
            <a:headEnd/>
            <a:tailEnd/>
          </a:ln>
          <a:effectLst/>
        </p:spPr>
        <p:txBody>
          <a:bodyPr/>
          <a:lstStyle/>
          <a:p>
            <a:endParaRPr lang="en-US"/>
          </a:p>
        </p:txBody>
      </p:sp>
      <p:sp>
        <p:nvSpPr>
          <p:cNvPr id="256025" name="Line 25"/>
          <p:cNvSpPr>
            <a:spLocks noChangeShapeType="1"/>
          </p:cNvSpPr>
          <p:nvPr/>
        </p:nvSpPr>
        <p:spPr bwMode="auto">
          <a:xfrm>
            <a:off x="3995738" y="3716338"/>
            <a:ext cx="1944687" cy="1368425"/>
          </a:xfrm>
          <a:prstGeom prst="line">
            <a:avLst/>
          </a:prstGeom>
          <a:noFill/>
          <a:ln w="38100">
            <a:solidFill>
              <a:srgbClr val="FF3300"/>
            </a:solidFill>
            <a:round/>
            <a:headEnd/>
            <a:tailEnd/>
          </a:ln>
          <a:effectLst/>
        </p:spPr>
        <p:txBody>
          <a:bodyPr/>
          <a:lstStyle/>
          <a:p>
            <a:endParaRPr lang="en-US"/>
          </a:p>
        </p:txBody>
      </p:sp>
      <p:sp>
        <p:nvSpPr>
          <p:cNvPr id="256026" name="Line 26"/>
          <p:cNvSpPr>
            <a:spLocks noChangeShapeType="1"/>
          </p:cNvSpPr>
          <p:nvPr/>
        </p:nvSpPr>
        <p:spPr bwMode="auto">
          <a:xfrm flipH="1">
            <a:off x="1908175" y="5084763"/>
            <a:ext cx="4032250" cy="0"/>
          </a:xfrm>
          <a:prstGeom prst="line">
            <a:avLst/>
          </a:prstGeom>
          <a:noFill/>
          <a:ln w="19050">
            <a:solidFill>
              <a:schemeClr val="tx1"/>
            </a:solidFill>
            <a:prstDash val="dash"/>
            <a:round/>
            <a:headEnd/>
            <a:tailEnd/>
          </a:ln>
          <a:effectLst/>
        </p:spPr>
        <p:txBody>
          <a:bodyPr/>
          <a:lstStyle/>
          <a:p>
            <a:endParaRPr lang="en-US"/>
          </a:p>
        </p:txBody>
      </p:sp>
      <p:sp>
        <p:nvSpPr>
          <p:cNvPr id="256027" name="Text Box 27"/>
          <p:cNvSpPr txBox="1">
            <a:spLocks noChangeArrowheads="1"/>
          </p:cNvSpPr>
          <p:nvPr/>
        </p:nvSpPr>
        <p:spPr bwMode="auto">
          <a:xfrm>
            <a:off x="1187450" y="5013325"/>
            <a:ext cx="608013"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450</a:t>
            </a:r>
          </a:p>
        </p:txBody>
      </p:sp>
      <p:sp>
        <p:nvSpPr>
          <p:cNvPr id="256028" name="Line 28"/>
          <p:cNvSpPr>
            <a:spLocks noChangeShapeType="1"/>
          </p:cNvSpPr>
          <p:nvPr/>
        </p:nvSpPr>
        <p:spPr bwMode="auto">
          <a:xfrm>
            <a:off x="5940425" y="5084763"/>
            <a:ext cx="0" cy="504825"/>
          </a:xfrm>
          <a:prstGeom prst="line">
            <a:avLst/>
          </a:prstGeom>
          <a:noFill/>
          <a:ln w="9525">
            <a:solidFill>
              <a:schemeClr val="tx1"/>
            </a:solidFill>
            <a:prstDash val="dash"/>
            <a:round/>
            <a:headEnd/>
            <a:tailEnd/>
          </a:ln>
          <a:effectLst/>
        </p:spPr>
        <p:txBody>
          <a:bodyPr/>
          <a:lstStyle/>
          <a:p>
            <a:endParaRPr lang="en-US"/>
          </a:p>
        </p:txBody>
      </p:sp>
      <p:sp>
        <p:nvSpPr>
          <p:cNvPr id="256030" name="Line 30"/>
          <p:cNvSpPr>
            <a:spLocks noChangeShapeType="1"/>
          </p:cNvSpPr>
          <p:nvPr/>
        </p:nvSpPr>
        <p:spPr bwMode="auto">
          <a:xfrm>
            <a:off x="5508625" y="4724400"/>
            <a:ext cx="0" cy="1439863"/>
          </a:xfrm>
          <a:prstGeom prst="line">
            <a:avLst/>
          </a:prstGeom>
          <a:noFill/>
          <a:ln w="9525">
            <a:solidFill>
              <a:schemeClr val="tx1"/>
            </a:solidFill>
            <a:prstDash val="dash"/>
            <a:round/>
            <a:headEnd/>
            <a:tailEnd/>
          </a:ln>
          <a:effectLst/>
        </p:spPr>
        <p:txBody>
          <a:bodyPr/>
          <a:lstStyle/>
          <a:p>
            <a:endParaRPr lang="en-US"/>
          </a:p>
        </p:txBody>
      </p:sp>
      <p:sp>
        <p:nvSpPr>
          <p:cNvPr id="256031" name="Text Box 31"/>
          <p:cNvSpPr txBox="1">
            <a:spLocks noChangeArrowheads="1"/>
          </p:cNvSpPr>
          <p:nvPr/>
        </p:nvSpPr>
        <p:spPr bwMode="auto">
          <a:xfrm>
            <a:off x="4932363" y="6165850"/>
            <a:ext cx="1030287"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666,2/3</a:t>
            </a:r>
          </a:p>
        </p:txBody>
      </p:sp>
      <p:sp>
        <p:nvSpPr>
          <p:cNvPr id="256032" name="Arc 32"/>
          <p:cNvSpPr>
            <a:spLocks/>
          </p:cNvSpPr>
          <p:nvPr/>
        </p:nvSpPr>
        <p:spPr bwMode="auto">
          <a:xfrm rot="9659539">
            <a:off x="4787900" y="3068638"/>
            <a:ext cx="1766888" cy="2117725"/>
          </a:xfrm>
          <a:custGeom>
            <a:avLst/>
            <a:gdLst>
              <a:gd name="G0" fmla="+- 0 0 0"/>
              <a:gd name="G1" fmla="+- 21273 0 0"/>
              <a:gd name="G2" fmla="+- 21600 0 0"/>
              <a:gd name="T0" fmla="*/ 3746 w 21600"/>
              <a:gd name="T1" fmla="*/ 0 h 21273"/>
              <a:gd name="T2" fmla="*/ 21600 w 21600"/>
              <a:gd name="T3" fmla="*/ 21273 h 21273"/>
              <a:gd name="T4" fmla="*/ 0 w 21600"/>
              <a:gd name="T5" fmla="*/ 21273 h 21273"/>
            </a:gdLst>
            <a:ahLst/>
            <a:cxnLst>
              <a:cxn ang="0">
                <a:pos x="T0" y="T1"/>
              </a:cxn>
              <a:cxn ang="0">
                <a:pos x="T2" y="T3"/>
              </a:cxn>
              <a:cxn ang="0">
                <a:pos x="T4" y="T5"/>
              </a:cxn>
            </a:cxnLst>
            <a:rect l="0" t="0" r="r" b="b"/>
            <a:pathLst>
              <a:path w="21600" h="21273" fill="none" extrusionOk="0">
                <a:moveTo>
                  <a:pt x="3745" y="0"/>
                </a:moveTo>
                <a:cubicBezTo>
                  <a:pt x="14071" y="1818"/>
                  <a:pt x="21600" y="10788"/>
                  <a:pt x="21600" y="21273"/>
                </a:cubicBezTo>
              </a:path>
              <a:path w="21600" h="21273" stroke="0" extrusionOk="0">
                <a:moveTo>
                  <a:pt x="3745" y="0"/>
                </a:moveTo>
                <a:cubicBezTo>
                  <a:pt x="14071" y="1818"/>
                  <a:pt x="21600" y="10788"/>
                  <a:pt x="21600" y="21273"/>
                </a:cubicBezTo>
                <a:lnTo>
                  <a:pt x="0" y="21273"/>
                </a:lnTo>
                <a:close/>
              </a:path>
            </a:pathLst>
          </a:custGeom>
          <a:noFill/>
          <a:ln w="28575">
            <a:solidFill>
              <a:schemeClr val="tx1"/>
            </a:solidFill>
            <a:round/>
            <a:headEnd/>
            <a:tailEnd/>
          </a:ln>
          <a:effectLst/>
        </p:spPr>
        <p:txBody>
          <a:bodyPr rot="10800000" wrap="none" anchor="ctr"/>
          <a:lstStyle/>
          <a:p>
            <a:pPr algn="ctr">
              <a:spcBef>
                <a:spcPct val="0"/>
              </a:spcBef>
              <a:buFontTx/>
              <a:buNone/>
            </a:pPr>
            <a:endParaRPr lang="en-US">
              <a:latin typeface="Arial" charset="0"/>
            </a:endParaRPr>
          </a:p>
        </p:txBody>
      </p:sp>
      <p:sp>
        <p:nvSpPr>
          <p:cNvPr id="256033" name="Line 33"/>
          <p:cNvSpPr>
            <a:spLocks noChangeShapeType="1"/>
          </p:cNvSpPr>
          <p:nvPr/>
        </p:nvSpPr>
        <p:spPr bwMode="auto">
          <a:xfrm flipH="1" flipV="1">
            <a:off x="1116013" y="4724400"/>
            <a:ext cx="4464050" cy="0"/>
          </a:xfrm>
          <a:prstGeom prst="line">
            <a:avLst/>
          </a:prstGeom>
          <a:noFill/>
          <a:ln w="19050">
            <a:solidFill>
              <a:schemeClr val="tx1"/>
            </a:solidFill>
            <a:prstDash val="dash"/>
            <a:round/>
            <a:headEnd/>
            <a:tailEnd/>
          </a:ln>
          <a:effectLst/>
        </p:spPr>
        <p:txBody>
          <a:bodyPr/>
          <a:lstStyle/>
          <a:p>
            <a:endParaRPr lang="en-US"/>
          </a:p>
        </p:txBody>
      </p:sp>
      <p:sp>
        <p:nvSpPr>
          <p:cNvPr id="256034" name="Text Box 34"/>
          <p:cNvSpPr txBox="1">
            <a:spLocks noChangeArrowheads="1"/>
          </p:cNvSpPr>
          <p:nvPr/>
        </p:nvSpPr>
        <p:spPr bwMode="auto">
          <a:xfrm>
            <a:off x="250825" y="4581525"/>
            <a:ext cx="749300" cy="396875"/>
          </a:xfrm>
          <a:prstGeom prst="rect">
            <a:avLst/>
          </a:prstGeom>
          <a:noFill/>
          <a:ln w="9525">
            <a:noFill/>
            <a:miter lim="800000"/>
            <a:headEnd/>
            <a:tailEnd/>
          </a:ln>
          <a:effectLst/>
        </p:spPr>
        <p:txBody>
          <a:bodyPr wrap="none">
            <a:spAutoFit/>
          </a:bodyPr>
          <a:lstStyle/>
          <a:p>
            <a:pPr>
              <a:spcBef>
                <a:spcPct val="0"/>
              </a:spcBef>
              <a:buFontTx/>
              <a:buNone/>
            </a:pPr>
            <a:r>
              <a:rPr lang="en-US">
                <a:solidFill>
                  <a:schemeClr val="tx2"/>
                </a:solidFill>
                <a:latin typeface="Arial" charset="0"/>
              </a:rPr>
              <a:t>1170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56032"/>
                                        </p:tgtEl>
                                        <p:attrNameLst>
                                          <p:attrName>style.visibility</p:attrName>
                                        </p:attrNameLst>
                                      </p:cBhvr>
                                      <p:to>
                                        <p:strVal val="visible"/>
                                      </p:to>
                                    </p:set>
                                    <p:animEffect transition="in" filter="wipe(up)">
                                      <p:cBhvr>
                                        <p:cTn id="7" dur="1000"/>
                                        <p:tgtEl>
                                          <p:spTgt spid="256032"/>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56030"/>
                                        </p:tgtEl>
                                        <p:attrNameLst>
                                          <p:attrName>style.visibility</p:attrName>
                                        </p:attrNameLst>
                                      </p:cBhvr>
                                      <p:to>
                                        <p:strVal val="visible"/>
                                      </p:to>
                                    </p:set>
                                    <p:animEffect transition="in" filter="wipe(up)">
                                      <p:cBhvr>
                                        <p:cTn id="11" dur="1000"/>
                                        <p:tgtEl>
                                          <p:spTgt spid="256030"/>
                                        </p:tgtEl>
                                      </p:cBhvr>
                                    </p:animEffect>
                                  </p:childTnLst>
                                </p:cTn>
                              </p:par>
                              <p:par>
                                <p:cTn id="12" presetID="22" presetClass="entr" presetSubtype="2" fill="hold" grpId="0" nodeType="withEffect">
                                  <p:stCondLst>
                                    <p:cond delay="0"/>
                                  </p:stCondLst>
                                  <p:childTnLst>
                                    <p:set>
                                      <p:cBhvr>
                                        <p:cTn id="13" dur="1" fill="hold">
                                          <p:stCondLst>
                                            <p:cond delay="0"/>
                                          </p:stCondLst>
                                        </p:cTn>
                                        <p:tgtEl>
                                          <p:spTgt spid="256033"/>
                                        </p:tgtEl>
                                        <p:attrNameLst>
                                          <p:attrName>style.visibility</p:attrName>
                                        </p:attrNameLst>
                                      </p:cBhvr>
                                      <p:to>
                                        <p:strVal val="visible"/>
                                      </p:to>
                                    </p:set>
                                    <p:animEffect transition="in" filter="wipe(right)">
                                      <p:cBhvr>
                                        <p:cTn id="14" dur="1000"/>
                                        <p:tgtEl>
                                          <p:spTgt spid="256033"/>
                                        </p:tgtEl>
                                      </p:cBhvr>
                                    </p:animEffect>
                                  </p:childTnLst>
                                </p:cTn>
                              </p:par>
                            </p:childTnLst>
                          </p:cTn>
                        </p:par>
                        <p:par>
                          <p:cTn id="15" fill="hold">
                            <p:stCondLst>
                              <p:cond delay="2000"/>
                            </p:stCondLst>
                            <p:childTnLst>
                              <p:par>
                                <p:cTn id="16" presetID="1" presetClass="entr" presetSubtype="0" fill="hold" grpId="0" nodeType="afterEffect">
                                  <p:stCondLst>
                                    <p:cond delay="0"/>
                                  </p:stCondLst>
                                  <p:childTnLst>
                                    <p:set>
                                      <p:cBhvr>
                                        <p:cTn id="17" dur="1" fill="hold">
                                          <p:stCondLst>
                                            <p:cond delay="0"/>
                                          </p:stCondLst>
                                        </p:cTn>
                                        <p:tgtEl>
                                          <p:spTgt spid="256031"/>
                                        </p:tgtEl>
                                        <p:attrNameLst>
                                          <p:attrName>style.visibility</p:attrName>
                                        </p:attrNameLst>
                                      </p:cBhvr>
                                      <p:to>
                                        <p:strVal val="visible"/>
                                      </p:to>
                                    </p:set>
                                  </p:childTnLst>
                                </p:cTn>
                              </p:par>
                            </p:childTnLst>
                          </p:cTn>
                        </p:par>
                        <p:par>
                          <p:cTn id="18" fill="hold">
                            <p:stCondLst>
                              <p:cond delay="2000"/>
                            </p:stCondLst>
                            <p:childTnLst>
                              <p:par>
                                <p:cTn id="19" presetID="1" presetClass="entr" presetSubtype="0" fill="hold" grpId="0" nodeType="afterEffect">
                                  <p:stCondLst>
                                    <p:cond delay="0"/>
                                  </p:stCondLst>
                                  <p:childTnLst>
                                    <p:set>
                                      <p:cBhvr>
                                        <p:cTn id="20" dur="1" fill="hold">
                                          <p:stCondLst>
                                            <p:cond delay="0"/>
                                          </p:stCondLst>
                                        </p:cTn>
                                        <p:tgtEl>
                                          <p:spTgt spid="2560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0" grpId="0" animBg="1"/>
      <p:bldP spid="256031" grpId="0"/>
      <p:bldP spid="256032" grpId="0" animBg="1"/>
      <p:bldP spid="256033" grpId="0" animBg="1"/>
      <p:bldP spid="25603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fld id="{0E246905-BCD9-4E9E-8DC3-8ADBE85CAE78}" type="slidenum">
              <a:rPr lang="en-GB"/>
              <a:pPr/>
              <a:t>51</a:t>
            </a:fld>
            <a:endParaRPr lang="en-GB"/>
          </a:p>
        </p:txBody>
      </p:sp>
      <p:sp>
        <p:nvSpPr>
          <p:cNvPr id="253954" name="Rectangle 2"/>
          <p:cNvSpPr>
            <a:spLocks noGrp="1" noChangeArrowheads="1"/>
          </p:cNvSpPr>
          <p:nvPr>
            <p:ph type="title"/>
          </p:nvPr>
        </p:nvSpPr>
        <p:spPr>
          <a:xfrm>
            <a:off x="611188" y="260350"/>
            <a:ext cx="7772400" cy="865188"/>
          </a:xfrm>
        </p:spPr>
        <p:txBody>
          <a:bodyPr/>
          <a:lstStyle/>
          <a:p>
            <a:r>
              <a:rPr lang="en-US" sz="3600"/>
              <a:t>Work Incentives: mathematical example</a:t>
            </a:r>
          </a:p>
        </p:txBody>
      </p:sp>
      <p:sp>
        <p:nvSpPr>
          <p:cNvPr id="253955" name="Rectangle 3"/>
          <p:cNvSpPr>
            <a:spLocks noGrp="1" noChangeArrowheads="1"/>
          </p:cNvSpPr>
          <p:nvPr>
            <p:ph type="body" sz="half" idx="1"/>
          </p:nvPr>
        </p:nvSpPr>
        <p:spPr>
          <a:xfrm>
            <a:off x="684213" y="1268413"/>
            <a:ext cx="8134350" cy="4899025"/>
          </a:xfrm>
        </p:spPr>
        <p:txBody>
          <a:bodyPr/>
          <a:lstStyle/>
          <a:p>
            <a:pPr marL="449263" indent="-449263">
              <a:lnSpc>
                <a:spcPct val="90000"/>
              </a:lnSpc>
              <a:buFontTx/>
              <a:buNone/>
            </a:pPr>
            <a:r>
              <a:rPr lang="en-US" sz="2400"/>
              <a:t>Comparing before and after implementing benefit program</a:t>
            </a:r>
          </a:p>
          <a:p>
            <a:pPr marL="449263" indent="-449263">
              <a:lnSpc>
                <a:spcPct val="90000"/>
              </a:lnSpc>
              <a:buFontTx/>
              <a:buNone/>
            </a:pPr>
            <a:r>
              <a:rPr lang="en-US" sz="2400"/>
              <a:t>Before:</a:t>
            </a:r>
          </a:p>
          <a:p>
            <a:pPr marL="449263" indent="-449263">
              <a:lnSpc>
                <a:spcPct val="90000"/>
              </a:lnSpc>
            </a:pPr>
            <a:r>
              <a:rPr lang="en-US" sz="2400"/>
              <a:t>L = 600, so hours worked = 120</a:t>
            </a:r>
          </a:p>
          <a:p>
            <a:pPr marL="449263" indent="-449263">
              <a:lnSpc>
                <a:spcPct val="90000"/>
              </a:lnSpc>
            </a:pPr>
            <a:r>
              <a:rPr lang="en-US" sz="2400"/>
              <a:t>Y = 1800</a:t>
            </a:r>
          </a:p>
          <a:p>
            <a:pPr marL="449263" indent="-449263">
              <a:lnSpc>
                <a:spcPct val="90000"/>
              </a:lnSpc>
            </a:pPr>
            <a:r>
              <a:rPr lang="en-US" sz="2400"/>
              <a:t>Utility U = 59372.4</a:t>
            </a:r>
          </a:p>
          <a:p>
            <a:pPr marL="449263" indent="-449263">
              <a:lnSpc>
                <a:spcPct val="90000"/>
              </a:lnSpc>
              <a:buFontTx/>
              <a:buNone/>
            </a:pPr>
            <a:endParaRPr lang="en-US" sz="1000"/>
          </a:p>
          <a:p>
            <a:pPr marL="449263" indent="-449263">
              <a:lnSpc>
                <a:spcPct val="90000"/>
              </a:lnSpc>
              <a:buFontTx/>
              <a:buNone/>
            </a:pPr>
            <a:r>
              <a:rPr lang="en-US" sz="2400"/>
              <a:t>After: </a:t>
            </a:r>
          </a:p>
          <a:p>
            <a:pPr marL="449263" indent="-449263">
              <a:lnSpc>
                <a:spcPct val="90000"/>
              </a:lnSpc>
            </a:pPr>
            <a:r>
              <a:rPr lang="en-US" sz="2400"/>
              <a:t>L = 666,2/3, so hours worked 53,1/3</a:t>
            </a:r>
          </a:p>
          <a:p>
            <a:pPr marL="449263" indent="-449263">
              <a:lnSpc>
                <a:spcPct val="90000"/>
              </a:lnSpc>
            </a:pPr>
            <a:r>
              <a:rPr lang="en-US" sz="2400"/>
              <a:t>Earnings 53,1/3 x 15 = 800</a:t>
            </a:r>
          </a:p>
          <a:p>
            <a:pPr marL="449263" indent="-449263">
              <a:lnSpc>
                <a:spcPct val="90000"/>
              </a:lnSpc>
            </a:pPr>
            <a:r>
              <a:rPr lang="en-US" sz="2400"/>
              <a:t>Benefit received = 450 – 0.1 x 800 = 370</a:t>
            </a:r>
          </a:p>
          <a:p>
            <a:pPr marL="449263" indent="-449263">
              <a:lnSpc>
                <a:spcPct val="90000"/>
              </a:lnSpc>
              <a:buFont typeface="Wingdings" pitchFamily="2" charset="2"/>
              <a:buChar char="à"/>
            </a:pPr>
            <a:r>
              <a:rPr lang="en-US" sz="2400">
                <a:sym typeface="Wingdings" pitchFamily="2" charset="2"/>
              </a:rPr>
              <a:t>Y = 800 + 370 = 1170</a:t>
            </a:r>
          </a:p>
          <a:p>
            <a:pPr marL="449263" indent="-449263">
              <a:lnSpc>
                <a:spcPct val="90000"/>
              </a:lnSpc>
            </a:pPr>
            <a:r>
              <a:rPr lang="en-US" sz="2400">
                <a:cs typeface="Times New Roman" pitchFamily="18" charset="0"/>
              </a:rPr>
              <a:t>Utility U = 59690.6</a:t>
            </a:r>
            <a:endParaRPr lang="en-US"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395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395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395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395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395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395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395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3955">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53955">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395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fld id="{0E246905-BCD9-4E9E-8DC3-8ADBE85CAE78}" type="slidenum">
              <a:rPr lang="en-GB"/>
              <a:pPr/>
              <a:t>52</a:t>
            </a:fld>
            <a:endParaRPr lang="en-GB"/>
          </a:p>
        </p:txBody>
      </p:sp>
      <p:sp>
        <p:nvSpPr>
          <p:cNvPr id="253954" name="Rectangle 2"/>
          <p:cNvSpPr>
            <a:spLocks noGrp="1" noChangeArrowheads="1"/>
          </p:cNvSpPr>
          <p:nvPr>
            <p:ph type="title"/>
          </p:nvPr>
        </p:nvSpPr>
        <p:spPr>
          <a:xfrm>
            <a:off x="611188" y="260350"/>
            <a:ext cx="7772400" cy="865188"/>
          </a:xfrm>
        </p:spPr>
        <p:txBody>
          <a:bodyPr/>
          <a:lstStyle/>
          <a:p>
            <a:r>
              <a:rPr lang="en-US" sz="3600"/>
              <a:t>Work Incentives: mathematical example</a:t>
            </a:r>
          </a:p>
        </p:txBody>
      </p:sp>
      <p:sp>
        <p:nvSpPr>
          <p:cNvPr id="253955" name="Rectangle 3"/>
          <p:cNvSpPr>
            <a:spLocks noGrp="1" noChangeArrowheads="1"/>
          </p:cNvSpPr>
          <p:nvPr>
            <p:ph type="body" sz="half" idx="1"/>
          </p:nvPr>
        </p:nvSpPr>
        <p:spPr>
          <a:xfrm>
            <a:off x="684213" y="1268413"/>
            <a:ext cx="8134350" cy="4899025"/>
          </a:xfrm>
        </p:spPr>
        <p:txBody>
          <a:bodyPr/>
          <a:lstStyle/>
          <a:p>
            <a:pPr marL="449263" indent="-449263">
              <a:lnSpc>
                <a:spcPct val="90000"/>
              </a:lnSpc>
              <a:buFontTx/>
              <a:buNone/>
            </a:pPr>
            <a:r>
              <a:rPr lang="en-US" sz="2400" dirty="0"/>
              <a:t>Comparing before and after implementing benefit program</a:t>
            </a:r>
          </a:p>
          <a:p>
            <a:pPr marL="449263" indent="-449263">
              <a:lnSpc>
                <a:spcPct val="90000"/>
              </a:lnSpc>
              <a:buFontTx/>
              <a:buNone/>
            </a:pPr>
            <a:endParaRPr lang="en-US" sz="2400" dirty="0"/>
          </a:p>
          <a:p>
            <a:pPr marL="449263" indent="-449263">
              <a:lnSpc>
                <a:spcPct val="90000"/>
              </a:lnSpc>
              <a:buFontTx/>
              <a:buNone/>
            </a:pPr>
            <a:r>
              <a:rPr lang="en-US" sz="2400" dirty="0"/>
              <a:t>Before: L = 600, Y = 1800, U = 59372.4</a:t>
            </a:r>
          </a:p>
          <a:p>
            <a:pPr marL="449263" indent="-449263">
              <a:lnSpc>
                <a:spcPct val="90000"/>
              </a:lnSpc>
              <a:buFontTx/>
              <a:buNone/>
            </a:pPr>
            <a:endParaRPr lang="en-US" sz="1000" dirty="0"/>
          </a:p>
          <a:p>
            <a:pPr marL="449263" indent="-449263">
              <a:lnSpc>
                <a:spcPct val="90000"/>
              </a:lnSpc>
              <a:buFontTx/>
              <a:buNone/>
            </a:pPr>
            <a:r>
              <a:rPr lang="en-US" sz="2400" dirty="0"/>
              <a:t>After: L = 666,2/3,  B=370, Y </a:t>
            </a:r>
            <a:r>
              <a:rPr lang="en-US" sz="2400" dirty="0">
                <a:sym typeface="Wingdings" pitchFamily="2" charset="2"/>
              </a:rPr>
              <a:t>= 1170, </a:t>
            </a:r>
            <a:r>
              <a:rPr lang="en-US" sz="2400" dirty="0">
                <a:cs typeface="Times New Roman" pitchFamily="18" charset="0"/>
              </a:rPr>
              <a:t>Utility U = 59690.6</a:t>
            </a:r>
          </a:p>
          <a:p>
            <a:pPr marL="449263" indent="-449263">
              <a:lnSpc>
                <a:spcPct val="90000"/>
              </a:lnSpc>
              <a:buFontTx/>
              <a:buNone/>
            </a:pPr>
            <a:endParaRPr lang="en-US" sz="2400" dirty="0">
              <a:cs typeface="Times New Roman" pitchFamily="18" charset="0"/>
            </a:endParaRPr>
          </a:p>
          <a:p>
            <a:pPr marL="449263" indent="-449263">
              <a:lnSpc>
                <a:spcPct val="90000"/>
              </a:lnSpc>
              <a:buFontTx/>
              <a:buNone/>
            </a:pPr>
            <a:r>
              <a:rPr lang="en-US" sz="2400" dirty="0">
                <a:cs typeface="Times New Roman" pitchFamily="18" charset="0"/>
              </a:rPr>
              <a:t>Now suppose it would be possible to transfer B = 370 directly to individual, without affecting net benefit of work</a:t>
            </a:r>
          </a:p>
          <a:p>
            <a:pPr marL="449263" indent="-449263">
              <a:lnSpc>
                <a:spcPct val="90000"/>
              </a:lnSpc>
              <a:buFontTx/>
              <a:buNone/>
            </a:pPr>
            <a:endParaRPr lang="en-US" sz="2400" dirty="0">
              <a:cs typeface="Times New Roman" pitchFamily="18" charset="0"/>
            </a:endParaRPr>
          </a:p>
          <a:p>
            <a:pPr marL="449263" indent="-449263">
              <a:lnSpc>
                <a:spcPct val="90000"/>
              </a:lnSpc>
              <a:buFontTx/>
              <a:buNone/>
            </a:pPr>
            <a:r>
              <a:rPr lang="en-US" sz="2400" dirty="0">
                <a:cs typeface="Times New Roman" pitchFamily="18" charset="0"/>
              </a:rPr>
              <a:t>Then, outcome results in utility U = 59742.4 </a:t>
            </a:r>
          </a:p>
          <a:p>
            <a:pPr marL="449263" indent="-449263">
              <a:lnSpc>
                <a:spcPct val="90000"/>
              </a:lnSpc>
              <a:buFontTx/>
              <a:buNone/>
            </a:pPr>
            <a:r>
              <a:rPr lang="en-US" sz="2400" dirty="0">
                <a:cs typeface="Times New Roman" pitchFamily="18" charset="0"/>
                <a:sym typeface="Wingdings" pitchFamily="2" charset="2"/>
              </a:rPr>
              <a:t> Welfare program’s effect on work incentive effects reduces efficiency</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395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395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395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3955">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395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7462CB25-604F-47A7-8D4C-CCDCED8F14E7}" type="slidenum">
              <a:rPr lang="en-GB"/>
              <a:pPr/>
              <a:t>53</a:t>
            </a:fld>
            <a:endParaRPr lang="en-GB"/>
          </a:p>
        </p:txBody>
      </p:sp>
      <p:sp>
        <p:nvSpPr>
          <p:cNvPr id="191490" name="Rectangle 2"/>
          <p:cNvSpPr>
            <a:spLocks noGrp="1" noChangeArrowheads="1"/>
          </p:cNvSpPr>
          <p:nvPr>
            <p:ph type="body" idx="1"/>
          </p:nvPr>
        </p:nvSpPr>
        <p:spPr>
          <a:xfrm>
            <a:off x="685800" y="1196975"/>
            <a:ext cx="7990656" cy="5184775"/>
          </a:xfrm>
        </p:spPr>
        <p:txBody>
          <a:bodyPr/>
          <a:lstStyle/>
          <a:p>
            <a:pPr marL="363538" indent="-363538">
              <a:buFontTx/>
              <a:buNone/>
            </a:pPr>
            <a:r>
              <a:rPr lang="en-US" sz="2800" dirty="0"/>
              <a:t>Redistribution arises when society dislikes distribution generated through market</a:t>
            </a:r>
          </a:p>
          <a:p>
            <a:pPr marL="363538" indent="-363538">
              <a:buFontTx/>
              <a:buNone/>
            </a:pPr>
            <a:endParaRPr lang="en-US" sz="1600" dirty="0"/>
          </a:p>
          <a:p>
            <a:pPr marL="363538" indent="-363538">
              <a:buFontTx/>
              <a:buNone/>
            </a:pPr>
            <a:r>
              <a:rPr lang="en-US" sz="2800" dirty="0"/>
              <a:t>Market failure in redistribution:</a:t>
            </a:r>
          </a:p>
          <a:p>
            <a:pPr marL="363538" indent="-363538"/>
            <a:r>
              <a:rPr lang="en-US" sz="2800" dirty="0"/>
              <a:t>Poverty externalities / welfare state as public good</a:t>
            </a:r>
          </a:p>
          <a:p>
            <a:pPr marL="363538" indent="-363538"/>
            <a:r>
              <a:rPr lang="en-US" sz="2800" dirty="0"/>
              <a:t>Asymmetric information in ‘poverty insurance’</a:t>
            </a:r>
          </a:p>
          <a:p>
            <a:pPr marL="363538" indent="-363538">
              <a:buFontTx/>
              <a:buNone/>
            </a:pPr>
            <a:endParaRPr lang="en-US" sz="1600" dirty="0"/>
          </a:p>
          <a:p>
            <a:pPr marL="363538" indent="-363538">
              <a:buFontTx/>
              <a:buNone/>
            </a:pPr>
            <a:r>
              <a:rPr lang="en-US" sz="2800" dirty="0"/>
              <a:t>Efficiency effects of government intervention:</a:t>
            </a:r>
          </a:p>
          <a:p>
            <a:pPr marL="363538" indent="-363538"/>
            <a:r>
              <a:rPr lang="en-US" sz="2800" dirty="0"/>
              <a:t>Anti-poverty programs are (mostly) means-tested</a:t>
            </a:r>
          </a:p>
          <a:p>
            <a:pPr>
              <a:buFont typeface="Wingdings" panose="05000000000000000000" pitchFamily="2" charset="2"/>
              <a:buChar char="à"/>
            </a:pPr>
            <a:r>
              <a:rPr lang="en-US" sz="2800" dirty="0">
                <a:sym typeface="Wingdings" pitchFamily="2" charset="2"/>
              </a:rPr>
              <a:t>Negative effect on incentives to generate earnings</a:t>
            </a:r>
          </a:p>
          <a:p>
            <a:pPr>
              <a:buFont typeface="Wingdings" panose="05000000000000000000" pitchFamily="2" charset="2"/>
              <a:buChar char="à"/>
            </a:pPr>
            <a:r>
              <a:rPr lang="en-US" sz="2800" b="1" dirty="0">
                <a:sym typeface="Wingdings" pitchFamily="2" charset="2"/>
              </a:rPr>
              <a:t>Trade-off between (re)distribution and efficiency</a:t>
            </a:r>
            <a:br>
              <a:rPr lang="en-US" sz="2800" dirty="0">
                <a:sym typeface="Wingdings" pitchFamily="2" charset="2"/>
              </a:rPr>
            </a:br>
            <a:endParaRPr lang="en-US" sz="2800" dirty="0"/>
          </a:p>
        </p:txBody>
      </p:sp>
      <p:sp>
        <p:nvSpPr>
          <p:cNvPr id="191491" name="Rectangle 3"/>
          <p:cNvSpPr>
            <a:spLocks noGrp="1" noChangeArrowheads="1"/>
          </p:cNvSpPr>
          <p:nvPr>
            <p:ph type="title"/>
          </p:nvPr>
        </p:nvSpPr>
        <p:spPr>
          <a:xfrm>
            <a:off x="685800" y="333375"/>
            <a:ext cx="7772400" cy="792163"/>
          </a:xfrm>
          <a:noFill/>
          <a:ln/>
        </p:spPr>
        <p:txBody>
          <a:bodyPr/>
          <a:lstStyle/>
          <a:p>
            <a:r>
              <a:rPr lang="en-US" sz="3600"/>
              <a:t>Concluding remarks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7462CB25-604F-47A7-8D4C-CCDCED8F14E7}" type="slidenum">
              <a:rPr lang="en-GB"/>
              <a:pPr/>
              <a:t>54</a:t>
            </a:fld>
            <a:endParaRPr lang="en-GB"/>
          </a:p>
        </p:txBody>
      </p:sp>
      <p:sp>
        <p:nvSpPr>
          <p:cNvPr id="191490" name="Rectangle 2"/>
          <p:cNvSpPr>
            <a:spLocks noGrp="1" noChangeArrowheads="1"/>
          </p:cNvSpPr>
          <p:nvPr>
            <p:ph type="body" idx="1"/>
          </p:nvPr>
        </p:nvSpPr>
        <p:spPr>
          <a:xfrm>
            <a:off x="685800" y="1196975"/>
            <a:ext cx="7772400" cy="5184775"/>
          </a:xfrm>
        </p:spPr>
        <p:txBody>
          <a:bodyPr/>
          <a:lstStyle/>
          <a:p>
            <a:pPr marL="363538" indent="-363538">
              <a:buFontTx/>
              <a:buNone/>
            </a:pPr>
            <a:r>
              <a:rPr lang="en-US" sz="2800" dirty="0"/>
              <a:t>Trade-off eff. and dist. crucial for econ policy</a:t>
            </a:r>
            <a:endParaRPr lang="en-US" sz="1600" dirty="0"/>
          </a:p>
          <a:p>
            <a:pPr marL="363538" indent="-363538">
              <a:buFontTx/>
              <a:buNone/>
            </a:pPr>
            <a:endParaRPr lang="en-US" sz="1000" dirty="0"/>
          </a:p>
          <a:p>
            <a:pPr marL="363538" indent="-363538">
              <a:buFontTx/>
              <a:buNone/>
            </a:pPr>
            <a:r>
              <a:rPr lang="en-US" sz="2800" dirty="0"/>
              <a:t>In an ideal world, we would separate redistribution from policies aimed at efficiency</a:t>
            </a:r>
            <a:br>
              <a:rPr lang="en-US" sz="2800" dirty="0"/>
            </a:br>
            <a:r>
              <a:rPr lang="en-US" sz="2800" dirty="0">
                <a:sym typeface="Wingdings" panose="05000000000000000000" pitchFamily="2" charset="2"/>
              </a:rPr>
              <a:t> second fundamental theorem of welfare</a:t>
            </a:r>
            <a:endParaRPr lang="en-US" sz="2800" dirty="0"/>
          </a:p>
          <a:p>
            <a:pPr marL="363538" indent="-363538">
              <a:buFontTx/>
              <a:buNone/>
            </a:pPr>
            <a:endParaRPr lang="en-US" sz="1000" dirty="0"/>
          </a:p>
          <a:p>
            <a:pPr marL="363538" indent="-363538">
              <a:buFontTx/>
              <a:buNone/>
            </a:pPr>
            <a:r>
              <a:rPr lang="en-US" sz="2800" dirty="0"/>
              <a:t>In practice, redistribution is costly</a:t>
            </a:r>
          </a:p>
          <a:p>
            <a:pPr marL="363538" indent="-363538">
              <a:buFontTx/>
              <a:buNone/>
            </a:pPr>
            <a:r>
              <a:rPr lang="en-US" sz="2800" dirty="0">
                <a:sym typeface="Wingdings" panose="05000000000000000000" pitchFamily="2" charset="2"/>
              </a:rPr>
              <a:t>As a consequence, </a:t>
            </a:r>
            <a:r>
              <a:rPr lang="en-US" sz="2800" dirty="0"/>
              <a:t>distributional effects of policies aimed at increasing efficiency matter </a:t>
            </a:r>
          </a:p>
          <a:p>
            <a:r>
              <a:rPr lang="en-US" sz="2800" dirty="0">
                <a:sym typeface="Wingdings" pitchFamily="2" charset="2"/>
              </a:rPr>
              <a:t>Tax on fossil fuels?</a:t>
            </a:r>
          </a:p>
          <a:p>
            <a:r>
              <a:rPr lang="en-US" sz="2800" dirty="0">
                <a:sym typeface="Wingdings" pitchFamily="2" charset="2"/>
              </a:rPr>
              <a:t>Investment in public transport?</a:t>
            </a:r>
          </a:p>
          <a:p>
            <a:r>
              <a:rPr lang="en-US" sz="2800" dirty="0">
                <a:sym typeface="Wingdings" pitchFamily="2" charset="2"/>
              </a:rPr>
              <a:t>Subsiding higher education?</a:t>
            </a:r>
            <a:br>
              <a:rPr lang="en-US" sz="2800" dirty="0">
                <a:sym typeface="Wingdings" pitchFamily="2" charset="2"/>
              </a:rPr>
            </a:br>
            <a:endParaRPr lang="en-US" sz="2800" dirty="0">
              <a:sym typeface="Wingdings" pitchFamily="2" charset="2"/>
            </a:endParaRPr>
          </a:p>
          <a:p>
            <a:pPr marL="0" indent="0">
              <a:buNone/>
            </a:pPr>
            <a:endParaRPr lang="en-US" sz="2800" dirty="0"/>
          </a:p>
        </p:txBody>
      </p:sp>
      <p:sp>
        <p:nvSpPr>
          <p:cNvPr id="191491" name="Rectangle 3"/>
          <p:cNvSpPr>
            <a:spLocks noGrp="1" noChangeArrowheads="1"/>
          </p:cNvSpPr>
          <p:nvPr>
            <p:ph type="title"/>
          </p:nvPr>
        </p:nvSpPr>
        <p:spPr>
          <a:xfrm>
            <a:off x="685800" y="333375"/>
            <a:ext cx="7772400" cy="792163"/>
          </a:xfrm>
          <a:noFill/>
          <a:ln/>
        </p:spPr>
        <p:txBody>
          <a:bodyPr/>
          <a:lstStyle/>
          <a:p>
            <a:r>
              <a:rPr lang="en-US" sz="3600"/>
              <a:t>Concluding remarks</a:t>
            </a:r>
          </a:p>
        </p:txBody>
      </p:sp>
    </p:spTree>
    <p:extLst>
      <p:ext uri="{BB962C8B-B14F-4D97-AF65-F5344CB8AC3E}">
        <p14:creationId xmlns:p14="http://schemas.microsoft.com/office/powerpoint/2010/main" val="14853120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789C1400-2120-4CBC-B34F-2830FDC949F8}" type="slidenum">
              <a:rPr lang="en-GB"/>
              <a:pPr/>
              <a:t>55</a:t>
            </a:fld>
            <a:endParaRPr lang="en-GB"/>
          </a:p>
        </p:txBody>
      </p:sp>
      <p:sp>
        <p:nvSpPr>
          <p:cNvPr id="192514" name="Rectangle 2"/>
          <p:cNvSpPr>
            <a:spLocks noGrp="1" noChangeArrowheads="1"/>
          </p:cNvSpPr>
          <p:nvPr>
            <p:ph type="body" idx="1"/>
          </p:nvPr>
        </p:nvSpPr>
        <p:spPr>
          <a:xfrm>
            <a:off x="685800" y="1196975"/>
            <a:ext cx="7772400" cy="5184775"/>
          </a:xfrm>
        </p:spPr>
        <p:txBody>
          <a:bodyPr/>
          <a:lstStyle/>
          <a:p>
            <a:pPr marL="449263" indent="-449263">
              <a:buFontTx/>
              <a:buNone/>
            </a:pPr>
            <a:r>
              <a:rPr lang="en-US" sz="2800" dirty="0"/>
              <a:t>Next weeks:  Taxation </a:t>
            </a:r>
          </a:p>
          <a:p>
            <a:pPr marL="449263" indent="-449263"/>
            <a:r>
              <a:rPr lang="en-US" sz="2800" dirty="0"/>
              <a:t>Incidence</a:t>
            </a:r>
            <a:br>
              <a:rPr lang="en-US" sz="2800" dirty="0"/>
            </a:br>
            <a:r>
              <a:rPr lang="en-US" sz="2800" dirty="0"/>
              <a:t>(</a:t>
            </a:r>
            <a:r>
              <a:rPr lang="en-US" sz="2800" dirty="0">
                <a:sym typeface="Wingdings" pitchFamily="2" charset="2"/>
              </a:rPr>
              <a:t> </a:t>
            </a:r>
            <a:r>
              <a:rPr lang="en-US" sz="2800" dirty="0"/>
              <a:t>who pays? So:</a:t>
            </a:r>
            <a:r>
              <a:rPr lang="en-US" sz="2800" dirty="0">
                <a:sym typeface="Wingdings" pitchFamily="2" charset="2"/>
              </a:rPr>
              <a:t> </a:t>
            </a:r>
            <a:r>
              <a:rPr lang="en-US" sz="2800" b="1" dirty="0">
                <a:sym typeface="Wingdings" pitchFamily="2" charset="2"/>
              </a:rPr>
              <a:t>distribution</a:t>
            </a:r>
            <a:r>
              <a:rPr lang="en-US" sz="2800" dirty="0">
                <a:sym typeface="Wingdings" pitchFamily="2" charset="2"/>
              </a:rPr>
              <a:t> of tax burden</a:t>
            </a:r>
            <a:r>
              <a:rPr lang="en-US" sz="2800" dirty="0"/>
              <a:t>) </a:t>
            </a:r>
          </a:p>
          <a:p>
            <a:pPr marL="449263" indent="-449263"/>
            <a:endParaRPr lang="en-US" sz="2800" dirty="0"/>
          </a:p>
          <a:p>
            <a:pPr marL="449263" indent="-449263"/>
            <a:r>
              <a:rPr lang="en-US" sz="2800" b="1" dirty="0"/>
              <a:t>Efficiency</a:t>
            </a:r>
            <a:br>
              <a:rPr lang="en-US" sz="2800" b="1" dirty="0"/>
            </a:br>
            <a:r>
              <a:rPr lang="en-US" sz="2800" dirty="0"/>
              <a:t>(</a:t>
            </a:r>
            <a:r>
              <a:rPr lang="en-US" sz="2800" dirty="0">
                <a:sym typeface="Wingdings" pitchFamily="2" charset="2"/>
              </a:rPr>
              <a:t> </a:t>
            </a:r>
            <a:r>
              <a:rPr lang="en-US" sz="2800" dirty="0"/>
              <a:t>tax distortions leading to </a:t>
            </a:r>
            <a:r>
              <a:rPr lang="en-US" sz="2800" b="1"/>
              <a:t>Excess burden</a:t>
            </a:r>
            <a:r>
              <a:rPr lang="en-US" sz="2800"/>
              <a:t>)</a:t>
            </a:r>
            <a:endParaRPr lang="en-US" sz="2800" dirty="0"/>
          </a:p>
          <a:p>
            <a:pPr marL="1249363" lvl="1" indent="-533400"/>
            <a:r>
              <a:rPr lang="en-US" sz="2400" dirty="0"/>
              <a:t>At individual level</a:t>
            </a:r>
          </a:p>
          <a:p>
            <a:pPr marL="1249363" lvl="1" indent="-533400"/>
            <a:r>
              <a:rPr lang="en-US" sz="2400" dirty="0"/>
              <a:t>At market level</a:t>
            </a:r>
          </a:p>
          <a:p>
            <a:pPr marL="1249363" lvl="1" indent="-533400"/>
            <a:endParaRPr lang="en-US" sz="2400" dirty="0"/>
          </a:p>
          <a:p>
            <a:pPr marL="449263" indent="-449263"/>
            <a:r>
              <a:rPr lang="en-US" sz="2800" dirty="0"/>
              <a:t>Optimal taxation (week 6)</a:t>
            </a:r>
          </a:p>
          <a:p>
            <a:pPr marL="449263" indent="-449263">
              <a:buFontTx/>
              <a:buNone/>
            </a:pPr>
            <a:endParaRPr lang="en-US" sz="2400" dirty="0"/>
          </a:p>
        </p:txBody>
      </p:sp>
      <p:sp>
        <p:nvSpPr>
          <p:cNvPr id="192515" name="Rectangle 3"/>
          <p:cNvSpPr>
            <a:spLocks noGrp="1" noChangeArrowheads="1"/>
          </p:cNvSpPr>
          <p:nvPr>
            <p:ph type="title"/>
          </p:nvPr>
        </p:nvSpPr>
        <p:spPr>
          <a:xfrm>
            <a:off x="685800" y="333375"/>
            <a:ext cx="7772400" cy="792163"/>
          </a:xfrm>
          <a:noFill/>
          <a:ln/>
        </p:spPr>
        <p:txBody>
          <a:bodyPr/>
          <a:lstStyle/>
          <a:p>
            <a:r>
              <a:rPr lang="en-US" sz="3600"/>
              <a:t>Looking ahead</a:t>
            </a:r>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63538" marR="0" indent="-363538" algn="l" defTabSz="914400" rtl="0" eaLnBrk="1" fontAlgn="base" latinLnBrk="0" hangingPunct="1">
          <a:lnSpc>
            <a:spcPct val="100000"/>
          </a:lnSpc>
          <a:spcBef>
            <a:spcPct val="20000"/>
          </a:spcBef>
          <a:spcAft>
            <a:spcPct val="0"/>
          </a:spcAft>
          <a:buClrTx/>
          <a:buSzTx/>
          <a:buFontTx/>
          <a:buChar char="•"/>
          <a:tabLst/>
          <a:defRPr kumimoji="0" lang="en-GB" sz="20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63538" marR="0" indent="-363538" algn="l" defTabSz="914400" rtl="0" eaLnBrk="1" fontAlgn="base" latinLnBrk="0" hangingPunct="1">
          <a:lnSpc>
            <a:spcPct val="100000"/>
          </a:lnSpc>
          <a:spcBef>
            <a:spcPct val="20000"/>
          </a:spcBef>
          <a:spcAft>
            <a:spcPct val="0"/>
          </a:spcAft>
          <a:buClrTx/>
          <a:buSzTx/>
          <a:buFontTx/>
          <a:buChar char="•"/>
          <a:tabLst/>
          <a:defRPr kumimoji="0" lang="en-GB" sz="20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Slide master">
  <a:themeElements>
    <a:clrScheme name="Slide mast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lide master">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 typeface="Wingdings" pitchFamily="2" charset="2"/>
          <a:buChar char="§"/>
          <a:tabLst/>
          <a:defRPr kumimoji="0" lang="en-US" sz="2400" b="0" i="0" u="none" strike="noStrike" cap="none" normalizeH="0" baseline="0" smtClean="0">
            <a:ln>
              <a:noFill/>
            </a:ln>
            <a:solidFill>
              <a:schemeClr val="tx1"/>
            </a:solidFill>
            <a:effectLst/>
            <a:latin typeface="Arial" charset="0"/>
            <a:ea typeface="ＭＳ Ｐゴシック" pitchFamily="16" charset="-128"/>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 typeface="Wingdings" pitchFamily="2" charset="2"/>
          <a:buChar char="§"/>
          <a:tabLst/>
          <a:defRPr kumimoji="0" lang="en-US" sz="2400" b="0" i="0" u="none" strike="noStrike" cap="none" normalizeH="0" baseline="0" smtClean="0">
            <a:ln>
              <a:noFill/>
            </a:ln>
            <a:solidFill>
              <a:schemeClr val="tx1"/>
            </a:solidFill>
            <a:effectLst/>
            <a:latin typeface="Arial" charset="0"/>
            <a:ea typeface="ＭＳ Ｐゴシック" pitchFamily="16" charset="-128"/>
          </a:defRPr>
        </a:defPPr>
      </a:lstStyle>
    </a:lnDef>
  </a:objectDefaults>
  <a:extraClrSchemeLst>
    <a:extraClrScheme>
      <a:clrScheme name="Slide maste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 maste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lide maste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lide maste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lide maste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lide maste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lide maste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lide maste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lide maste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lide maste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lide maste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lide maste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8620</TotalTime>
  <Words>3137</Words>
  <Application>Microsoft Office PowerPoint</Application>
  <PresentationFormat>On-screen Show (4:3)</PresentationFormat>
  <Paragraphs>660</Paragraphs>
  <Slides>55</Slides>
  <Notes>16</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55</vt:i4>
      </vt:variant>
    </vt:vector>
  </HeadingPairs>
  <TitlesOfParts>
    <vt:vector size="65" baseType="lpstr">
      <vt:lpstr>ＭＳ Ｐゴシック</vt:lpstr>
      <vt:lpstr>Arial</vt:lpstr>
      <vt:lpstr>Arial Black</vt:lpstr>
      <vt:lpstr>Symbol</vt:lpstr>
      <vt:lpstr>Tahoma</vt:lpstr>
      <vt:lpstr>Times New Roman</vt:lpstr>
      <vt:lpstr>Wingdings</vt:lpstr>
      <vt:lpstr>Default Design</vt:lpstr>
      <vt:lpstr>3_Slide master</vt:lpstr>
      <vt:lpstr>Equation</vt:lpstr>
      <vt:lpstr>Toegepaste Micro-economie: Public economics</vt:lpstr>
      <vt:lpstr>4.  Redistribution and social security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Pub spending on unemployment, sickness &amp; disability insurance 2015, as % GDP</vt:lpstr>
      <vt:lpstr>Pub spending on pensions, as % GDP</vt:lpstr>
      <vt:lpstr>PowerPoint Presentation</vt:lpstr>
      <vt:lpstr>PowerPoint Presentation</vt:lpstr>
      <vt:lpstr>PowerPoint Presentation</vt:lpstr>
      <vt:lpstr>PowerPoint Presentation</vt:lpstr>
      <vt:lpstr>PowerPoint Presentation</vt:lpstr>
      <vt:lpstr>PowerPoint Presentation</vt:lpstr>
      <vt:lpstr>Why Government Involvement?</vt:lpstr>
      <vt:lpstr>Why Government Involvement?</vt:lpstr>
      <vt:lpstr>Why Government Involvement?</vt:lpstr>
      <vt:lpstr>Why Government Involvement?</vt:lpstr>
      <vt:lpstr>Efficiency effects</vt:lpstr>
      <vt:lpstr>Efficiency effects</vt:lpstr>
      <vt:lpstr>Efficiency effects</vt:lpstr>
      <vt:lpstr>Efficiency effects</vt:lpstr>
      <vt:lpstr>Efficiency effects</vt:lpstr>
      <vt:lpstr>Work Incentives</vt:lpstr>
      <vt:lpstr>Work Incentives</vt:lpstr>
      <vt:lpstr>Work Incentives </vt:lpstr>
      <vt:lpstr>Work Incentives</vt:lpstr>
      <vt:lpstr>Work Incentives </vt:lpstr>
      <vt:lpstr>Work Incentives  Welfare program with t = 1.0</vt:lpstr>
      <vt:lpstr>Work Incentives</vt:lpstr>
      <vt:lpstr>Work Incentives</vt:lpstr>
      <vt:lpstr>Subsiding earnings: ‘earned income tax credit’</vt:lpstr>
      <vt:lpstr>Work Incentives and EITC</vt:lpstr>
      <vt:lpstr>Work Incentives: exercise</vt:lpstr>
      <vt:lpstr>Work Incentives: mathematical example</vt:lpstr>
      <vt:lpstr>Work Incentives: mathematical example</vt:lpstr>
      <vt:lpstr>Work Incentives: mathematical example</vt:lpstr>
      <vt:lpstr>Work Incentives: mathematical example</vt:lpstr>
      <vt:lpstr>Work Incentives: mathematical example</vt:lpstr>
      <vt:lpstr>Work Incentives: mathematical example</vt:lpstr>
      <vt:lpstr>Work Incentives: mathematical example</vt:lpstr>
      <vt:lpstr>Work Incentives: mathematical example</vt:lpstr>
      <vt:lpstr>Work Incentives: mathematical example</vt:lpstr>
      <vt:lpstr>Work Incentives: mathematical example</vt:lpstr>
      <vt:lpstr>Concluding remarks</vt:lpstr>
      <vt:lpstr>Concluding remarks</vt:lpstr>
      <vt:lpstr>Looking ahead</vt:lpstr>
    </vt:vector>
  </TitlesOfParts>
  <Company>FEW/EUR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Orientation:  the role of the Public Sector</dc:title>
  <dc:creator>H. R. J. Vollebergh</dc:creator>
  <cp:lastModifiedBy>Josse Delfgaauw</cp:lastModifiedBy>
  <cp:revision>255</cp:revision>
  <dcterms:created xsi:type="dcterms:W3CDTF">2004-01-22T16:18:21Z</dcterms:created>
  <dcterms:modified xsi:type="dcterms:W3CDTF">2024-09-23T10:50:11Z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772ba27-cab8-4042-a351-a31f6e4eacdc_Enabled">
    <vt:lpwstr>true</vt:lpwstr>
  </property>
  <property fmtid="{D5CDD505-2E9C-101B-9397-08002B2CF9AE}" pid="3" name="MSIP_Label_8772ba27-cab8-4042-a351-a31f6e4eacdc_SetDate">
    <vt:lpwstr>2023-09-25T07:14:08Z</vt:lpwstr>
  </property>
  <property fmtid="{D5CDD505-2E9C-101B-9397-08002B2CF9AE}" pid="4" name="MSIP_Label_8772ba27-cab8-4042-a351-a31f6e4eacdc_Method">
    <vt:lpwstr>Standard</vt:lpwstr>
  </property>
  <property fmtid="{D5CDD505-2E9C-101B-9397-08002B2CF9AE}" pid="5" name="MSIP_Label_8772ba27-cab8-4042-a351-a31f6e4eacdc_Name">
    <vt:lpwstr>Internal</vt:lpwstr>
  </property>
  <property fmtid="{D5CDD505-2E9C-101B-9397-08002B2CF9AE}" pid="6" name="MSIP_Label_8772ba27-cab8-4042-a351-a31f6e4eacdc_SiteId">
    <vt:lpwstr>715902d6-f63e-4b8d-929b-4bb170bad492</vt:lpwstr>
  </property>
  <property fmtid="{D5CDD505-2E9C-101B-9397-08002B2CF9AE}" pid="7" name="MSIP_Label_8772ba27-cab8-4042-a351-a31f6e4eacdc_ActionId">
    <vt:lpwstr>4b2f0c41-5a36-4f0c-8184-3cdb46c5d6f0</vt:lpwstr>
  </property>
  <property fmtid="{D5CDD505-2E9C-101B-9397-08002B2CF9AE}" pid="8" name="MSIP_Label_8772ba27-cab8-4042-a351-a31f6e4eacdc_ContentBits">
    <vt:lpwstr>0</vt:lpwstr>
  </property>
</Properties>
</file>