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42"/>
  </p:notesMasterIdLst>
  <p:handoutMasterIdLst>
    <p:handoutMasterId r:id="rId43"/>
  </p:handoutMasterIdLst>
  <p:sldIdLst>
    <p:sldId id="346" r:id="rId3"/>
    <p:sldId id="334" r:id="rId4"/>
    <p:sldId id="290" r:id="rId5"/>
    <p:sldId id="286" r:id="rId6"/>
    <p:sldId id="287" r:id="rId7"/>
    <p:sldId id="353" r:id="rId8"/>
    <p:sldId id="349" r:id="rId9"/>
    <p:sldId id="289" r:id="rId10"/>
    <p:sldId id="298" r:id="rId11"/>
    <p:sldId id="321" r:id="rId12"/>
    <p:sldId id="295" r:id="rId13"/>
    <p:sldId id="350" r:id="rId14"/>
    <p:sldId id="338" r:id="rId15"/>
    <p:sldId id="347" r:id="rId16"/>
    <p:sldId id="322" r:id="rId17"/>
    <p:sldId id="303" r:id="rId18"/>
    <p:sldId id="341" r:id="rId19"/>
    <p:sldId id="340" r:id="rId20"/>
    <p:sldId id="309" r:id="rId21"/>
    <p:sldId id="308" r:id="rId22"/>
    <p:sldId id="342" r:id="rId23"/>
    <p:sldId id="310" r:id="rId24"/>
    <p:sldId id="343" r:id="rId25"/>
    <p:sldId id="348" r:id="rId26"/>
    <p:sldId id="316" r:id="rId27"/>
    <p:sldId id="337" r:id="rId28"/>
    <p:sldId id="319" r:id="rId29"/>
    <p:sldId id="323" r:id="rId30"/>
    <p:sldId id="326" r:id="rId31"/>
    <p:sldId id="327" r:id="rId32"/>
    <p:sldId id="354" r:id="rId33"/>
    <p:sldId id="329" r:id="rId34"/>
    <p:sldId id="351" r:id="rId35"/>
    <p:sldId id="301" r:id="rId36"/>
    <p:sldId id="330" r:id="rId37"/>
    <p:sldId id="331" r:id="rId38"/>
    <p:sldId id="332" r:id="rId39"/>
    <p:sldId id="333" r:id="rId40"/>
    <p:sldId id="336" r:id="rId41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5658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se Delfgaauw" userId="fd3d8aa1-499c-4f5d-a891-5d47932236d0" providerId="ADAL" clId="{172A884E-4ADC-4F33-848E-E6276CE5F16D}"/>
    <pc:docChg chg="modSld">
      <pc:chgData name="Josse Delfgaauw" userId="fd3d8aa1-499c-4f5d-a891-5d47932236d0" providerId="ADAL" clId="{172A884E-4ADC-4F33-848E-E6276CE5F16D}" dt="2026-09-03T15:09:12.020" v="1" actId="5793"/>
      <pc:docMkLst>
        <pc:docMk/>
      </pc:docMkLst>
      <pc:sldChg chg="modSp mod">
        <pc:chgData name="Josse Delfgaauw" userId="fd3d8aa1-499c-4f5d-a891-5d47932236d0" providerId="ADAL" clId="{172A884E-4ADC-4F33-848E-E6276CE5F16D}" dt="2026-09-03T15:09:12.020" v="1" actId="5793"/>
        <pc:sldMkLst>
          <pc:docMk/>
          <pc:sldMk cId="0" sldId="336"/>
        </pc:sldMkLst>
        <pc:spChg chg="mod">
          <ac:chgData name="Josse Delfgaauw" userId="fd3d8aa1-499c-4f5d-a891-5d47932236d0" providerId="ADAL" clId="{172A884E-4ADC-4F33-848E-E6276CE5F16D}" dt="2026-09-03T15:09:12.020" v="1" actId="5793"/>
          <ac:spMkLst>
            <pc:docMk/>
            <pc:sldMk cId="0" sldId="336"/>
            <ac:spMk id="6554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A8D760B-3CCA-4690-A749-8E0157ADE680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88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53EEF11B-FF51-486B-8814-BDFEF7E19674}" type="slidenum">
              <a:rPr lang="nl-NL" altLang="en-US"/>
              <a:pPr>
                <a:defRPr/>
              </a:pPr>
              <a:t>‹nr.›</a:t>
            </a:fld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23915516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2F2FC39-A981-419B-968D-4BC1F5DFE8A7}" type="slidenum">
              <a:rPr lang="en-US" alt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NL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024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789AB1-49AF-4A41-807E-EE13D000DCEE}" type="slidenum">
              <a:rPr lang="nl-NL" altLang="en-US" smtClean="0"/>
              <a:pPr>
                <a:spcBef>
                  <a:spcPct val="0"/>
                </a:spcBef>
              </a:pPr>
              <a:t>5</a:t>
            </a:fld>
            <a:endParaRPr lang="nl-NL" alt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348152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789AB1-49AF-4A41-807E-EE13D000DCEE}" type="slidenum">
              <a:rPr lang="nl-NL" altLang="en-US" smtClean="0"/>
              <a:pPr>
                <a:spcBef>
                  <a:spcPct val="0"/>
                </a:spcBef>
              </a:pPr>
              <a:t>6</a:t>
            </a:fld>
            <a:endParaRPr lang="nl-NL" alt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1351209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667BD45-CDE8-4662-971C-FB07105AB53F}" type="slidenum">
              <a:rPr lang="nl-NL" altLang="en-US" smtClean="0"/>
              <a:pPr>
                <a:spcBef>
                  <a:spcPct val="0"/>
                </a:spcBef>
              </a:pPr>
              <a:t>8</a:t>
            </a:fld>
            <a:endParaRPr lang="nl-NL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4286680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682C95-18A1-423B-88CE-D6DCA83C5AD8}" type="slidenum">
              <a:rPr lang="nl-NL" altLang="en-US" smtClean="0"/>
              <a:pPr>
                <a:spcBef>
                  <a:spcPct val="0"/>
                </a:spcBef>
              </a:pPr>
              <a:t>10</a:t>
            </a:fld>
            <a:endParaRPr lang="nl-NL" alt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MB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MPC, Q1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– MD</a:t>
            </a:r>
          </a:p>
          <a:p>
            <a:pPr eaLnBrk="1" hangingPunct="1"/>
            <a:r>
              <a:rPr lang="en-US" altLang="en-US"/>
              <a:t>4t click – MSC, Q*</a:t>
            </a:r>
          </a:p>
        </p:txBody>
      </p:sp>
    </p:spTree>
    <p:extLst>
      <p:ext uri="{BB962C8B-B14F-4D97-AF65-F5344CB8AC3E}">
        <p14:creationId xmlns:p14="http://schemas.microsoft.com/office/powerpoint/2010/main" val="1029845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96615D-1DCA-4260-B615-C041E387F850}" type="slidenum">
              <a:rPr lang="nl-NL" altLang="en-US" smtClean="0"/>
              <a:pPr>
                <a:spcBef>
                  <a:spcPct val="0"/>
                </a:spcBef>
              </a:pPr>
              <a:t>14</a:t>
            </a:fld>
            <a:endParaRPr lang="nl-NL" alt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MB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MPC, Q1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– MD</a:t>
            </a:r>
          </a:p>
          <a:p>
            <a:pPr eaLnBrk="1" hangingPunct="1"/>
            <a:r>
              <a:rPr lang="en-US" altLang="en-US"/>
              <a:t>4t click – MSC, Q*</a:t>
            </a:r>
          </a:p>
        </p:txBody>
      </p:sp>
    </p:spTree>
    <p:extLst>
      <p:ext uri="{BB962C8B-B14F-4D97-AF65-F5344CB8AC3E}">
        <p14:creationId xmlns:p14="http://schemas.microsoft.com/office/powerpoint/2010/main" val="494486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96615D-1DCA-4260-B615-C041E387F850}" type="slidenum">
              <a:rPr lang="nl-NL" altLang="en-US" smtClean="0"/>
              <a:pPr>
                <a:spcBef>
                  <a:spcPct val="0"/>
                </a:spcBef>
              </a:pPr>
              <a:t>15</a:t>
            </a:fld>
            <a:endParaRPr lang="nl-NL" alt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MB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MPC, Q1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– MD</a:t>
            </a:r>
          </a:p>
          <a:p>
            <a:pPr eaLnBrk="1" hangingPunct="1"/>
            <a:r>
              <a:rPr lang="en-US" altLang="en-US"/>
              <a:t>4t click – MSC, Q*</a:t>
            </a:r>
          </a:p>
        </p:txBody>
      </p:sp>
    </p:spTree>
    <p:extLst>
      <p:ext uri="{BB962C8B-B14F-4D97-AF65-F5344CB8AC3E}">
        <p14:creationId xmlns:p14="http://schemas.microsoft.com/office/powerpoint/2010/main" val="249272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EDB584-C49F-4930-9D74-60F08FC8D534}" type="slidenum">
              <a:rPr lang="nl-NL" altLang="en-US" smtClean="0"/>
              <a:pPr>
                <a:spcBef>
                  <a:spcPct val="0"/>
                </a:spcBef>
              </a:pPr>
              <a:t>21</a:t>
            </a:fld>
            <a:endParaRPr lang="nl-NL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MB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MPC, Q1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– MD</a:t>
            </a:r>
          </a:p>
          <a:p>
            <a:pPr eaLnBrk="1" hangingPunct="1"/>
            <a:r>
              <a:rPr lang="en-US" altLang="en-US"/>
              <a:t>4t click – MSC, Q*</a:t>
            </a:r>
          </a:p>
        </p:txBody>
      </p:sp>
    </p:spTree>
    <p:extLst>
      <p:ext uri="{BB962C8B-B14F-4D97-AF65-F5344CB8AC3E}">
        <p14:creationId xmlns:p14="http://schemas.microsoft.com/office/powerpoint/2010/main" val="4234217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C92DD0-997A-444E-8AEB-AF5DC37F5128}" type="slidenum">
              <a:rPr lang="nl-NL" altLang="en-US" smtClean="0"/>
              <a:pPr>
                <a:spcBef>
                  <a:spcPct val="0"/>
                </a:spcBef>
              </a:pPr>
              <a:t>23</a:t>
            </a:fld>
            <a:endParaRPr lang="nl-NL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MB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MPC, Q1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– MD</a:t>
            </a:r>
          </a:p>
          <a:p>
            <a:pPr eaLnBrk="1" hangingPunct="1"/>
            <a:r>
              <a:rPr lang="en-US" altLang="en-US"/>
              <a:t>4t click – MSC, Q*</a:t>
            </a:r>
          </a:p>
        </p:txBody>
      </p:sp>
    </p:spTree>
    <p:extLst>
      <p:ext uri="{BB962C8B-B14F-4D97-AF65-F5344CB8AC3E}">
        <p14:creationId xmlns:p14="http://schemas.microsoft.com/office/powerpoint/2010/main" val="3881780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519D01-EF17-4137-A432-FA16D4DEB993}" type="slidenum">
              <a:rPr lang="nl-NL" altLang="en-US" smtClean="0"/>
              <a:pPr>
                <a:spcBef>
                  <a:spcPct val="0"/>
                </a:spcBef>
              </a:pPr>
              <a:t>28</a:t>
            </a:fld>
            <a:endParaRPr lang="nl-NL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MP shifts up to MPC + cd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Pigouvian tax revenues box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49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F018357-C86D-43D1-AF86-6A3771613F23}" type="slidenum">
              <a:rPr lang="nl-NL" altLang="en-US" smtClean="0"/>
              <a:pPr>
                <a:spcBef>
                  <a:spcPct val="0"/>
                </a:spcBef>
              </a:pPr>
              <a:t>29</a:t>
            </a:fld>
            <a:endParaRPr lang="nl-NL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Axes and labels</a:t>
            </a:r>
          </a:p>
          <a:p>
            <a:pPr eaLnBrk="1" hangingPunct="1"/>
            <a:r>
              <a:rPr lang="en-US" altLang="en-US"/>
              <a:t>1</a:t>
            </a:r>
            <a:r>
              <a:rPr lang="en-US" altLang="en-US" baseline="30000"/>
              <a:t>st</a:t>
            </a:r>
            <a:r>
              <a:rPr lang="en-US" altLang="en-US"/>
              <a:t> click – MP shifts up to MPC + cd</a:t>
            </a:r>
          </a:p>
          <a:p>
            <a:pPr eaLnBrk="1" hangingPunct="1"/>
            <a:r>
              <a:rPr lang="en-US" altLang="en-US"/>
              <a:t>2</a:t>
            </a:r>
            <a:r>
              <a:rPr lang="en-US" altLang="en-US" baseline="30000"/>
              <a:t>nd</a:t>
            </a:r>
            <a:r>
              <a:rPr lang="en-US" altLang="en-US"/>
              <a:t> click – dashed lines fi, hj, and hf</a:t>
            </a:r>
          </a:p>
          <a:p>
            <a:pPr eaLnBrk="1" hangingPunct="1"/>
            <a:r>
              <a:rPr lang="en-US" altLang="en-US"/>
              <a:t>3</a:t>
            </a:r>
            <a:r>
              <a:rPr lang="en-US" altLang="en-US" baseline="30000"/>
              <a:t>rd</a:t>
            </a:r>
            <a:r>
              <a:rPr lang="en-US" altLang="en-US"/>
              <a:t> click = Pigouvian subsidy 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06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096A7-02B7-441F-8943-9A5C0175FE52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858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FF34D-4CA0-437B-B69A-00DB5CA15190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467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7B865-AA47-4CC6-8A2A-103E80DF5100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89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E6875-9136-424C-8FC7-E2DE6F7DD288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498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853D6-DE9B-4E6F-9E15-2C93EADFE0A5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913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2A551-2A87-4034-AC83-B72C8770E958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697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9DE0C-7E32-4582-BF14-1DBB6AF518E8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218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BDBA7-B5DB-4EA0-8E86-F3135B1018F8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798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3EA44-FC59-4054-95CD-A98FB0D895AB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734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1A797-1B12-43FC-9467-82BD8EFB4C69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813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9228D2-FDA6-49A7-856D-28908DB5CFDA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705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303BC-347F-45B9-A4C7-37FEBAA625CE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6725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AB7D8-DAC0-4236-A1DD-7B1AD15ABD2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13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ppt_background_titl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64663" cy="702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2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827088" y="1619250"/>
            <a:ext cx="8132762" cy="4683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17512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8875"/>
            <a:ext cx="8132762" cy="3508375"/>
          </a:xfrm>
        </p:spPr>
        <p:txBody>
          <a:bodyPr/>
          <a:lstStyle>
            <a:lvl1pPr marL="266700" indent="-266700">
              <a:defRPr/>
            </a:lvl1pPr>
            <a:lvl2pPr marL="714375" lvl="1" indent="-266700">
              <a:defRPr/>
            </a:lvl2pPr>
            <a:lvl3pPr marL="1162050" lvl="2" indent="-173038">
              <a:defRPr/>
            </a:lvl3pPr>
            <a:lvl4pPr marL="1524000" lvl="3" indent="-180975">
              <a:defRPr/>
            </a:lvl4pPr>
          </a:lstStyle>
          <a:p>
            <a:r>
              <a:rPr lang="nl-NL"/>
              <a:t>Click to edit Master subtitle style</a:t>
            </a:r>
          </a:p>
          <a:p>
            <a:pPr lvl="1"/>
            <a:r>
              <a:rPr lang="nl-NL"/>
              <a:t>Level 2</a:t>
            </a:r>
          </a:p>
          <a:p>
            <a:pPr lvl="2"/>
            <a:r>
              <a:rPr lang="nl-NL"/>
              <a:t>Level 3 </a:t>
            </a:r>
          </a:p>
          <a:p>
            <a:pPr lvl="3"/>
            <a:r>
              <a:rPr lang="nl-NL"/>
              <a:t>Level 4</a:t>
            </a:r>
          </a:p>
          <a:p>
            <a:pPr lvl="2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46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631CE73-6AFB-4DE7-BC5D-1344912DBA3D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320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21589D0-1D1A-4ADF-AC9B-A236DED2693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413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088" y="1438275"/>
            <a:ext cx="3989387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8875" y="1438275"/>
            <a:ext cx="39909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B917A44-B4F3-405B-9EB2-B57DE03DBDB2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387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3E492B9-3441-4FE4-89ED-5A2A580DC0F1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160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7006731-46B5-4386-9EF0-637FCB8857C0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563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32804CB-A218-49AA-AD7B-CD1A5F23FA8D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5008586-87D4-4AC9-A668-AE55157F9C53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9605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8D54179-E744-4354-8F92-84785A3E72A6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9011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28A3B6-2C64-4CBF-B37B-E2A1AF52DDBA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125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7850" y="539750"/>
            <a:ext cx="2032000" cy="5397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7088" y="539750"/>
            <a:ext cx="5948362" cy="5397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2565CBC-5383-4473-A3CC-D39637344DF3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015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27088" y="539750"/>
            <a:ext cx="8132762" cy="5397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6568FF-1601-4FAE-86B9-1FB02F989B16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65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fld id="{82CFC540-58EA-4F59-B76B-E675B61BD534}" type="slidenum">
              <a:rPr lang="en-GB" altLang="en-US"/>
              <a:pPr>
                <a:defRPr/>
              </a:pPr>
              <a:t>‹nr.›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98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0" descr="ppt_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64663" cy="702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827088" y="539750"/>
            <a:ext cx="8132762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/>
              <a:t>Click to edit Master title style</a:t>
            </a:r>
          </a:p>
        </p:txBody>
      </p:sp>
      <p:sp>
        <p:nvSpPr>
          <p:cNvPr id="2052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1438275"/>
            <a:ext cx="8132762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/>
              <a:t>Click to edit Master text styles</a:t>
            </a:r>
          </a:p>
          <a:p>
            <a:pPr lvl="1"/>
            <a:r>
              <a:rPr lang="nl-NL" altLang="en-US"/>
              <a:t>Level 2</a:t>
            </a:r>
          </a:p>
          <a:p>
            <a:pPr lvl="2"/>
            <a:r>
              <a:rPr lang="nl-NL" altLang="en-US"/>
              <a:t>Level 3 </a:t>
            </a:r>
          </a:p>
          <a:p>
            <a:pPr lvl="3"/>
            <a:r>
              <a:rPr lang="nl-NL" altLang="en-US"/>
              <a:t>Level 4</a:t>
            </a:r>
          </a:p>
          <a:p>
            <a:pPr lvl="2"/>
            <a:endParaRPr lang="nl-NL" altLang="en-US"/>
          </a:p>
        </p:txBody>
      </p:sp>
      <p:sp>
        <p:nvSpPr>
          <p:cNvPr id="160787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77000"/>
            <a:ext cx="5397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200" b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75C1DE7-3DF4-460F-8B34-952D6EA4D731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36538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2pPr>
      <a:lvl3pPr marL="1079500" indent="-20637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438275" indent="-1793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4pPr>
      <a:lvl5pPr marL="2293938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75113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20833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66553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412273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nl-NL" altLang="en-US"/>
              <a:t>Toegepaste Micro-economie: Public economics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55650" y="2565400"/>
            <a:ext cx="8132763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algn="ctr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nl-NL" sz="2800" kern="0">
                <a:solidFill>
                  <a:srgbClr val="000000"/>
                </a:solidFill>
                <a:latin typeface="Arial"/>
              </a:rPr>
              <a:t>Dr. Josse Delfgaauw</a:t>
            </a:r>
          </a:p>
          <a:p>
            <a:pPr marL="266700" indent="-266700" algn="ctr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nl-NL" sz="2000" kern="0" err="1">
                <a:solidFill>
                  <a:srgbClr val="000000"/>
                </a:solidFill>
                <a:latin typeface="Arial"/>
              </a:rPr>
              <a:t>delfgaauw</a:t>
            </a:r>
            <a:r>
              <a:rPr lang="nl-NL" sz="2000" kern="0">
                <a:solidFill>
                  <a:srgbClr val="000000"/>
                </a:solidFill>
                <a:latin typeface="Arial"/>
              </a:rPr>
              <a:t>@</a:t>
            </a:r>
            <a:r>
              <a:rPr lang="nl-NL" sz="2000" kern="0" err="1">
                <a:solidFill>
                  <a:srgbClr val="000000"/>
                </a:solidFill>
                <a:latin typeface="Arial"/>
              </a:rPr>
              <a:t>ese.eur.nl</a:t>
            </a:r>
            <a:endParaRPr lang="nl-NL" sz="2000" kern="0">
              <a:solidFill>
                <a:srgbClr val="000000"/>
              </a:solidFill>
              <a:latin typeface="Arial"/>
            </a:endParaRPr>
          </a:p>
          <a:p>
            <a:pPr marL="266700" indent="-266700" algn="ctr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endParaRPr lang="nl-NL" sz="2000" kern="0">
              <a:solidFill>
                <a:srgbClr val="000000"/>
              </a:solidFill>
              <a:latin typeface="Arial"/>
            </a:endParaRPr>
          </a:p>
          <a:p>
            <a:pPr marL="266700" indent="-266700" algn="ctr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endParaRPr lang="nl-NL" sz="2000" kern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sz="3200" kern="0">
                <a:solidFill>
                  <a:srgbClr val="000000"/>
                </a:solidFill>
                <a:latin typeface="Times New Roman"/>
              </a:rPr>
              <a:t>Week 2: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3200" kern="0">
                <a:solidFill>
                  <a:srgbClr val="000000"/>
                </a:solidFill>
                <a:latin typeface="Times New Roman"/>
              </a:rPr>
              <a:t>Externalities</a:t>
            </a:r>
          </a:p>
          <a:p>
            <a:pPr marL="266700" indent="-266700" algn="ctr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endParaRPr lang="nl-NL" kern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CB779F-6399-4399-A424-D56171ED1F31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4970463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en-US" sz="2400" dirty="0"/>
              <a:t>Review of perfect competition &amp; Pareto-efficiency</a:t>
            </a:r>
          </a:p>
          <a:p>
            <a:pPr eaLnBrk="1" hangingPunct="1">
              <a:buFontTx/>
              <a:buChar char="-"/>
            </a:pPr>
            <a:r>
              <a:rPr lang="en-US" altLang="en-US" sz="2400" dirty="0"/>
              <a:t>Social welfare: efficiency &amp; distribution</a:t>
            </a:r>
          </a:p>
          <a:p>
            <a:pPr eaLnBrk="1" hangingPunct="1">
              <a:buFontTx/>
              <a:buChar char="-"/>
            </a:pPr>
            <a:r>
              <a:rPr lang="en-US" altLang="en-US" sz="2400" dirty="0"/>
              <a:t>General framework for analyzing &amp; evaluating economic policies</a:t>
            </a:r>
          </a:p>
          <a:p>
            <a:pPr eaLnBrk="1" hangingPunct="1">
              <a:buFontTx/>
              <a:buChar char="-"/>
            </a:pPr>
            <a:r>
              <a:rPr lang="en-US" altLang="en-US" sz="2400" dirty="0"/>
              <a:t>Public goods</a:t>
            </a:r>
          </a:p>
          <a:p>
            <a:pPr lvl="1" eaLnBrk="1" hangingPunct="1">
              <a:buFontTx/>
              <a:buChar char="-"/>
            </a:pPr>
            <a:r>
              <a:rPr lang="en-US" altLang="en-US" sz="2000" dirty="0"/>
              <a:t>Market failure: </a:t>
            </a:r>
            <a:r>
              <a:rPr lang="en-US" altLang="en-US" sz="2000" dirty="0" err="1"/>
              <a:t>underprovision</a:t>
            </a:r>
            <a:endParaRPr lang="en-US" altLang="en-US" sz="2000" dirty="0"/>
          </a:p>
          <a:p>
            <a:pPr lvl="1" eaLnBrk="1" hangingPunct="1">
              <a:buFontTx/>
              <a:buChar char="-"/>
            </a:pPr>
            <a:r>
              <a:rPr lang="en-US" altLang="en-US" sz="2000" dirty="0">
                <a:sym typeface="Wingdings" panose="05000000000000000000" pitchFamily="2" charset="2"/>
              </a:rPr>
              <a:t>People do not take into account that others also benefit from their contribution towards the public good</a:t>
            </a:r>
            <a:endParaRPr lang="en-US" alt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Today: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More situations where individually optimal choices are not socially efficient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 externalities</a:t>
            </a:r>
            <a:endParaRPr lang="en-US" altLang="en-US" sz="2400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936625"/>
          </a:xfrm>
          <a:noFill/>
        </p:spPr>
        <p:txBody>
          <a:bodyPr/>
          <a:lstStyle/>
          <a:p>
            <a:pPr marL="838200" indent="-838200" eaLnBrk="1" hangingPunct="1"/>
            <a:r>
              <a:rPr lang="en-US" altLang="en-US" sz="3600" dirty="0"/>
              <a:t>Last week</a:t>
            </a: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7A3B4-9303-4456-AED3-8E153581B87B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72400" cy="587375"/>
          </a:xfrm>
        </p:spPr>
        <p:txBody>
          <a:bodyPr/>
          <a:lstStyle/>
          <a:p>
            <a:pPr eaLnBrk="1" hangingPunct="1"/>
            <a:r>
              <a:rPr lang="en-US" altLang="en-US" sz="3600"/>
              <a:t>Roadmap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Characteristics of externalities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Market failure in case of externalities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Why is there too much / too little production / consumption in case of externalities?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Socially efficient outcome in case of externalities?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Coase Theorem: When / how can private parties reach this socially efficient outcome? </a:t>
            </a:r>
            <a:r>
              <a:rPr lang="en-US" altLang="en-US" sz="2800" dirty="0">
                <a:sym typeface="Wingdings" panose="05000000000000000000" pitchFamily="2" charset="2"/>
              </a:rPr>
              <a:t> </a:t>
            </a:r>
            <a:r>
              <a:rPr lang="en-US" altLang="en-US" sz="2800" dirty="0"/>
              <a:t>video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If not, can the government improve efficiency?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Pigouvian taxes &amp; subsidies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Regulation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Should she do so?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D5EEFD-2024-42A2-97B2-09D516537C32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00563" y="1773238"/>
            <a:ext cx="3810000" cy="4897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Beekeeper and fruit farmer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R&amp;D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Vaccination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Questions during the lecture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i="1" dirty="0"/>
              <a:t>	“If I consume or produce, others benefit”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95288" y="1773238"/>
            <a:ext cx="3810000" cy="4895850"/>
          </a:xfrm>
        </p:spPr>
        <p:txBody>
          <a:bodyPr/>
          <a:lstStyle/>
          <a:p>
            <a:pPr eaLnBrk="1" hangingPunct="1"/>
            <a:r>
              <a:rPr lang="en-US" altLang="en-US"/>
              <a:t>Polluting  </a:t>
            </a:r>
          </a:p>
          <a:p>
            <a:pPr eaLnBrk="1" hangingPunct="1"/>
            <a:r>
              <a:rPr lang="en-US" altLang="en-US"/>
              <a:t>(Indoor) smoking</a:t>
            </a:r>
          </a:p>
          <a:p>
            <a:pPr eaLnBrk="1" hangingPunct="1"/>
            <a:r>
              <a:rPr lang="en-US" altLang="en-US"/>
              <a:t>Drink-and-drive</a:t>
            </a:r>
          </a:p>
          <a:p>
            <a:pPr eaLnBrk="1" hangingPunct="1"/>
            <a:r>
              <a:rPr lang="en-US" altLang="en-US"/>
              <a:t>Being late for a lecture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	</a:t>
            </a:r>
            <a:r>
              <a:rPr lang="en-US" altLang="en-US" i="1"/>
              <a:t>“If I consume or produce, others are harmed” </a:t>
            </a:r>
          </a:p>
        </p:txBody>
      </p:sp>
      <p:sp>
        <p:nvSpPr>
          <p:cNvPr id="28677" name="AutoShape 6"/>
          <p:cNvSpPr>
            <a:spLocks noChangeArrowheads="1"/>
          </p:cNvSpPr>
          <p:nvPr/>
        </p:nvSpPr>
        <p:spPr bwMode="auto">
          <a:xfrm>
            <a:off x="2268538" y="4149725"/>
            <a:ext cx="71437" cy="935038"/>
          </a:xfrm>
          <a:prstGeom prst="downArrow">
            <a:avLst>
              <a:gd name="adj1" fmla="val 50000"/>
              <a:gd name="adj2" fmla="val 32722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539750" y="404813"/>
            <a:ext cx="7772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Externalities: some examples</a:t>
            </a:r>
            <a:endParaRPr lang="nl-NL" altLang="en-US" sz="36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BC1BB8-45D3-4ADF-A8A2-F372FA4C832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08962" cy="5472113"/>
          </a:xfrm>
        </p:spPr>
        <p:txBody>
          <a:bodyPr/>
          <a:lstStyle/>
          <a:p>
            <a:pPr marL="266700" indent="-266700" eaLnBrk="1" hangingPunct="1">
              <a:tabLst>
                <a:tab pos="533400" algn="l"/>
              </a:tabLst>
            </a:pPr>
            <a:r>
              <a:rPr lang="en-US" altLang="en-US" sz="2800"/>
              <a:t>Externalities arise when activity of a consumer or producer affects utility / payoff of other people, </a:t>
            </a:r>
            <a:r>
              <a:rPr lang="en-US" altLang="en-US" sz="2800" b="1" i="1"/>
              <a:t>outside</a:t>
            </a:r>
            <a:r>
              <a:rPr lang="en-US" altLang="en-US" sz="2800"/>
              <a:t> the market mechanism:</a:t>
            </a:r>
          </a:p>
          <a:p>
            <a:pPr marL="622300" lvl="1" indent="-176213" eaLnBrk="1" hangingPunct="1">
              <a:tabLst>
                <a:tab pos="533400" algn="l"/>
              </a:tabLst>
            </a:pPr>
            <a:r>
              <a:rPr lang="en-US" altLang="en-US" sz="2400" b="1" i="1"/>
              <a:t>Negative externality</a:t>
            </a:r>
            <a:r>
              <a:rPr lang="en-US" altLang="en-US" sz="2400"/>
              <a:t>: production/consumption harms others</a:t>
            </a:r>
          </a:p>
          <a:p>
            <a:pPr marL="622300" lvl="1" indent="-176213" eaLnBrk="1" hangingPunct="1">
              <a:tabLst>
                <a:tab pos="533400" algn="l"/>
              </a:tabLst>
            </a:pPr>
            <a:r>
              <a:rPr lang="en-US" altLang="en-US" sz="2400" b="1" i="1"/>
              <a:t>Positive externality: </a:t>
            </a:r>
            <a:r>
              <a:rPr lang="en-US" altLang="en-US" sz="2400"/>
              <a:t>production/consumption benefits others.</a:t>
            </a:r>
          </a:p>
        </p:txBody>
      </p:sp>
      <p:sp>
        <p:nvSpPr>
          <p:cNvPr id="29700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Externalities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BC1BB8-45D3-4ADF-A8A2-F372FA4C832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08962" cy="5472113"/>
          </a:xfrm>
        </p:spPr>
        <p:txBody>
          <a:bodyPr/>
          <a:lstStyle/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Is this an externality?</a:t>
            </a:r>
          </a:p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1. A factory emits substances that increase the risk of cancer in local residents </a:t>
            </a:r>
          </a:p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2. Trade liberalization leads to lower wages for low-skilled employees in Europe.</a:t>
            </a:r>
          </a:p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3. Increase in longevity leads to higher housing prices. </a:t>
            </a:r>
          </a:p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4. Smoking leads to higher cost of health care </a:t>
            </a:r>
          </a:p>
          <a:p>
            <a:pPr marL="0" indent="0" eaLnBrk="1" hangingPunct="1">
              <a:buNone/>
              <a:tabLst>
                <a:tab pos="533400" algn="l"/>
              </a:tabLst>
            </a:pPr>
            <a:r>
              <a:rPr lang="en-US" altLang="en-US" sz="2800"/>
              <a:t>5. Smoking leads to low wellbeing when old</a:t>
            </a:r>
          </a:p>
        </p:txBody>
      </p:sp>
      <p:sp>
        <p:nvSpPr>
          <p:cNvPr id="29700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Externalities</a:t>
            </a:r>
          </a:p>
        </p:txBody>
      </p:sp>
    </p:spTree>
    <p:extLst>
      <p:ext uri="{BB962C8B-B14F-4D97-AF65-F5344CB8AC3E}">
        <p14:creationId xmlns:p14="http://schemas.microsoft.com/office/powerpoint/2010/main" val="104759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9"/>
          <p:cNvSpPr>
            <a:spLocks noChangeArrowheads="1"/>
          </p:cNvSpPr>
          <p:nvPr/>
        </p:nvSpPr>
        <p:spPr bwMode="auto">
          <a:xfrm>
            <a:off x="6777297" y="1202271"/>
            <a:ext cx="2375594" cy="864096"/>
          </a:xfrm>
          <a:prstGeom prst="wedgeRoundRectCallout">
            <a:avLst>
              <a:gd name="adj1" fmla="val -97598"/>
              <a:gd name="adj2" fmla="val 164916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Note: if this is &gt;200, Nash eq is soc. eff.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2213" y="271933"/>
            <a:ext cx="8435975" cy="360045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/>
              <a:t>Illustration externalities: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/>
              <a:t>Miss Green wants to plant a tree in her back garden.</a:t>
            </a:r>
            <a:br>
              <a:rPr lang="en-US" sz="2400"/>
            </a:br>
            <a:r>
              <a:rPr lang="en-US" sz="2400"/>
              <a:t>- Small tree: costs €100, value to Miss G = €150</a:t>
            </a:r>
          </a:p>
          <a:p>
            <a:pPr lvl="1" eaLnBrk="1" hangingPunct="1">
              <a:lnSpc>
                <a:spcPct val="90000"/>
              </a:lnSpc>
              <a:buFontTx/>
              <a:buChar char="-"/>
            </a:pPr>
            <a:r>
              <a:rPr lang="en-US" sz="2400"/>
              <a:t>Big tree: costs €300, value to Miss G = €400.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err="1"/>
              <a:t>Neighbour</a:t>
            </a:r>
            <a:r>
              <a:rPr lang="en-US" sz="2400"/>
              <a:t> </a:t>
            </a:r>
            <a:r>
              <a:rPr lang="en-US" sz="2400" err="1"/>
              <a:t>Mr</a:t>
            </a:r>
            <a:r>
              <a:rPr lang="en-US" sz="2400"/>
              <a:t> Brown likes to sit outside, in the sun</a:t>
            </a:r>
          </a:p>
          <a:p>
            <a:pPr lvl="1" eaLnBrk="1" hangingPunct="1">
              <a:lnSpc>
                <a:spcPct val="90000"/>
              </a:lnSpc>
              <a:buFontTx/>
              <a:buChar char="-"/>
            </a:pPr>
            <a:r>
              <a:rPr lang="en-US" sz="2400"/>
              <a:t>Back garden: Valued by </a:t>
            </a:r>
            <a:r>
              <a:rPr lang="en-US" sz="2400" err="1"/>
              <a:t>Mr</a:t>
            </a:r>
            <a:r>
              <a:rPr lang="en-US" sz="2400"/>
              <a:t> B at €250</a:t>
            </a:r>
          </a:p>
          <a:p>
            <a:pPr lvl="1" eaLnBrk="1" hangingPunct="1">
              <a:lnSpc>
                <a:spcPct val="90000"/>
              </a:lnSpc>
              <a:buFontTx/>
              <a:buChar char="-"/>
            </a:pPr>
            <a:r>
              <a:rPr lang="en-US" sz="2400"/>
              <a:t>Front garden: Valued by </a:t>
            </a:r>
            <a:r>
              <a:rPr lang="en-US" sz="2400" err="1"/>
              <a:t>Mr</a:t>
            </a:r>
            <a:r>
              <a:rPr lang="en-US" sz="2400"/>
              <a:t> B at €150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/>
              <a:t>If miss G plants big tree, no more sun in </a:t>
            </a:r>
            <a:r>
              <a:rPr lang="en-US" sz="2400" err="1"/>
              <a:t>mr</a:t>
            </a:r>
            <a:r>
              <a:rPr lang="en-US" sz="2400"/>
              <a:t> B back garden </a:t>
            </a:r>
            <a:br>
              <a:rPr lang="en-US" sz="2400"/>
            </a:br>
            <a:r>
              <a:rPr lang="en-US" sz="2400">
                <a:sym typeface="Wingdings" panose="05000000000000000000" pitchFamily="2" charset="2"/>
              </a:rPr>
              <a:t> Value to </a:t>
            </a:r>
            <a:r>
              <a:rPr lang="en-US" sz="2400" err="1">
                <a:sym typeface="Wingdings" panose="05000000000000000000" pitchFamily="2" charset="2"/>
              </a:rPr>
              <a:t>mr</a:t>
            </a:r>
            <a:r>
              <a:rPr lang="en-US" sz="2400">
                <a:sym typeface="Wingdings" panose="05000000000000000000" pitchFamily="2" charset="2"/>
              </a:rPr>
              <a:t> B of sitting in back garden only </a:t>
            </a:r>
            <a:r>
              <a:rPr lang="en-US" sz="2400"/>
              <a:t>€</a:t>
            </a:r>
            <a:r>
              <a:rPr lang="en-US" sz="2400">
                <a:sym typeface="Wingdings" panose="05000000000000000000" pitchFamily="2" charset="2"/>
              </a:rPr>
              <a:t>75</a:t>
            </a:r>
          </a:p>
        </p:txBody>
      </p:sp>
      <p:graphicFrame>
        <p:nvGraphicFramePr>
          <p:cNvPr id="34895" name="Group 7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43711557"/>
              </p:ext>
            </p:extLst>
          </p:nvPr>
        </p:nvGraphicFramePr>
        <p:xfrm>
          <a:off x="457199" y="3860800"/>
          <a:ext cx="7931151" cy="2303464"/>
        </p:xfrm>
        <a:graphic>
          <a:graphicData uri="http://schemas.openxmlformats.org/drawingml/2006/table">
            <a:tbl>
              <a:tblPr/>
              <a:tblGrid>
                <a:gridCol w="1018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3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7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A5658"/>
                          </a:solidFill>
                          <a:effectLst/>
                          <a:latin typeface="Times New Roman" pitchFamily="18" charset="0"/>
                        </a:rPr>
                        <a:t>Mr Brown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Miss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Green</a:t>
                      </a:r>
                      <a:endParaRPr kumimoji="0" lang="nl-NL" sz="24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Sit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back garden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Sit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front garden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Small tree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50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A5658"/>
                          </a:solidFill>
                          <a:effectLst/>
                          <a:latin typeface="Times New Roman" pitchFamily="18" charset="0"/>
                        </a:rPr>
                        <a:t>250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50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A5658"/>
                          </a:solidFill>
                          <a:effectLst/>
                          <a:latin typeface="Times New Roman" pitchFamily="18" charset="0"/>
                        </a:rPr>
                        <a:t>150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Big tree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A5658"/>
                          </a:solidFill>
                          <a:effectLst/>
                          <a:latin typeface="Times New Roman" pitchFamily="18" charset="0"/>
                        </a:rPr>
                        <a:t>75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A5658"/>
                          </a:solidFill>
                          <a:effectLst/>
                          <a:latin typeface="Times New Roman" pitchFamily="18" charset="0"/>
                        </a:rPr>
                        <a:t>150</a:t>
                      </a:r>
                      <a:r>
                        <a:rPr kumimoji="0" lang="nl-NL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34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C9EC31-BE03-4CC7-97D5-5D1FB6C717A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AutoShape 39"/>
          <p:cNvSpPr>
            <a:spLocks noChangeArrowheads="1"/>
          </p:cNvSpPr>
          <p:nvPr/>
        </p:nvSpPr>
        <p:spPr bwMode="auto">
          <a:xfrm>
            <a:off x="683568" y="4149080"/>
            <a:ext cx="2375594" cy="575320"/>
          </a:xfrm>
          <a:prstGeom prst="wedgeRoundRectCallout">
            <a:avLst>
              <a:gd name="adj1" fmla="val 90240"/>
              <a:gd name="adj2" fmla="val 117108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Socially efficient</a:t>
            </a:r>
          </a:p>
        </p:txBody>
      </p:sp>
      <p:sp>
        <p:nvSpPr>
          <p:cNvPr id="6" name="AutoShape 39"/>
          <p:cNvSpPr>
            <a:spLocks noChangeArrowheads="1"/>
          </p:cNvSpPr>
          <p:nvPr/>
        </p:nvSpPr>
        <p:spPr bwMode="auto">
          <a:xfrm>
            <a:off x="6733614" y="3776664"/>
            <a:ext cx="2375594" cy="575320"/>
          </a:xfrm>
          <a:prstGeom prst="wedgeRoundRectCallout">
            <a:avLst>
              <a:gd name="adj1" fmla="val 10563"/>
              <a:gd name="adj2" fmla="val 317369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Nash equilibrium</a:t>
            </a:r>
          </a:p>
        </p:txBody>
      </p:sp>
    </p:spTree>
    <p:extLst>
      <p:ext uri="{BB962C8B-B14F-4D97-AF65-F5344CB8AC3E}">
        <p14:creationId xmlns:p14="http://schemas.microsoft.com/office/powerpoint/2010/main" val="362730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50BB36-6E74-426F-9855-0CBE3F00D3E0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68413"/>
            <a:ext cx="7989887" cy="4752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Characteristics externalities (see book):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Arise due to the lack of an explicit price 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dirty="0"/>
              <a:t> (‘Missing market’)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Can be caused by consumers and producers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Can be positive or negative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Is a ‘dual’ issue.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Public good is special case!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Market failure: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Negative externality </a:t>
            </a: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400" dirty="0"/>
              <a:t>‘overproduction / -consumption’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Positive externality </a:t>
            </a: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400" dirty="0"/>
              <a:t>‘underproduction / -consumption’</a:t>
            </a:r>
          </a:p>
        </p:txBody>
      </p:sp>
      <p:sp>
        <p:nvSpPr>
          <p:cNvPr id="31748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72400" cy="587375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Externalities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9601E4-5E90-44F8-8846-763BBD38C49D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5472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Example: negative production externality </a:t>
            </a:r>
          </a:p>
          <a:p>
            <a:pPr lvl="1" eaLnBrk="1" hangingPunct="1"/>
            <a:r>
              <a:rPr lang="en-US" altLang="en-US" sz="2400"/>
              <a:t>Fictitious company Pharma produces chemicals</a:t>
            </a:r>
          </a:p>
          <a:p>
            <a:pPr lvl="1" eaLnBrk="1" hangingPunct="1"/>
            <a:r>
              <a:rPr lang="en-US" altLang="en-US" sz="2400"/>
              <a:t>Production process pollutes river Rhine</a:t>
            </a:r>
          </a:p>
          <a:p>
            <a:pPr lvl="1" eaLnBrk="1" hangingPunct="1"/>
            <a:r>
              <a:rPr lang="en-US" altLang="en-US" sz="2400"/>
              <a:t>In Het Westland, water from the Rhine used to grow tomatoes (in greenhouses)</a:t>
            </a:r>
          </a:p>
          <a:p>
            <a:pPr lvl="1" eaLnBrk="1" hangingPunct="1"/>
            <a:r>
              <a:rPr lang="en-US" altLang="en-US" sz="2400"/>
              <a:t>Pollution of the Rhine reduces growth tomatoes</a:t>
            </a:r>
            <a:br>
              <a:rPr lang="en-US" altLang="en-US" sz="2400"/>
            </a:br>
            <a:r>
              <a:rPr lang="en-US" altLang="en-US" sz="2400">
                <a:sym typeface="Wingdings" panose="05000000000000000000" pitchFamily="2" charset="2"/>
              </a:rPr>
              <a:t> damage!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>
              <a:buFontTx/>
              <a:buNone/>
            </a:pPr>
            <a:r>
              <a:rPr lang="en-US" altLang="en-US" sz="2800"/>
              <a:t>Pharma’s production affects income tomato growers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However, Pharma does not take this damage into account (pollution is costless)</a:t>
            </a:r>
            <a:br>
              <a:rPr lang="en-US" altLang="en-US" sz="2800"/>
            </a:br>
            <a:r>
              <a:rPr lang="en-US" altLang="en-US" sz="2400">
                <a:sym typeface="Wingdings" panose="05000000000000000000" pitchFamily="2" charset="2"/>
              </a:rPr>
              <a:t> difference between private and social optimum</a:t>
            </a:r>
            <a:endParaRPr lang="en-US" altLang="en-US" sz="2400"/>
          </a:p>
          <a:p>
            <a:pPr eaLnBrk="1" hangingPunct="1"/>
            <a:endParaRPr lang="en-US" altLang="en-US" sz="2800"/>
          </a:p>
        </p:txBody>
      </p:sp>
      <p:sp>
        <p:nvSpPr>
          <p:cNvPr id="33796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FBB2AC-3E3F-4847-B1EE-EE04CDBE587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/>
          </a:p>
        </p:txBody>
      </p:sp>
      <p:sp>
        <p:nvSpPr>
          <p:cNvPr id="34819" name="Line 3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4820" name="Line 4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180231" name="Line 7"/>
          <p:cNvSpPr>
            <a:spLocks noChangeShapeType="1"/>
          </p:cNvSpPr>
          <p:nvPr/>
        </p:nvSpPr>
        <p:spPr bwMode="auto">
          <a:xfrm>
            <a:off x="1619250" y="2565400"/>
            <a:ext cx="5338763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32" name="Text Box 8"/>
          <p:cNvSpPr txBox="1">
            <a:spLocks noChangeArrowheads="1"/>
          </p:cNvSpPr>
          <p:nvPr/>
        </p:nvSpPr>
        <p:spPr bwMode="auto">
          <a:xfrm>
            <a:off x="6861175" y="5426075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MPB</a:t>
            </a: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0234" name="Line 10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35" name="Text Box 11"/>
          <p:cNvSpPr txBox="1">
            <a:spLocks noChangeArrowheads="1"/>
          </p:cNvSpPr>
          <p:nvPr/>
        </p:nvSpPr>
        <p:spPr bwMode="auto">
          <a:xfrm>
            <a:off x="7872413" y="4445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180236" name="Line 12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37" name="Text Box 13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180238" name="Line 14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39" name="Text Box 15"/>
          <p:cNvSpPr txBox="1">
            <a:spLocks noChangeArrowheads="1"/>
          </p:cNvSpPr>
          <p:nvPr/>
        </p:nvSpPr>
        <p:spPr bwMode="auto">
          <a:xfrm>
            <a:off x="6732588" y="1412875"/>
            <a:ext cx="207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180240" name="Line 16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41" name="Line 17"/>
          <p:cNvSpPr>
            <a:spLocks noChangeShapeType="1"/>
          </p:cNvSpPr>
          <p:nvPr/>
        </p:nvSpPr>
        <p:spPr bwMode="auto">
          <a:xfrm>
            <a:off x="3784600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42" name="Text Box 18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80243" name="Text Box 19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180244" name="Text Box 20"/>
          <p:cNvSpPr txBox="1">
            <a:spLocks noChangeArrowheads="1"/>
          </p:cNvSpPr>
          <p:nvPr/>
        </p:nvSpPr>
        <p:spPr bwMode="auto">
          <a:xfrm>
            <a:off x="4725024" y="6437868"/>
            <a:ext cx="190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Market outcome</a:t>
            </a:r>
          </a:p>
        </p:txBody>
      </p:sp>
      <p:sp>
        <p:nvSpPr>
          <p:cNvPr id="180245" name="Line 21"/>
          <p:cNvSpPr>
            <a:spLocks noChangeShapeType="1"/>
          </p:cNvSpPr>
          <p:nvPr/>
        </p:nvSpPr>
        <p:spPr bwMode="auto">
          <a:xfrm flipH="1" flipV="1">
            <a:off x="4419600" y="6386513"/>
            <a:ext cx="306388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0246" name="Text Box 22"/>
          <p:cNvSpPr txBox="1">
            <a:spLocks noChangeArrowheads="1"/>
          </p:cNvSpPr>
          <p:nvPr/>
        </p:nvSpPr>
        <p:spPr bwMode="auto">
          <a:xfrm>
            <a:off x="478952" y="6329554"/>
            <a:ext cx="2783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Socially efficient outcome</a:t>
            </a:r>
          </a:p>
        </p:txBody>
      </p:sp>
      <p:sp>
        <p:nvSpPr>
          <p:cNvPr id="180247" name="Line 23"/>
          <p:cNvSpPr>
            <a:spLocks noChangeShapeType="1"/>
          </p:cNvSpPr>
          <p:nvPr/>
        </p:nvSpPr>
        <p:spPr bwMode="auto">
          <a:xfrm flipV="1">
            <a:off x="3189288" y="6270625"/>
            <a:ext cx="34607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4840" name="Rectangle 3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  <p:sp>
        <p:nvSpPr>
          <p:cNvPr id="180260" name="AutoShape 36"/>
          <p:cNvSpPr>
            <a:spLocks noChangeArrowheads="1"/>
          </p:cNvSpPr>
          <p:nvPr/>
        </p:nvSpPr>
        <p:spPr bwMode="auto">
          <a:xfrm>
            <a:off x="6877050" y="3213100"/>
            <a:ext cx="2087563" cy="1152525"/>
          </a:xfrm>
          <a:prstGeom prst="wedgeRoundRectCallout">
            <a:avLst>
              <a:gd name="adj1" fmla="val -74333"/>
              <a:gd name="adj2" fmla="val 150278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Pig. tax = cd, raises MPC to MPC + cd</a:t>
            </a:r>
          </a:p>
        </p:txBody>
      </p:sp>
      <p:sp>
        <p:nvSpPr>
          <p:cNvPr id="180261" name="AutoShape 37"/>
          <p:cNvSpPr>
            <a:spLocks noChangeArrowheads="1"/>
          </p:cNvSpPr>
          <p:nvPr/>
        </p:nvSpPr>
        <p:spPr bwMode="auto">
          <a:xfrm>
            <a:off x="6444213" y="3213100"/>
            <a:ext cx="2699788" cy="1152525"/>
          </a:xfrm>
          <a:prstGeom prst="wedgeRoundRectCallout">
            <a:avLst>
              <a:gd name="adj1" fmla="val -87462"/>
              <a:gd name="adj2" fmla="val -5348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Marg </a:t>
            </a:r>
            <a:r>
              <a:rPr lang="en-US" altLang="en-US" sz="2400" err="1"/>
              <a:t>priv</a:t>
            </a:r>
            <a:r>
              <a:rPr lang="en-US" altLang="en-US" sz="2400"/>
              <a:t> benefit and cost to producer (Pharma)</a:t>
            </a:r>
          </a:p>
        </p:txBody>
      </p:sp>
      <p:sp>
        <p:nvSpPr>
          <p:cNvPr id="180262" name="AutoShape 38"/>
          <p:cNvSpPr>
            <a:spLocks noChangeArrowheads="1"/>
          </p:cNvSpPr>
          <p:nvPr/>
        </p:nvSpPr>
        <p:spPr bwMode="auto">
          <a:xfrm>
            <a:off x="0" y="3357563"/>
            <a:ext cx="2484438" cy="863600"/>
          </a:xfrm>
          <a:prstGeom prst="wedgeRoundRectCallout">
            <a:avLst>
              <a:gd name="adj1" fmla="val 84694"/>
              <a:gd name="adj2" fmla="val 207903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Marg external cost (to growers)</a:t>
            </a:r>
          </a:p>
        </p:txBody>
      </p:sp>
      <p:sp>
        <p:nvSpPr>
          <p:cNvPr id="180263" name="AutoShape 39"/>
          <p:cNvSpPr>
            <a:spLocks noChangeArrowheads="1"/>
          </p:cNvSpPr>
          <p:nvPr/>
        </p:nvSpPr>
        <p:spPr bwMode="auto">
          <a:xfrm>
            <a:off x="3563938" y="1052513"/>
            <a:ext cx="2087562" cy="863600"/>
          </a:xfrm>
          <a:prstGeom prst="wedgeRoundRectCallout">
            <a:avLst>
              <a:gd name="adj1" fmla="val 41181"/>
              <a:gd name="adj2" fmla="val 161579"/>
              <a:gd name="adj3" fmla="val 166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Marginal social cost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8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18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18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8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2000"/>
                                        <p:tgtEl>
                                          <p:spTgt spid="18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1" grpId="0" animBg="1"/>
      <p:bldP spid="180232" grpId="0"/>
      <p:bldP spid="180234" grpId="0" animBg="1"/>
      <p:bldP spid="180235" grpId="0"/>
      <p:bldP spid="180236" grpId="0" animBg="1"/>
      <p:bldP spid="180237" grpId="0"/>
      <p:bldP spid="180238" grpId="0" animBg="1"/>
      <p:bldP spid="180239" grpId="0"/>
      <p:bldP spid="180240" grpId="0" animBg="1"/>
      <p:bldP spid="180241" grpId="0" animBg="1"/>
      <p:bldP spid="180242" grpId="0"/>
      <p:bldP spid="180243" grpId="0"/>
      <p:bldP spid="180244" grpId="0"/>
      <p:bldP spid="180245" grpId="0" animBg="1"/>
      <p:bldP spid="180246" grpId="0"/>
      <p:bldP spid="180247" grpId="0" animBg="1"/>
      <p:bldP spid="180260" grpId="0" animBg="1"/>
      <p:bldP spid="180261" grpId="0" animBg="1"/>
      <p:bldP spid="180262" grpId="0" animBg="1"/>
      <p:bldP spid="1802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65B4C0-8E69-406A-89CB-22961B38E7B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424862" cy="5470525"/>
          </a:xfrm>
        </p:spPr>
        <p:txBody>
          <a:bodyPr/>
          <a:lstStyle/>
          <a:p>
            <a:pPr marL="812800" indent="-812800" eaLnBrk="1" hangingPunct="1">
              <a:buFontTx/>
              <a:buNone/>
            </a:pPr>
            <a:r>
              <a:rPr lang="en-US" altLang="en-US" sz="2800" dirty="0"/>
              <a:t>Explanation (see figures):</a:t>
            </a:r>
          </a:p>
          <a:p>
            <a:pPr marL="1168400" lvl="1" indent="-711200" eaLnBrk="1" hangingPunct="1"/>
            <a:r>
              <a:rPr lang="en-US" altLang="en-US" sz="2400" dirty="0"/>
              <a:t>Pharma </a:t>
            </a:r>
            <a:r>
              <a:rPr lang="en-US" altLang="en-US" sz="2400" dirty="0" err="1"/>
              <a:t>maximises</a:t>
            </a:r>
            <a:r>
              <a:rPr lang="en-US" altLang="en-US" sz="2400" dirty="0"/>
              <a:t> profit at Q</a:t>
            </a:r>
            <a:r>
              <a:rPr lang="en-US" altLang="en-US" sz="2400" baseline="30000" dirty="0">
                <a:latin typeface="Arial" panose="020B0604020202020204" pitchFamily="34" charset="0"/>
              </a:rPr>
              <a:t>P</a:t>
            </a:r>
            <a:r>
              <a:rPr lang="en-US" altLang="en-US" sz="2400" dirty="0"/>
              <a:t> :</a:t>
            </a:r>
          </a:p>
          <a:p>
            <a:pPr marL="1168400" lvl="1" indent="-711200" eaLnBrk="1" hangingPunct="1">
              <a:buFontTx/>
              <a:buNone/>
            </a:pPr>
            <a:r>
              <a:rPr lang="en-US" altLang="en-US" sz="2400" dirty="0"/>
              <a:t>		MPB = MPC </a:t>
            </a:r>
          </a:p>
          <a:p>
            <a:pPr marL="1168400" lvl="1" indent="-711200" eaLnBrk="1" hangingPunct="1"/>
            <a:r>
              <a:rPr lang="en-US" altLang="en-US" sz="2400" dirty="0"/>
              <a:t>The higher the production, the more damage (MD) 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 growers want </a:t>
            </a:r>
            <a:r>
              <a:rPr lang="en-US" altLang="en-US" sz="2400" dirty="0"/>
              <a:t>Q = 0!</a:t>
            </a:r>
          </a:p>
          <a:p>
            <a:pPr marL="1168400" lvl="1" indent="-711200" eaLnBrk="1" hangingPunct="1">
              <a:buFontTx/>
              <a:buNone/>
            </a:pPr>
            <a:r>
              <a:rPr lang="en-US" altLang="en-US" sz="2400" dirty="0"/>
              <a:t>Both situations not socially efficient.</a:t>
            </a:r>
          </a:p>
          <a:p>
            <a:pPr marL="1168400" lvl="1" indent="-711200" eaLnBrk="1" hangingPunct="1">
              <a:buFontTx/>
              <a:buNone/>
            </a:pPr>
            <a:r>
              <a:rPr lang="en-US" altLang="en-US" sz="2400" dirty="0"/>
              <a:t>At socially efficient level of Q, it must be that </a:t>
            </a:r>
          </a:p>
          <a:p>
            <a:pPr marL="1168400" lvl="1" indent="-711200" algn="ctr" eaLnBrk="1" hangingPunct="1">
              <a:buFontTx/>
              <a:buNone/>
            </a:pPr>
            <a:r>
              <a:rPr lang="en-US" altLang="en-US" sz="2400" dirty="0"/>
              <a:t>M</a:t>
            </a:r>
            <a:r>
              <a:rPr lang="en-US" altLang="en-US" sz="2400" b="1" dirty="0"/>
              <a:t>S</a:t>
            </a:r>
            <a:r>
              <a:rPr lang="en-US" altLang="en-US" sz="2400" dirty="0"/>
              <a:t>B = M</a:t>
            </a:r>
            <a:r>
              <a:rPr lang="en-US" altLang="en-US" sz="2400" b="1" dirty="0"/>
              <a:t>S</a:t>
            </a:r>
            <a:r>
              <a:rPr lang="en-US" altLang="en-US" sz="2400" dirty="0"/>
              <a:t>C</a:t>
            </a:r>
          </a:p>
          <a:p>
            <a:pPr marL="1168400" lvl="1" indent="-711200" eaLnBrk="1" hangingPunct="1">
              <a:buFontTx/>
              <a:buNone/>
            </a:pPr>
            <a:endParaRPr lang="en-US" altLang="en-US" sz="1000" dirty="0"/>
          </a:p>
          <a:p>
            <a:pPr marL="1168400" lvl="1" indent="-711200" eaLnBrk="1" hangingPunct="1">
              <a:buFontTx/>
              <a:buNone/>
            </a:pPr>
            <a:r>
              <a:rPr lang="en-US" altLang="en-US" sz="2400" dirty="0"/>
              <a:t>Here: MSB = MPB, and MSC = MPC + MD</a:t>
            </a:r>
          </a:p>
          <a:p>
            <a:pPr marL="1168400" lvl="1" indent="-711200" eaLnBrk="1" hangingPunct="1">
              <a:buFontTx/>
              <a:buNone/>
            </a:pPr>
            <a:r>
              <a:rPr lang="en-US" altLang="en-US" sz="2400" dirty="0"/>
              <a:t>Hence, socially efficient production level = Q</a:t>
            </a:r>
            <a:r>
              <a:rPr lang="en-US" altLang="en-US" sz="2400" baseline="30000" dirty="0"/>
              <a:t>*</a:t>
            </a:r>
            <a:r>
              <a:rPr lang="en-US" altLang="en-US" sz="2400" dirty="0"/>
              <a:t> (&lt; Q</a:t>
            </a:r>
            <a:r>
              <a:rPr lang="en-US" altLang="en-US" sz="2400" baseline="30000" dirty="0">
                <a:latin typeface="Arial" panose="020B0604020202020204" pitchFamily="34" charset="0"/>
              </a:rPr>
              <a:t>P</a:t>
            </a:r>
            <a:r>
              <a:rPr lang="en-US" altLang="en-US" sz="2400" dirty="0"/>
              <a:t>)</a:t>
            </a:r>
          </a:p>
          <a:p>
            <a:pPr marL="1168400" lvl="1" indent="-711200" eaLnBrk="1" hangingPunct="1"/>
            <a:endParaRPr lang="en-US" altLang="en-US" sz="1000" dirty="0"/>
          </a:p>
          <a:p>
            <a:pPr marL="812800" indent="-812800" eaLnBrk="1" hangingPunct="1">
              <a:buFontTx/>
              <a:buNone/>
            </a:pPr>
            <a:r>
              <a:rPr lang="en-US" altLang="en-US" sz="2800" dirty="0"/>
              <a:t>Note: these are </a:t>
            </a:r>
            <a:r>
              <a:rPr lang="en-US" altLang="en-US" sz="2800" i="1" dirty="0"/>
              <a:t>marginal</a:t>
            </a:r>
            <a:r>
              <a:rPr lang="en-US" altLang="en-US" sz="2800" dirty="0"/>
              <a:t> costs and benefits!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9626B2-E65A-4CFB-B664-4941EB65E3B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424862" cy="5470525"/>
          </a:xfrm>
        </p:spPr>
        <p:txBody>
          <a:bodyPr/>
          <a:lstStyle/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An exercise:</a:t>
            </a:r>
          </a:p>
        </p:txBody>
      </p:sp>
      <p:sp>
        <p:nvSpPr>
          <p:cNvPr id="39940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  <p:extLst>
      <p:ext uri="{BB962C8B-B14F-4D97-AF65-F5344CB8AC3E}">
        <p14:creationId xmlns:p14="http://schemas.microsoft.com/office/powerpoint/2010/main" val="17160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9626B2-E65A-4CFB-B664-4941EB65E3B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424862" cy="5470525"/>
          </a:xfrm>
        </p:spPr>
        <p:txBody>
          <a:bodyPr/>
          <a:lstStyle/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Social gain in moving from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/>
              <a:t> to Q</a:t>
            </a:r>
            <a:r>
              <a:rPr lang="en-US" altLang="en-US" sz="2400" baseline="30000"/>
              <a:t>*</a:t>
            </a:r>
            <a:r>
              <a:rPr lang="en-US" altLang="en-US" sz="2400"/>
              <a:t>  </a:t>
            </a:r>
          </a:p>
          <a:p>
            <a:pPr marL="812800" indent="-812800" eaLnBrk="1" hangingPunct="1">
              <a:lnSpc>
                <a:spcPct val="90000"/>
              </a:lnSpc>
            </a:pPr>
            <a:r>
              <a:rPr lang="en-US" altLang="en-US" sz="2400"/>
              <a:t>Pharma loses profit: area </a:t>
            </a:r>
            <a:r>
              <a:rPr lang="en-US" altLang="en-US" sz="2400" err="1"/>
              <a:t>dcg</a:t>
            </a:r>
            <a:endParaRPr lang="en-US" altLang="en-US" sz="2400"/>
          </a:p>
          <a:p>
            <a:pPr marL="812800" indent="-812800" eaLnBrk="1" hangingPunct="1">
              <a:lnSpc>
                <a:spcPct val="90000"/>
              </a:lnSpc>
            </a:pPr>
            <a:r>
              <a:rPr lang="en-US" altLang="en-US" sz="2400"/>
              <a:t>Growers gain from reduction in pollution: area </a:t>
            </a:r>
            <a:r>
              <a:rPr lang="en-US" altLang="en-US" sz="2400" err="1"/>
              <a:t>abfe</a:t>
            </a:r>
            <a:endParaRPr lang="en-US" altLang="en-US" sz="2400"/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Note: area </a:t>
            </a:r>
            <a:r>
              <a:rPr lang="en-US" altLang="en-US" sz="2400" err="1"/>
              <a:t>abfe</a:t>
            </a:r>
            <a:r>
              <a:rPr lang="en-US" altLang="en-US" sz="2400"/>
              <a:t> is the area below the MD curve between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 baseline="-25000"/>
              <a:t> </a:t>
            </a:r>
            <a:r>
              <a:rPr lang="en-US" altLang="en-US" sz="2400"/>
              <a:t>and Q</a:t>
            </a:r>
            <a:r>
              <a:rPr lang="en-US" altLang="en-US" sz="2400" baseline="30000"/>
              <a:t>*</a:t>
            </a:r>
            <a:r>
              <a:rPr lang="en-US" altLang="en-US" sz="2400"/>
              <a:t>  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endParaRPr lang="en-US" altLang="en-US" sz="1000"/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As MSC = MPC + MD, area </a:t>
            </a:r>
            <a:r>
              <a:rPr lang="en-US" altLang="en-US" sz="2400" err="1"/>
              <a:t>abfe</a:t>
            </a:r>
            <a:r>
              <a:rPr lang="en-US" altLang="en-US" sz="2400"/>
              <a:t> is equal to the area between the MSC and MPC curves between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 baseline="-25000"/>
              <a:t> </a:t>
            </a:r>
            <a:r>
              <a:rPr lang="en-US" altLang="en-US" sz="2400"/>
              <a:t>and Q</a:t>
            </a:r>
            <a:r>
              <a:rPr lang="en-US" altLang="en-US" sz="2400" baseline="30000"/>
              <a:t>*</a:t>
            </a:r>
            <a:r>
              <a:rPr lang="en-US" altLang="en-US" sz="2400"/>
              <a:t> </a:t>
            </a:r>
            <a:br>
              <a:rPr lang="en-US" altLang="en-US" sz="2400"/>
            </a:b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/>
              <a:t>area </a:t>
            </a:r>
            <a:r>
              <a:rPr lang="en-US" altLang="en-US" sz="2400" err="1"/>
              <a:t>abfe</a:t>
            </a:r>
            <a:r>
              <a:rPr lang="en-US" altLang="en-US" sz="2400"/>
              <a:t> = area </a:t>
            </a:r>
            <a:r>
              <a:rPr lang="en-US" altLang="en-US" sz="2400" err="1"/>
              <a:t>cdhg</a:t>
            </a:r>
            <a:endParaRPr lang="en-US" altLang="en-US" sz="2400"/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endParaRPr lang="en-US" altLang="en-US" sz="1000"/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It follows that area </a:t>
            </a:r>
            <a:r>
              <a:rPr lang="en-US" altLang="en-US" sz="2400" err="1"/>
              <a:t>cdhg</a:t>
            </a:r>
            <a:r>
              <a:rPr lang="en-US" altLang="en-US" sz="2400"/>
              <a:t> &gt; area </a:t>
            </a:r>
            <a:r>
              <a:rPr lang="en-US" altLang="en-US" sz="2400" err="1"/>
              <a:t>dcg</a:t>
            </a:r>
            <a:r>
              <a:rPr lang="en-US" altLang="en-US" sz="2400"/>
              <a:t> </a:t>
            </a:r>
          </a:p>
          <a:p>
            <a:pPr marL="812800" indent="-81280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For each Q &gt; </a:t>
            </a:r>
            <a:r>
              <a:rPr lang="en-US" altLang="en-US" sz="2400"/>
              <a:t>Q</a:t>
            </a:r>
            <a:r>
              <a:rPr lang="en-US" altLang="en-US" sz="2400" baseline="30000"/>
              <a:t>*</a:t>
            </a:r>
            <a:r>
              <a:rPr lang="en-US" altLang="en-US" sz="2400">
                <a:sym typeface="Wingdings" panose="05000000000000000000" pitchFamily="2" charset="2"/>
              </a:rPr>
              <a:t>, MD &gt; MPB – MPC </a:t>
            </a:r>
          </a:p>
          <a:p>
            <a:pPr marL="812800" indent="-81280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endParaRPr lang="en-US" altLang="en-US" sz="1000">
              <a:sym typeface="Wingdings" panose="05000000000000000000" pitchFamily="2" charset="2"/>
            </a:endParaRPr>
          </a:p>
          <a:p>
            <a:pPr marL="812800" indent="-8128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So, for each reduction in Q until Q</a:t>
            </a:r>
            <a:r>
              <a:rPr lang="en-US" altLang="en-US" sz="2400" baseline="30000"/>
              <a:t>*</a:t>
            </a:r>
            <a:r>
              <a:rPr lang="en-US" altLang="en-US" sz="2400"/>
              <a:t>, gain growers &gt; loss Pharma</a:t>
            </a:r>
          </a:p>
          <a:p>
            <a:pPr marL="812800" indent="-8128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/>
          </a:p>
          <a:p>
            <a:pPr marL="812800" indent="-8128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Reverse holds for increase in Q up to Q</a:t>
            </a:r>
            <a:r>
              <a:rPr lang="en-US" altLang="en-US" sz="2400" baseline="30000"/>
              <a:t>*</a:t>
            </a:r>
            <a:r>
              <a:rPr lang="en-US" altLang="en-US" sz="2400"/>
              <a:t> : </a:t>
            </a:r>
            <a:br>
              <a:rPr lang="en-US" altLang="en-US" sz="2400"/>
            </a:br>
            <a:r>
              <a:rPr lang="en-US" altLang="en-US" sz="2400">
                <a:sym typeface="Wingdings" panose="05000000000000000000" pitchFamily="2" charset="2"/>
              </a:rPr>
              <a:t> L</a:t>
            </a:r>
            <a:r>
              <a:rPr lang="en-US" altLang="en-US" sz="2400"/>
              <a:t>oss growers &lt; gain Pharma </a:t>
            </a:r>
            <a:r>
              <a:rPr lang="en-US" altLang="en-US" sz="2400">
                <a:sym typeface="Wingdings" panose="05000000000000000000" pitchFamily="2" charset="2"/>
              </a:rPr>
              <a:t> </a:t>
            </a:r>
            <a:endParaRPr lang="en-US" altLang="en-US" sz="2400"/>
          </a:p>
        </p:txBody>
      </p:sp>
      <p:sp>
        <p:nvSpPr>
          <p:cNvPr id="39940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4C2599-E37D-40A1-9F1C-17CE463C11E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/>
          </a:p>
        </p:txBody>
      </p:sp>
      <p:sp>
        <p:nvSpPr>
          <p:cNvPr id="183332" name="Freeform 36"/>
          <p:cNvSpPr>
            <a:spLocks/>
          </p:cNvSpPr>
          <p:nvPr/>
        </p:nvSpPr>
        <p:spPr bwMode="auto">
          <a:xfrm>
            <a:off x="3779838" y="5373688"/>
            <a:ext cx="431800" cy="576262"/>
          </a:xfrm>
          <a:custGeom>
            <a:avLst/>
            <a:gdLst>
              <a:gd name="T0" fmla="*/ 0 w 272"/>
              <a:gd name="T1" fmla="*/ 2147483646 h 363"/>
              <a:gd name="T2" fmla="*/ 0 w 272"/>
              <a:gd name="T3" fmla="*/ 2147483646 h 363"/>
              <a:gd name="T4" fmla="*/ 2147483646 w 272"/>
              <a:gd name="T5" fmla="*/ 2147483646 h 363"/>
              <a:gd name="T6" fmla="*/ 2147483646 w 272"/>
              <a:gd name="T7" fmla="*/ 0 h 363"/>
              <a:gd name="T8" fmla="*/ 0 w 272"/>
              <a:gd name="T9" fmla="*/ 2147483646 h 3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"/>
              <a:gd name="T16" fmla="*/ 0 h 363"/>
              <a:gd name="T17" fmla="*/ 272 w 272"/>
              <a:gd name="T18" fmla="*/ 363 h 3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" h="363">
                <a:moveTo>
                  <a:pt x="0" y="90"/>
                </a:moveTo>
                <a:lnTo>
                  <a:pt x="0" y="363"/>
                </a:lnTo>
                <a:lnTo>
                  <a:pt x="272" y="363"/>
                </a:lnTo>
                <a:lnTo>
                  <a:pt x="272" y="0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2" name="Line 3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3" name="Line 4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1614488" y="2584450"/>
            <a:ext cx="5338762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7" name="Text Box 8"/>
          <p:cNvSpPr txBox="1">
            <a:spLocks noChangeArrowheads="1"/>
          </p:cNvSpPr>
          <p:nvPr/>
        </p:nvSpPr>
        <p:spPr bwMode="auto">
          <a:xfrm>
            <a:off x="6861175" y="5426075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MPB</a:t>
            </a:r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899" name="Line 10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7872413" y="4445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37901" name="Line 12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2" name="Text Box 13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37903" name="Line 14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4" name="Text Box 15"/>
          <p:cNvSpPr txBox="1">
            <a:spLocks noChangeArrowheads="1"/>
          </p:cNvSpPr>
          <p:nvPr/>
        </p:nvSpPr>
        <p:spPr bwMode="auto">
          <a:xfrm>
            <a:off x="7183438" y="16240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37905" name="Line 16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6" name="Line 17"/>
          <p:cNvSpPr>
            <a:spLocks noChangeShapeType="1"/>
          </p:cNvSpPr>
          <p:nvPr/>
        </p:nvSpPr>
        <p:spPr bwMode="auto">
          <a:xfrm>
            <a:off x="3784600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7" name="Text Box 18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7908" name="Text Box 19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37909" name="Text Box 20"/>
          <p:cNvSpPr txBox="1">
            <a:spLocks noChangeArrowheads="1"/>
          </p:cNvSpPr>
          <p:nvPr/>
        </p:nvSpPr>
        <p:spPr bwMode="auto">
          <a:xfrm>
            <a:off x="4687888" y="6442075"/>
            <a:ext cx="190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Market outcome</a:t>
            </a:r>
          </a:p>
        </p:txBody>
      </p:sp>
      <p:sp>
        <p:nvSpPr>
          <p:cNvPr id="37910" name="Line 21"/>
          <p:cNvSpPr>
            <a:spLocks noChangeShapeType="1"/>
          </p:cNvSpPr>
          <p:nvPr/>
        </p:nvSpPr>
        <p:spPr bwMode="auto">
          <a:xfrm flipH="1" flipV="1">
            <a:off x="4419600" y="6386513"/>
            <a:ext cx="306388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517910" y="6347778"/>
            <a:ext cx="28478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Socially efficient outcome</a:t>
            </a:r>
          </a:p>
        </p:txBody>
      </p:sp>
      <p:sp>
        <p:nvSpPr>
          <p:cNvPr id="37912" name="Line 23"/>
          <p:cNvSpPr>
            <a:spLocks noChangeShapeType="1"/>
          </p:cNvSpPr>
          <p:nvPr/>
        </p:nvSpPr>
        <p:spPr bwMode="auto">
          <a:xfrm flipV="1">
            <a:off x="3189288" y="6270625"/>
            <a:ext cx="34607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3320" name="Text Box 24"/>
          <p:cNvSpPr txBox="1">
            <a:spLocks noChangeArrowheads="1"/>
          </p:cNvSpPr>
          <p:nvPr/>
        </p:nvSpPr>
        <p:spPr bwMode="auto">
          <a:xfrm>
            <a:off x="3492500" y="566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83321" name="Text Box 25"/>
          <p:cNvSpPr txBox="1">
            <a:spLocks noChangeArrowheads="1"/>
          </p:cNvSpPr>
          <p:nvPr/>
        </p:nvSpPr>
        <p:spPr bwMode="auto">
          <a:xfrm>
            <a:off x="3708400" y="5157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3735388" y="42735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83323" name="Text Box 27"/>
          <p:cNvSpPr txBox="1">
            <a:spLocks noChangeArrowheads="1"/>
          </p:cNvSpPr>
          <p:nvPr/>
        </p:nvSpPr>
        <p:spPr bwMode="auto">
          <a:xfrm>
            <a:off x="3649663" y="3582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83324" name="Text Box 28"/>
          <p:cNvSpPr txBox="1">
            <a:spLocks noChangeArrowheads="1"/>
          </p:cNvSpPr>
          <p:nvPr/>
        </p:nvSpPr>
        <p:spPr bwMode="auto">
          <a:xfrm>
            <a:off x="4149725" y="5327650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83325" name="Text Box 29"/>
          <p:cNvSpPr txBox="1">
            <a:spLocks noChangeArrowheads="1"/>
          </p:cNvSpPr>
          <p:nvPr/>
        </p:nvSpPr>
        <p:spPr bwMode="auto">
          <a:xfrm>
            <a:off x="4149725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83326" name="Text Box 30"/>
          <p:cNvSpPr txBox="1">
            <a:spLocks noChangeArrowheads="1"/>
          </p:cNvSpPr>
          <p:nvPr/>
        </p:nvSpPr>
        <p:spPr bwMode="auto">
          <a:xfrm>
            <a:off x="4187825" y="3775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83327" name="Text Box 31"/>
          <p:cNvSpPr txBox="1">
            <a:spLocks noChangeArrowheads="1"/>
          </p:cNvSpPr>
          <p:nvPr/>
        </p:nvSpPr>
        <p:spPr bwMode="auto">
          <a:xfrm>
            <a:off x="4144963" y="32543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83328" name="Freeform 32"/>
          <p:cNvSpPr>
            <a:spLocks/>
          </p:cNvSpPr>
          <p:nvPr/>
        </p:nvSpPr>
        <p:spPr bwMode="auto">
          <a:xfrm>
            <a:off x="3765550" y="3948113"/>
            <a:ext cx="422275" cy="441325"/>
          </a:xfrm>
          <a:custGeom>
            <a:avLst/>
            <a:gdLst>
              <a:gd name="T0" fmla="*/ 2147483646 w 266"/>
              <a:gd name="T1" fmla="*/ 2147483646 h 290"/>
              <a:gd name="T2" fmla="*/ 0 w 266"/>
              <a:gd name="T3" fmla="*/ 0 h 290"/>
              <a:gd name="T4" fmla="*/ 0 w 266"/>
              <a:gd name="T5" fmla="*/ 2147483646 h 290"/>
              <a:gd name="T6" fmla="*/ 2147483646 w 266"/>
              <a:gd name="T7" fmla="*/ 2147483646 h 290"/>
              <a:gd name="T8" fmla="*/ 0 60000 65536"/>
              <a:gd name="T9" fmla="*/ 0 60000 65536"/>
              <a:gd name="T10" fmla="*/ 0 60000 65536"/>
              <a:gd name="T11" fmla="*/ 0 60000 65536"/>
              <a:gd name="T12" fmla="*/ 0 w 266"/>
              <a:gd name="T13" fmla="*/ 0 h 290"/>
              <a:gd name="T14" fmla="*/ 266 w 266"/>
              <a:gd name="T15" fmla="*/ 290 h 2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" h="290">
                <a:moveTo>
                  <a:pt x="266" y="169"/>
                </a:moveTo>
                <a:lnTo>
                  <a:pt x="0" y="0"/>
                </a:lnTo>
                <a:lnTo>
                  <a:pt x="0" y="290"/>
                </a:lnTo>
                <a:lnTo>
                  <a:pt x="266" y="16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83329" name="Freeform 33"/>
          <p:cNvSpPr>
            <a:spLocks/>
          </p:cNvSpPr>
          <p:nvPr/>
        </p:nvSpPr>
        <p:spPr bwMode="auto">
          <a:xfrm>
            <a:off x="3765550" y="3736975"/>
            <a:ext cx="422275" cy="652463"/>
          </a:xfrm>
          <a:custGeom>
            <a:avLst/>
            <a:gdLst>
              <a:gd name="T0" fmla="*/ 0 w 266"/>
              <a:gd name="T1" fmla="*/ 2147483646 h 411"/>
              <a:gd name="T2" fmla="*/ 0 w 266"/>
              <a:gd name="T3" fmla="*/ 2147483646 h 411"/>
              <a:gd name="T4" fmla="*/ 2147483646 w 266"/>
              <a:gd name="T5" fmla="*/ 2147483646 h 411"/>
              <a:gd name="T6" fmla="*/ 2147483646 w 266"/>
              <a:gd name="T7" fmla="*/ 0 h 411"/>
              <a:gd name="T8" fmla="*/ 0 w 266"/>
              <a:gd name="T9" fmla="*/ 2147483646 h 4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6"/>
              <a:gd name="T16" fmla="*/ 0 h 411"/>
              <a:gd name="T17" fmla="*/ 266 w 266"/>
              <a:gd name="T18" fmla="*/ 411 h 4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6" h="411">
                <a:moveTo>
                  <a:pt x="0" y="145"/>
                </a:moveTo>
                <a:lnTo>
                  <a:pt x="0" y="411"/>
                </a:lnTo>
                <a:lnTo>
                  <a:pt x="266" y="290"/>
                </a:lnTo>
                <a:lnTo>
                  <a:pt x="266" y="0"/>
                </a:lnTo>
                <a:lnTo>
                  <a:pt x="0" y="145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7923" name="Rectangle 38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  <p:extLst>
      <p:ext uri="{BB962C8B-B14F-4D97-AF65-F5344CB8AC3E}">
        <p14:creationId xmlns:p14="http://schemas.microsoft.com/office/powerpoint/2010/main" val="3211215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18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32" grpId="0" animBg="1"/>
      <p:bldP spid="183320" grpId="0"/>
      <p:bldP spid="183321" grpId="0"/>
      <p:bldP spid="183322" grpId="0"/>
      <p:bldP spid="183323" grpId="0"/>
      <p:bldP spid="183324" grpId="0"/>
      <p:bldP spid="183325" grpId="0"/>
      <p:bldP spid="183326" grpId="0"/>
      <p:bldP spid="183327" grpId="0"/>
      <p:bldP spid="183328" grpId="0" animBg="1"/>
      <p:bldP spid="1833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AutoShape 39"/>
              <p:cNvSpPr>
                <a:spLocks noChangeArrowheads="1"/>
              </p:cNvSpPr>
              <p:nvPr/>
            </p:nvSpPr>
            <p:spPr bwMode="auto">
              <a:xfrm>
                <a:off x="1211460" y="842643"/>
                <a:ext cx="5184379" cy="1162051"/>
              </a:xfrm>
              <a:prstGeom prst="wedgeRoundRectCallout">
                <a:avLst>
                  <a:gd name="adj1" fmla="val 4182"/>
                  <a:gd name="adj2" fmla="val 197758"/>
                  <a:gd name="adj3" fmla="val 16667"/>
                </a:avLst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en-US" sz="2400" dirty="0"/>
                  <a:t>Loss due to market failure = area </a:t>
                </a:r>
                <a:r>
                  <a:rPr lang="en-US" altLang="en-US" sz="2400" dirty="0" err="1"/>
                  <a:t>dhg</a:t>
                </a:r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en-US" sz="2400" dirty="0"/>
                  <a:t>Equal to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  <m:sup>
                        <m:sSup>
                          <m:sSup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</m:sup>
                      <m:e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𝑀𝑆𝐶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𝑀𝑆𝐵</m:t>
                            </m:r>
                          </m:e>
                        </m:d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𝑑𝑄</m:t>
                        </m:r>
                      </m:e>
                    </m:nary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6" name="AutoShap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1460" y="842643"/>
                <a:ext cx="5184379" cy="1162051"/>
              </a:xfrm>
              <a:prstGeom prst="wedgeRoundRectCallout">
                <a:avLst>
                  <a:gd name="adj1" fmla="val 4182"/>
                  <a:gd name="adj2" fmla="val 197758"/>
                  <a:gd name="adj3" fmla="val 16667"/>
                </a:avLst>
              </a:prstGeom>
              <a:blipFill>
                <a:blip r:embed="rId3"/>
                <a:stretch>
                  <a:fillRect l="-706" t="-844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4C2599-E37D-40A1-9F1C-17CE463C11E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/>
          </a:p>
        </p:txBody>
      </p:sp>
      <p:sp>
        <p:nvSpPr>
          <p:cNvPr id="37892" name="Line 3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3" name="Line 4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1614488" y="2584450"/>
            <a:ext cx="5338762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897" name="Text Box 8"/>
          <p:cNvSpPr txBox="1">
            <a:spLocks noChangeArrowheads="1"/>
          </p:cNvSpPr>
          <p:nvPr/>
        </p:nvSpPr>
        <p:spPr bwMode="auto">
          <a:xfrm>
            <a:off x="6861175" y="5426075"/>
            <a:ext cx="14478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MSB = MPB</a:t>
            </a:r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899" name="Line 10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7872413" y="4445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37901" name="Line 12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2" name="Text Box 13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37903" name="Line 14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4" name="Text Box 15"/>
          <p:cNvSpPr txBox="1">
            <a:spLocks noChangeArrowheads="1"/>
          </p:cNvSpPr>
          <p:nvPr/>
        </p:nvSpPr>
        <p:spPr bwMode="auto">
          <a:xfrm>
            <a:off x="7183438" y="16240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37905" name="Line 16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6" name="Line 17"/>
          <p:cNvSpPr>
            <a:spLocks noChangeShapeType="1"/>
          </p:cNvSpPr>
          <p:nvPr/>
        </p:nvSpPr>
        <p:spPr bwMode="auto">
          <a:xfrm>
            <a:off x="3784600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07" name="Text Box 18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7908" name="Text Box 19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37909" name="Text Box 20"/>
          <p:cNvSpPr txBox="1">
            <a:spLocks noChangeArrowheads="1"/>
          </p:cNvSpPr>
          <p:nvPr/>
        </p:nvSpPr>
        <p:spPr bwMode="auto">
          <a:xfrm>
            <a:off x="4687888" y="6442075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Market outcome</a:t>
            </a:r>
          </a:p>
        </p:txBody>
      </p:sp>
      <p:sp>
        <p:nvSpPr>
          <p:cNvPr id="37910" name="Line 21"/>
          <p:cNvSpPr>
            <a:spLocks noChangeShapeType="1"/>
          </p:cNvSpPr>
          <p:nvPr/>
        </p:nvSpPr>
        <p:spPr bwMode="auto">
          <a:xfrm flipH="1" flipV="1">
            <a:off x="4419600" y="6386513"/>
            <a:ext cx="306388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487442" y="6330951"/>
            <a:ext cx="28478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Socially efficient outcome</a:t>
            </a:r>
          </a:p>
        </p:txBody>
      </p:sp>
      <p:sp>
        <p:nvSpPr>
          <p:cNvPr id="37912" name="Line 23"/>
          <p:cNvSpPr>
            <a:spLocks noChangeShapeType="1"/>
          </p:cNvSpPr>
          <p:nvPr/>
        </p:nvSpPr>
        <p:spPr bwMode="auto">
          <a:xfrm flipV="1">
            <a:off x="3189288" y="6270625"/>
            <a:ext cx="34607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3735388" y="42735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83323" name="Text Box 27"/>
          <p:cNvSpPr txBox="1">
            <a:spLocks noChangeArrowheads="1"/>
          </p:cNvSpPr>
          <p:nvPr/>
        </p:nvSpPr>
        <p:spPr bwMode="auto">
          <a:xfrm>
            <a:off x="3649663" y="3582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83326" name="Text Box 30"/>
          <p:cNvSpPr txBox="1">
            <a:spLocks noChangeArrowheads="1"/>
          </p:cNvSpPr>
          <p:nvPr/>
        </p:nvSpPr>
        <p:spPr bwMode="auto">
          <a:xfrm>
            <a:off x="4187825" y="3775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83327" name="Text Box 31"/>
          <p:cNvSpPr txBox="1">
            <a:spLocks noChangeArrowheads="1"/>
          </p:cNvSpPr>
          <p:nvPr/>
        </p:nvSpPr>
        <p:spPr bwMode="auto">
          <a:xfrm>
            <a:off x="4144963" y="32543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83328" name="Freeform 32"/>
          <p:cNvSpPr>
            <a:spLocks/>
          </p:cNvSpPr>
          <p:nvPr/>
        </p:nvSpPr>
        <p:spPr bwMode="auto">
          <a:xfrm rot="10800000">
            <a:off x="3795714" y="3757613"/>
            <a:ext cx="392110" cy="439736"/>
          </a:xfrm>
          <a:custGeom>
            <a:avLst/>
            <a:gdLst>
              <a:gd name="T0" fmla="*/ 2147483646 w 266"/>
              <a:gd name="T1" fmla="*/ 2147483646 h 290"/>
              <a:gd name="T2" fmla="*/ 0 w 266"/>
              <a:gd name="T3" fmla="*/ 0 h 290"/>
              <a:gd name="T4" fmla="*/ 0 w 266"/>
              <a:gd name="T5" fmla="*/ 2147483646 h 290"/>
              <a:gd name="T6" fmla="*/ 2147483646 w 266"/>
              <a:gd name="T7" fmla="*/ 2147483646 h 290"/>
              <a:gd name="T8" fmla="*/ 0 60000 65536"/>
              <a:gd name="T9" fmla="*/ 0 60000 65536"/>
              <a:gd name="T10" fmla="*/ 0 60000 65536"/>
              <a:gd name="T11" fmla="*/ 0 60000 65536"/>
              <a:gd name="T12" fmla="*/ 0 w 266"/>
              <a:gd name="T13" fmla="*/ 0 h 290"/>
              <a:gd name="T14" fmla="*/ 266 w 266"/>
              <a:gd name="T15" fmla="*/ 290 h 2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" h="290">
                <a:moveTo>
                  <a:pt x="266" y="169"/>
                </a:moveTo>
                <a:lnTo>
                  <a:pt x="0" y="0"/>
                </a:lnTo>
                <a:lnTo>
                  <a:pt x="0" y="290"/>
                </a:lnTo>
                <a:lnTo>
                  <a:pt x="266" y="169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7923" name="Rectangle 38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833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77986-237B-4B5E-A40E-0EE77BEAB37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8064500" cy="4970462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Result: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With externalities, market outcome not socially efficient:</a:t>
            </a:r>
          </a:p>
          <a:p>
            <a:pPr marL="1246188" lvl="1" indent="-533400"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Over</a:t>
            </a:r>
            <a:r>
              <a:rPr lang="en-US" altLang="en-US" sz="2400"/>
              <a:t>production / -consumption with </a:t>
            </a:r>
            <a:r>
              <a:rPr lang="en-US" altLang="en-US" sz="2400">
                <a:solidFill>
                  <a:schemeClr val="accent2"/>
                </a:solidFill>
              </a:rPr>
              <a:t>negative</a:t>
            </a:r>
            <a:r>
              <a:rPr lang="en-US" altLang="en-US" sz="2400"/>
              <a:t> ext.</a:t>
            </a:r>
          </a:p>
          <a:p>
            <a:pPr marL="1246188" lvl="1" indent="-533400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FF3300"/>
                </a:solidFill>
              </a:rPr>
              <a:t>Under</a:t>
            </a:r>
            <a:r>
              <a:rPr lang="en-US" altLang="en-US" sz="2400"/>
              <a:t>production / -consumption with </a:t>
            </a:r>
            <a:r>
              <a:rPr lang="en-US" altLang="en-US" sz="2400">
                <a:solidFill>
                  <a:srgbClr val="FF3300"/>
                </a:solidFill>
              </a:rPr>
              <a:t>positive</a:t>
            </a:r>
            <a:r>
              <a:rPr lang="en-US" altLang="en-US" sz="2400"/>
              <a:t> ext.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altLang="en-US" sz="100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Main cause: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/>
              <a:t>Missing market</a:t>
            </a:r>
            <a:r>
              <a:rPr lang="en-US" altLang="en-US" sz="2400"/>
              <a:t> for side-effect of production / consumption</a:t>
            </a:r>
            <a:br>
              <a:rPr lang="en-US" altLang="en-US" sz="2400"/>
            </a:br>
            <a:r>
              <a:rPr lang="en-US" altLang="en-US" sz="2400">
                <a:sym typeface="Wingdings" panose="05000000000000000000" pitchFamily="2" charset="2"/>
              </a:rPr>
              <a:t> side-effects not priced and, hence, not taken into account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altLang="en-US" sz="100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Missing markets arise when </a:t>
            </a:r>
            <a:r>
              <a:rPr lang="en-US" altLang="en-US" sz="2400" b="1"/>
              <a:t>property rights</a:t>
            </a:r>
            <a:r>
              <a:rPr lang="en-US" altLang="en-US" sz="2400"/>
              <a:t> are missing:</a:t>
            </a:r>
          </a:p>
          <a:p>
            <a:pPr marL="1246188" lvl="1" indent="-533400" eaLnBrk="1" hangingPunct="1">
              <a:lnSpc>
                <a:spcPct val="90000"/>
              </a:lnSpc>
            </a:pPr>
            <a:r>
              <a:rPr lang="en-US" altLang="en-US" sz="2400"/>
              <a:t>Air (pollution)</a:t>
            </a:r>
          </a:p>
          <a:p>
            <a:pPr marL="1246188" lvl="1" indent="-533400" eaLnBrk="1" hangingPunct="1">
              <a:lnSpc>
                <a:spcPct val="90000"/>
              </a:lnSpc>
            </a:pPr>
            <a:r>
              <a:rPr lang="en-US" altLang="en-US" sz="2400"/>
              <a:t>Public space (noise; filth; roads)</a:t>
            </a:r>
          </a:p>
          <a:p>
            <a:pPr marL="1246188" lvl="1" indent="-533400" eaLnBrk="1" hangingPunct="1">
              <a:lnSpc>
                <a:spcPct val="90000"/>
              </a:lnSpc>
            </a:pPr>
            <a:r>
              <a:rPr lang="en-US" altLang="en-US" sz="2400"/>
              <a:t>Natural resources (rivers; forests; fish)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Market failure: Private and social optimum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98C2A4-9E83-4F1E-AE2E-BDB1406AE75D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eaLnBrk="1" hangingPunct="1"/>
            <a:r>
              <a:rPr lang="en-US" altLang="en-US" sz="4000"/>
              <a:t>Coase Theorem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777163" cy="497046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sz="2400"/>
              <a:t>Question: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In case of externalities, is government intervention the only way to (potentially) improve upon the market outcome?</a:t>
            </a:r>
          </a:p>
          <a:p>
            <a:pPr marL="609600" indent="-609600" eaLnBrk="1" hangingPunct="1">
              <a:buFontTx/>
              <a:buNone/>
            </a:pPr>
            <a:endParaRPr lang="en-US" altLang="en-US" sz="1000"/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Answer: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No, under some conditions, private parties may arrive at the social optimum, without government intervention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2400" b="1">
                <a:sym typeface="Wingdings" panose="05000000000000000000" pitchFamily="2" charset="2"/>
              </a:rPr>
              <a:t> Coase Theorem</a:t>
            </a:r>
            <a:endParaRPr lang="en-US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7EE046-74A4-448F-B100-A629AC401EE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eaLnBrk="1" hangingPunct="1"/>
            <a:r>
              <a:rPr lang="en-US" altLang="en-US" sz="4000"/>
              <a:t>Coase Theorem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80400" cy="497046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sz="2800"/>
              <a:t>Coase Theorem: if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z="2400"/>
              <a:t>(Transferable) property rights established &amp; enforced, and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z="2400"/>
              <a:t>Transaction cost sufficiently low, then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2800"/>
              <a:t> </a:t>
            </a:r>
            <a:r>
              <a:rPr lang="en-US" altLang="en-US" sz="2800" b="1"/>
              <a:t>Private parties will </a:t>
            </a:r>
            <a:r>
              <a:rPr lang="en-US" altLang="en-US" sz="2800" b="1">
                <a:solidFill>
                  <a:srgbClr val="FF0000"/>
                </a:solidFill>
              </a:rPr>
              <a:t>negotiate</a:t>
            </a:r>
            <a:r>
              <a:rPr lang="en-US" altLang="en-US" sz="2800" b="1"/>
              <a:t> towards the socially efficient outcome</a:t>
            </a:r>
          </a:p>
          <a:p>
            <a:pPr marL="609600" indent="-609600" eaLnBrk="1" hangingPunct="1">
              <a:buFontTx/>
              <a:buNone/>
            </a:pPr>
            <a:endParaRPr lang="en-US" altLang="en-US" sz="1000"/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Condition 1 implies that a market arises for the side-effect, so that the externality can be </a:t>
            </a:r>
            <a:r>
              <a:rPr lang="en-US" altLang="en-US" sz="2400" i="1" err="1"/>
              <a:t>internalised</a:t>
            </a:r>
            <a:endParaRPr lang="en-US" altLang="en-US" sz="2400" i="1"/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Condition 2 states that the cost of arriving at a mutual agreement should be sufficiently low</a:t>
            </a:r>
          </a:p>
          <a:p>
            <a:pPr marL="609600" indent="-609600" eaLnBrk="1" hangingPunct="1">
              <a:buFontTx/>
              <a:buNone/>
            </a:pPr>
            <a:endParaRPr lang="en-US" altLang="en-US" sz="1000"/>
          </a:p>
          <a:p>
            <a:pPr marL="609600" indent="-609600" eaLnBrk="1" hangingPunct="1">
              <a:buFontTx/>
              <a:buNone/>
            </a:pPr>
            <a:r>
              <a:rPr lang="en-US" altLang="en-US" sz="2400"/>
              <a:t>Note: Who owns property rights does not affect efficiency; this does affect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EC2137-7EE4-4BFD-B1BA-C40C1A8B32E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772400" cy="54800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In the example: if Pharma has property rights on the Rhine, private optimum is Q</a:t>
            </a:r>
            <a:r>
              <a:rPr lang="en-US" altLang="en-US" sz="2800" baseline="30000">
                <a:latin typeface="Arial" panose="020B0604020202020204" pitchFamily="34" charset="0"/>
              </a:rPr>
              <a:t>P</a:t>
            </a:r>
            <a:r>
              <a:rPr lang="en-US" altLang="en-US" sz="2800" baseline="-25000"/>
              <a:t>.</a:t>
            </a: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/>
              <a:t>However, reduction in Q benefits growers more than it hurts Pharma </a:t>
            </a:r>
            <a:r>
              <a:rPr lang="en-US" altLang="en-US" sz="2800">
                <a:sym typeface="Wingdings" panose="05000000000000000000" pitchFamily="2" charset="2"/>
              </a:rPr>
              <a:t> room for negotiations. </a:t>
            </a:r>
          </a:p>
          <a:p>
            <a:pPr lvl="1" eaLnBrk="1" hangingPunct="1"/>
            <a:r>
              <a:rPr lang="en-US" altLang="en-US" sz="2400"/>
              <a:t>(Marginal) reduction in Q makes that Pharma loses profit equal to difference between MB and MPC.</a:t>
            </a:r>
          </a:p>
          <a:p>
            <a:pPr lvl="1" eaLnBrk="1" hangingPunct="1"/>
            <a:r>
              <a:rPr lang="en-US" altLang="en-US" sz="2400"/>
              <a:t>Growers benefit by MD. </a:t>
            </a:r>
          </a:p>
          <a:p>
            <a:pPr lvl="1" eaLnBrk="1" hangingPunct="1"/>
            <a:r>
              <a:rPr lang="en-US" altLang="en-US" sz="2400"/>
              <a:t>Starting from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/>
              <a:t> , loss in profit is small relative to reduction in damage! </a:t>
            </a:r>
          </a:p>
          <a:p>
            <a:pPr lvl="1" eaLnBrk="1" hangingPunct="1"/>
            <a:r>
              <a:rPr lang="en-US" altLang="en-US" sz="2400"/>
              <a:t>So, bargaining between Pharma and growers can improve efficiency, as growers can (more than) compensate Pharma for reduction in profit.  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7A4AC2-149C-4D08-BF25-07836A6CBD3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52513"/>
            <a:ext cx="7772400" cy="55451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What is the outcome of these negotiations?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Answer: The socially efficient level of Q: Q</a:t>
            </a:r>
            <a:r>
              <a:rPr lang="en-US" altLang="en-US" sz="2800" baseline="30000"/>
              <a:t>*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 sz="2400"/>
              <a:t>For a marginal reduction in Q, growers are maximally willing to pay marginal damage (MD)</a:t>
            </a:r>
          </a:p>
          <a:p>
            <a:pPr lvl="1" eaLnBrk="1" hangingPunct="1"/>
            <a:r>
              <a:rPr lang="en-US" altLang="en-US" sz="2400"/>
              <a:t>Pharma only accepts a marginal reduction in Q if the compensation is at least the loss in profit (MB – MPC) </a:t>
            </a:r>
          </a:p>
          <a:p>
            <a:pPr lvl="1" eaLnBrk="1" hangingPunct="1"/>
            <a:r>
              <a:rPr lang="en-US" altLang="en-US" sz="2400"/>
              <a:t>So, reduction in Q until MD = MB – MPC </a:t>
            </a:r>
          </a:p>
          <a:p>
            <a:pPr lvl="1" eaLnBrk="1" hangingPunct="1"/>
            <a:r>
              <a:rPr lang="en-US" altLang="en-US" sz="2400"/>
              <a:t>Hence, equilibrium has MD + MPC = MB, which only holds when Q = Q</a:t>
            </a:r>
            <a:r>
              <a:rPr lang="en-US" altLang="en-US" sz="2400" baseline="30000"/>
              <a:t>*</a:t>
            </a:r>
            <a:r>
              <a:rPr lang="en-US" altLang="en-US" sz="2400"/>
              <a:t> 	</a:t>
            </a:r>
          </a:p>
          <a:p>
            <a:pPr lvl="1" eaLnBrk="1" hangingPunct="1"/>
            <a:r>
              <a:rPr lang="en-US" altLang="en-US" sz="2400"/>
              <a:t>To make both Pharma and the growers accept, the growers should pay Pharma minimally area </a:t>
            </a:r>
            <a:r>
              <a:rPr lang="en-US" altLang="en-US" sz="2400" err="1"/>
              <a:t>cdg</a:t>
            </a:r>
            <a:r>
              <a:rPr lang="en-US" altLang="en-US" sz="2400"/>
              <a:t> and maximally area </a:t>
            </a:r>
            <a:r>
              <a:rPr lang="en-US" altLang="en-US" sz="2400" err="1"/>
              <a:t>abfe</a:t>
            </a:r>
            <a:endParaRPr lang="en-US" altLang="en-US"/>
          </a:p>
        </p:txBody>
      </p:sp>
      <p:sp>
        <p:nvSpPr>
          <p:cNvPr id="45060" name="Rectangle 5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0D8693-AE3D-4917-A018-6C41BAF51EE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/>
          </a:p>
        </p:txBody>
      </p:sp>
      <p:sp>
        <p:nvSpPr>
          <p:cNvPr id="46083" name="Line 2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84" name="Line 3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46087" name="Line 6"/>
          <p:cNvSpPr>
            <a:spLocks noChangeShapeType="1"/>
          </p:cNvSpPr>
          <p:nvPr/>
        </p:nvSpPr>
        <p:spPr bwMode="auto">
          <a:xfrm>
            <a:off x="1619250" y="2565400"/>
            <a:ext cx="5338763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88" name="Text Box 7"/>
          <p:cNvSpPr txBox="1">
            <a:spLocks noChangeArrowheads="1"/>
          </p:cNvSpPr>
          <p:nvPr/>
        </p:nvSpPr>
        <p:spPr bwMode="auto">
          <a:xfrm>
            <a:off x="6861175" y="5426075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MPB</a:t>
            </a:r>
          </a:p>
        </p:txBody>
      </p:sp>
      <p:sp>
        <p:nvSpPr>
          <p:cNvPr id="46089" name="Text Box 8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090" name="Line 9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1" name="Text Box 10"/>
          <p:cNvSpPr txBox="1">
            <a:spLocks noChangeArrowheads="1"/>
          </p:cNvSpPr>
          <p:nvPr/>
        </p:nvSpPr>
        <p:spPr bwMode="auto">
          <a:xfrm>
            <a:off x="7596188" y="465296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46092" name="Line 11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3" name="Text Box 12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46094" name="Line 13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5" name="Text Box 14"/>
          <p:cNvSpPr txBox="1">
            <a:spLocks noChangeArrowheads="1"/>
          </p:cNvSpPr>
          <p:nvPr/>
        </p:nvSpPr>
        <p:spPr bwMode="auto">
          <a:xfrm>
            <a:off x="7183438" y="16240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46096" name="Line 15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7" name="Line 16"/>
          <p:cNvSpPr>
            <a:spLocks noChangeShapeType="1"/>
          </p:cNvSpPr>
          <p:nvPr/>
        </p:nvSpPr>
        <p:spPr bwMode="auto">
          <a:xfrm>
            <a:off x="3784600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8" name="Text Box 17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099" name="Text Box 18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46100" name="Text Box 19"/>
          <p:cNvSpPr txBox="1">
            <a:spLocks noChangeArrowheads="1"/>
          </p:cNvSpPr>
          <p:nvPr/>
        </p:nvSpPr>
        <p:spPr bwMode="auto">
          <a:xfrm>
            <a:off x="4687888" y="6442075"/>
            <a:ext cx="190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Market outcome</a:t>
            </a:r>
          </a:p>
        </p:txBody>
      </p:sp>
      <p:sp>
        <p:nvSpPr>
          <p:cNvPr id="46101" name="Line 20"/>
          <p:cNvSpPr>
            <a:spLocks noChangeShapeType="1"/>
          </p:cNvSpPr>
          <p:nvPr/>
        </p:nvSpPr>
        <p:spPr bwMode="auto">
          <a:xfrm flipH="1" flipV="1">
            <a:off x="4419600" y="6386513"/>
            <a:ext cx="306388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102" name="Text Box 21"/>
          <p:cNvSpPr txBox="1">
            <a:spLocks noChangeArrowheads="1"/>
          </p:cNvSpPr>
          <p:nvPr/>
        </p:nvSpPr>
        <p:spPr bwMode="auto">
          <a:xfrm>
            <a:off x="463551" y="6330951"/>
            <a:ext cx="28478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Socially efficient outcome</a:t>
            </a:r>
          </a:p>
        </p:txBody>
      </p:sp>
      <p:sp>
        <p:nvSpPr>
          <p:cNvPr id="46103" name="Line 22"/>
          <p:cNvSpPr>
            <a:spLocks noChangeShapeType="1"/>
          </p:cNvSpPr>
          <p:nvPr/>
        </p:nvSpPr>
        <p:spPr bwMode="auto">
          <a:xfrm flipV="1">
            <a:off x="3189288" y="6270625"/>
            <a:ext cx="34607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104" name="Rectangle 23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</a:t>
            </a:r>
          </a:p>
        </p:txBody>
      </p:sp>
      <p:sp>
        <p:nvSpPr>
          <p:cNvPr id="46105" name="Text Box 24"/>
          <p:cNvSpPr txBox="1">
            <a:spLocks noChangeArrowheads="1"/>
          </p:cNvSpPr>
          <p:nvPr/>
        </p:nvSpPr>
        <p:spPr bwMode="auto">
          <a:xfrm>
            <a:off x="1116013" y="1052513"/>
            <a:ext cx="5761037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144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/>
              <a:t>Suppose</a:t>
            </a:r>
            <a:r>
              <a:rPr lang="en-US" altLang="en-US" sz="2400" b="1"/>
              <a:t> Pharma </a:t>
            </a:r>
            <a:r>
              <a:rPr lang="en-US" altLang="en-US" sz="2400"/>
              <a:t>owns property rights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sym typeface="Wingdings" panose="05000000000000000000" pitchFamily="2" charset="2"/>
              </a:rPr>
              <a:t> Payment (‘transfer’) from growers to </a:t>
            </a:r>
            <a:r>
              <a:rPr lang="en-US" altLang="en-US" sz="2400"/>
              <a:t>Pharma</a:t>
            </a:r>
            <a:r>
              <a:rPr lang="en-US" altLang="en-US" sz="2400">
                <a:sym typeface="Wingdings" panose="05000000000000000000" pitchFamily="2" charset="2"/>
              </a:rPr>
              <a:t> to reduce Q </a:t>
            </a:r>
            <a:r>
              <a:rPr lang="en-US" altLang="en-US" sz="2400"/>
              <a:t>from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/>
              <a:t> to Q*</a:t>
            </a:r>
            <a:r>
              <a:rPr lang="en-US" altLang="en-US" sz="240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217113" name="Freeform 25"/>
          <p:cNvSpPr>
            <a:spLocks/>
          </p:cNvSpPr>
          <p:nvPr/>
        </p:nvSpPr>
        <p:spPr bwMode="auto">
          <a:xfrm>
            <a:off x="3779838" y="5373688"/>
            <a:ext cx="431800" cy="576262"/>
          </a:xfrm>
          <a:custGeom>
            <a:avLst/>
            <a:gdLst>
              <a:gd name="T0" fmla="*/ 0 w 272"/>
              <a:gd name="T1" fmla="*/ 2147483646 h 363"/>
              <a:gd name="T2" fmla="*/ 0 w 272"/>
              <a:gd name="T3" fmla="*/ 2147483646 h 363"/>
              <a:gd name="T4" fmla="*/ 2147483646 w 272"/>
              <a:gd name="T5" fmla="*/ 2147483646 h 363"/>
              <a:gd name="T6" fmla="*/ 2147483646 w 272"/>
              <a:gd name="T7" fmla="*/ 0 h 363"/>
              <a:gd name="T8" fmla="*/ 0 w 272"/>
              <a:gd name="T9" fmla="*/ 2147483646 h 3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"/>
              <a:gd name="T16" fmla="*/ 0 h 363"/>
              <a:gd name="T17" fmla="*/ 272 w 272"/>
              <a:gd name="T18" fmla="*/ 363 h 3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" h="363">
                <a:moveTo>
                  <a:pt x="0" y="90"/>
                </a:moveTo>
                <a:lnTo>
                  <a:pt x="0" y="363"/>
                </a:lnTo>
                <a:lnTo>
                  <a:pt x="272" y="363"/>
                </a:lnTo>
                <a:lnTo>
                  <a:pt x="272" y="0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217114" name="Text Box 26"/>
          <p:cNvSpPr txBox="1">
            <a:spLocks noChangeArrowheads="1"/>
          </p:cNvSpPr>
          <p:nvPr/>
        </p:nvSpPr>
        <p:spPr bwMode="auto">
          <a:xfrm>
            <a:off x="3492500" y="566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217115" name="Text Box 27"/>
          <p:cNvSpPr txBox="1">
            <a:spLocks noChangeArrowheads="1"/>
          </p:cNvSpPr>
          <p:nvPr/>
        </p:nvSpPr>
        <p:spPr bwMode="auto">
          <a:xfrm>
            <a:off x="3708400" y="5157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217116" name="Text Box 28"/>
          <p:cNvSpPr txBox="1">
            <a:spLocks noChangeArrowheads="1"/>
          </p:cNvSpPr>
          <p:nvPr/>
        </p:nvSpPr>
        <p:spPr bwMode="auto">
          <a:xfrm>
            <a:off x="4149725" y="5327650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217117" name="Text Box 29"/>
          <p:cNvSpPr txBox="1">
            <a:spLocks noChangeArrowheads="1"/>
          </p:cNvSpPr>
          <p:nvPr/>
        </p:nvSpPr>
        <p:spPr bwMode="auto">
          <a:xfrm>
            <a:off x="4149725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217118" name="AutoShape 30"/>
          <p:cNvSpPr>
            <a:spLocks noChangeArrowheads="1"/>
          </p:cNvSpPr>
          <p:nvPr/>
        </p:nvSpPr>
        <p:spPr bwMode="auto">
          <a:xfrm>
            <a:off x="6048375" y="3141663"/>
            <a:ext cx="3095625" cy="1439862"/>
          </a:xfrm>
          <a:prstGeom prst="wedgeRoundRectCallout">
            <a:avLst>
              <a:gd name="adj1" fmla="val -111847"/>
              <a:gd name="adj2" fmla="val 124093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chemeClr val="bg1"/>
                </a:solidFill>
              </a:rPr>
              <a:t>Max transfer = benefit of reduction in Q from Q</a:t>
            </a:r>
            <a:r>
              <a:rPr lang="en-US" altLang="en-US" sz="2400" baseline="30000">
                <a:solidFill>
                  <a:schemeClr val="bg1"/>
                </a:solidFill>
              </a:rPr>
              <a:t>P</a:t>
            </a:r>
            <a:r>
              <a:rPr lang="en-US" altLang="en-US" sz="2400">
                <a:solidFill>
                  <a:schemeClr val="bg1"/>
                </a:solidFill>
              </a:rPr>
              <a:t> to Q* for growers</a:t>
            </a:r>
          </a:p>
        </p:txBody>
      </p:sp>
      <p:sp>
        <p:nvSpPr>
          <p:cNvPr id="217119" name="Text Box 31"/>
          <p:cNvSpPr txBox="1">
            <a:spLocks noChangeArrowheads="1"/>
          </p:cNvSpPr>
          <p:nvPr/>
        </p:nvSpPr>
        <p:spPr bwMode="auto">
          <a:xfrm>
            <a:off x="3735388" y="42735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217120" name="Text Box 32"/>
          <p:cNvSpPr txBox="1">
            <a:spLocks noChangeArrowheads="1"/>
          </p:cNvSpPr>
          <p:nvPr/>
        </p:nvSpPr>
        <p:spPr bwMode="auto">
          <a:xfrm>
            <a:off x="3635375" y="35734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217121" name="Text Box 33"/>
          <p:cNvSpPr txBox="1">
            <a:spLocks noChangeArrowheads="1"/>
          </p:cNvSpPr>
          <p:nvPr/>
        </p:nvSpPr>
        <p:spPr bwMode="auto">
          <a:xfrm>
            <a:off x="4187825" y="3775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217122" name="Freeform 34"/>
          <p:cNvSpPr>
            <a:spLocks/>
          </p:cNvSpPr>
          <p:nvPr/>
        </p:nvSpPr>
        <p:spPr bwMode="auto">
          <a:xfrm>
            <a:off x="3765550" y="3948113"/>
            <a:ext cx="422275" cy="441325"/>
          </a:xfrm>
          <a:custGeom>
            <a:avLst/>
            <a:gdLst>
              <a:gd name="T0" fmla="*/ 2147483646 w 266"/>
              <a:gd name="T1" fmla="*/ 2147483646 h 290"/>
              <a:gd name="T2" fmla="*/ 0 w 266"/>
              <a:gd name="T3" fmla="*/ 0 h 290"/>
              <a:gd name="T4" fmla="*/ 0 w 266"/>
              <a:gd name="T5" fmla="*/ 2147483646 h 290"/>
              <a:gd name="T6" fmla="*/ 2147483646 w 266"/>
              <a:gd name="T7" fmla="*/ 2147483646 h 290"/>
              <a:gd name="T8" fmla="*/ 0 60000 65536"/>
              <a:gd name="T9" fmla="*/ 0 60000 65536"/>
              <a:gd name="T10" fmla="*/ 0 60000 65536"/>
              <a:gd name="T11" fmla="*/ 0 60000 65536"/>
              <a:gd name="T12" fmla="*/ 0 w 266"/>
              <a:gd name="T13" fmla="*/ 0 h 290"/>
              <a:gd name="T14" fmla="*/ 266 w 266"/>
              <a:gd name="T15" fmla="*/ 290 h 2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" h="290">
                <a:moveTo>
                  <a:pt x="266" y="169"/>
                </a:moveTo>
                <a:lnTo>
                  <a:pt x="0" y="0"/>
                </a:lnTo>
                <a:lnTo>
                  <a:pt x="0" y="290"/>
                </a:lnTo>
                <a:lnTo>
                  <a:pt x="266" y="16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17123" name="AutoShape 35"/>
          <p:cNvSpPr>
            <a:spLocks noChangeArrowheads="1"/>
          </p:cNvSpPr>
          <p:nvPr/>
        </p:nvSpPr>
        <p:spPr bwMode="auto">
          <a:xfrm>
            <a:off x="0" y="3068638"/>
            <a:ext cx="3095625" cy="1439862"/>
          </a:xfrm>
          <a:prstGeom prst="wedgeRoundRectCallout">
            <a:avLst>
              <a:gd name="adj1" fmla="val 75333"/>
              <a:gd name="adj2" fmla="val 27727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Min transfer = cost of reducing Q from Q</a:t>
            </a:r>
            <a:r>
              <a:rPr lang="en-US" altLang="en-US" sz="2400" baseline="30000">
                <a:latin typeface="Arial" panose="020B0604020202020204" pitchFamily="34" charset="0"/>
              </a:rPr>
              <a:t>P</a:t>
            </a:r>
            <a:r>
              <a:rPr lang="en-US" altLang="en-US" sz="2400"/>
              <a:t> to Q* to Pharma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1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13" grpId="0" animBg="1"/>
      <p:bldP spid="217114" grpId="0"/>
      <p:bldP spid="217115" grpId="0"/>
      <p:bldP spid="217116" grpId="0"/>
      <p:bldP spid="217117" grpId="0"/>
      <p:bldP spid="217118" grpId="0" animBg="1"/>
      <p:bldP spid="217119" grpId="0"/>
      <p:bldP spid="217120" grpId="0"/>
      <p:bldP spid="217121" grpId="0"/>
      <p:bldP spid="217122" grpId="0" animBg="1"/>
      <p:bldP spid="2171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19CBC1-BAFF-4525-9705-5272BC092220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81075"/>
            <a:ext cx="7772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Same argumentation holds when the growers have property rights over the river.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Results in same level of Q, only now transfer from Pharma to growers. (Why?)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/>
          </a:p>
          <a:p>
            <a:pPr lvl="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800">
                <a:solidFill>
                  <a:srgbClr val="000000"/>
                </a:solidFill>
              </a:rPr>
              <a:t>who has property rights does not affect efficiency, but does affect distribution.</a:t>
            </a:r>
          </a:p>
          <a:p>
            <a:pPr lvl="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endParaRPr lang="en-US" altLang="en-US" sz="2800">
              <a:solidFill>
                <a:srgbClr val="000000"/>
              </a:solidFill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endParaRPr lang="en-US" altLang="en-US" sz="2800">
              <a:solidFill>
                <a:srgbClr val="0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200"/>
          </a:p>
        </p:txBody>
      </p:sp>
      <p:sp>
        <p:nvSpPr>
          <p:cNvPr id="48132" name="Rectangle 5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CB1572-69AF-4402-964E-586842A928DA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/>
          </a:p>
        </p:txBody>
      </p:sp>
      <p:sp>
        <p:nvSpPr>
          <p:cNvPr id="49155" name="Line 2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56" name="Line 3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49158" name="Text Box 5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49159" name="Line 6"/>
          <p:cNvSpPr>
            <a:spLocks noChangeShapeType="1"/>
          </p:cNvSpPr>
          <p:nvPr/>
        </p:nvSpPr>
        <p:spPr bwMode="auto">
          <a:xfrm>
            <a:off x="1619250" y="2565400"/>
            <a:ext cx="5338763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60" name="Text Box 7"/>
          <p:cNvSpPr txBox="1">
            <a:spLocks noChangeArrowheads="1"/>
          </p:cNvSpPr>
          <p:nvPr/>
        </p:nvSpPr>
        <p:spPr bwMode="auto">
          <a:xfrm>
            <a:off x="6861175" y="5426075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MPB</a:t>
            </a:r>
          </a:p>
        </p:txBody>
      </p:sp>
      <p:sp>
        <p:nvSpPr>
          <p:cNvPr id="49161" name="Text Box 8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9162" name="Line 9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63" name="Text Box 10"/>
          <p:cNvSpPr txBox="1">
            <a:spLocks noChangeArrowheads="1"/>
          </p:cNvSpPr>
          <p:nvPr/>
        </p:nvSpPr>
        <p:spPr bwMode="auto">
          <a:xfrm>
            <a:off x="7596188" y="465296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49164" name="Line 11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65" name="Text Box 12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49166" name="Line 13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67" name="Text Box 14"/>
          <p:cNvSpPr txBox="1">
            <a:spLocks noChangeArrowheads="1"/>
          </p:cNvSpPr>
          <p:nvPr/>
        </p:nvSpPr>
        <p:spPr bwMode="auto">
          <a:xfrm>
            <a:off x="7183438" y="16240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49168" name="Line 15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69" name="Line 16"/>
          <p:cNvSpPr>
            <a:spLocks noChangeShapeType="1"/>
          </p:cNvSpPr>
          <p:nvPr/>
        </p:nvSpPr>
        <p:spPr bwMode="auto">
          <a:xfrm>
            <a:off x="3784600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70" name="Text Box 17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9171" name="Text Box 18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49174" name="Text Box 21"/>
          <p:cNvSpPr txBox="1">
            <a:spLocks noChangeArrowheads="1"/>
          </p:cNvSpPr>
          <p:nvPr/>
        </p:nvSpPr>
        <p:spPr bwMode="auto">
          <a:xfrm>
            <a:off x="322263" y="6330092"/>
            <a:ext cx="28478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Socially efficient outcome</a:t>
            </a:r>
          </a:p>
        </p:txBody>
      </p:sp>
      <p:sp>
        <p:nvSpPr>
          <p:cNvPr id="49175" name="Line 22"/>
          <p:cNvSpPr>
            <a:spLocks noChangeShapeType="1"/>
          </p:cNvSpPr>
          <p:nvPr/>
        </p:nvSpPr>
        <p:spPr bwMode="auto">
          <a:xfrm flipV="1">
            <a:off x="3189288" y="6270625"/>
            <a:ext cx="346075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9176" name="Rectangle 23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Theorem: distribution</a:t>
            </a:r>
          </a:p>
        </p:txBody>
      </p:sp>
      <p:sp>
        <p:nvSpPr>
          <p:cNvPr id="49177" name="Text Box 24"/>
          <p:cNvSpPr txBox="1">
            <a:spLocks noChangeArrowheads="1"/>
          </p:cNvSpPr>
          <p:nvPr/>
        </p:nvSpPr>
        <p:spPr bwMode="auto">
          <a:xfrm>
            <a:off x="1116013" y="1052513"/>
            <a:ext cx="5761037" cy="160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144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/>
              <a:t>Suppose </a:t>
            </a:r>
            <a:r>
              <a:rPr lang="en-US" altLang="en-US" sz="2400" b="1"/>
              <a:t>growers</a:t>
            </a:r>
            <a:r>
              <a:rPr lang="en-US" altLang="en-US" sz="2400"/>
              <a:t> own property rights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>
                <a:sym typeface="Wingdings" panose="05000000000000000000" pitchFamily="2" charset="2"/>
              </a:rPr>
              <a:t> Payment (‘transfer’) from </a:t>
            </a:r>
            <a:r>
              <a:rPr lang="en-US" altLang="en-US" sz="2400"/>
              <a:t>Pharma</a:t>
            </a:r>
            <a:r>
              <a:rPr lang="en-US" altLang="en-US" sz="2400">
                <a:sym typeface="Wingdings" panose="05000000000000000000" pitchFamily="2" charset="2"/>
              </a:rPr>
              <a:t> to growers to allow for Q* instead of Q=0 </a:t>
            </a:r>
            <a:endParaRPr lang="en-US" altLang="en-US" sz="2400"/>
          </a:p>
        </p:txBody>
      </p:sp>
      <p:sp>
        <p:nvSpPr>
          <p:cNvPr id="219166" name="AutoShape 30"/>
          <p:cNvSpPr>
            <a:spLocks noChangeArrowheads="1"/>
          </p:cNvSpPr>
          <p:nvPr/>
        </p:nvSpPr>
        <p:spPr bwMode="auto">
          <a:xfrm>
            <a:off x="3779838" y="2420938"/>
            <a:ext cx="2592387" cy="792162"/>
          </a:xfrm>
          <a:prstGeom prst="wedgeRoundRectCallout">
            <a:avLst>
              <a:gd name="adj1" fmla="val -85333"/>
              <a:gd name="adj2" fmla="val 124949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chemeClr val="bg1"/>
                </a:solidFill>
              </a:rPr>
              <a:t>Max transfer = Pharma’s profit</a:t>
            </a:r>
          </a:p>
        </p:txBody>
      </p:sp>
      <p:sp>
        <p:nvSpPr>
          <p:cNvPr id="219171" name="AutoShape 35"/>
          <p:cNvSpPr>
            <a:spLocks noChangeArrowheads="1"/>
          </p:cNvSpPr>
          <p:nvPr/>
        </p:nvSpPr>
        <p:spPr bwMode="auto">
          <a:xfrm>
            <a:off x="6011863" y="3500438"/>
            <a:ext cx="3095625" cy="1150937"/>
          </a:xfrm>
          <a:prstGeom prst="wedgeRoundRectCallout">
            <a:avLst>
              <a:gd name="adj1" fmla="val -146870"/>
              <a:gd name="adj2" fmla="val 143241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Min transfer = cost of producing Q* to growers</a:t>
            </a:r>
          </a:p>
        </p:txBody>
      </p:sp>
      <p:sp>
        <p:nvSpPr>
          <p:cNvPr id="219173" name="Freeform 37"/>
          <p:cNvSpPr>
            <a:spLocks/>
          </p:cNvSpPr>
          <p:nvPr/>
        </p:nvSpPr>
        <p:spPr bwMode="auto">
          <a:xfrm>
            <a:off x="1547813" y="5516563"/>
            <a:ext cx="2232025" cy="433387"/>
          </a:xfrm>
          <a:custGeom>
            <a:avLst/>
            <a:gdLst>
              <a:gd name="T0" fmla="*/ 0 w 1361"/>
              <a:gd name="T1" fmla="*/ 2147483646 h 273"/>
              <a:gd name="T2" fmla="*/ 2147483646 w 1361"/>
              <a:gd name="T3" fmla="*/ 0 h 273"/>
              <a:gd name="T4" fmla="*/ 2147483646 w 1361"/>
              <a:gd name="T5" fmla="*/ 2147483646 h 273"/>
              <a:gd name="T6" fmla="*/ 2147483646 w 1361"/>
              <a:gd name="T7" fmla="*/ 2147483646 h 273"/>
              <a:gd name="T8" fmla="*/ 0 60000 65536"/>
              <a:gd name="T9" fmla="*/ 0 60000 65536"/>
              <a:gd name="T10" fmla="*/ 0 60000 65536"/>
              <a:gd name="T11" fmla="*/ 0 60000 65536"/>
              <a:gd name="T12" fmla="*/ 0 w 1361"/>
              <a:gd name="T13" fmla="*/ 0 h 273"/>
              <a:gd name="T14" fmla="*/ 1361 w 1361"/>
              <a:gd name="T15" fmla="*/ 273 h 2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61" h="273">
                <a:moveTo>
                  <a:pt x="0" y="273"/>
                </a:moveTo>
                <a:lnTo>
                  <a:pt x="1361" y="0"/>
                </a:lnTo>
                <a:lnTo>
                  <a:pt x="1361" y="273"/>
                </a:lnTo>
                <a:lnTo>
                  <a:pt x="46" y="273"/>
                </a:lnTo>
              </a:path>
            </a:pathLst>
          </a:cu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19174" name="Freeform 38"/>
          <p:cNvSpPr>
            <a:spLocks/>
          </p:cNvSpPr>
          <p:nvPr/>
        </p:nvSpPr>
        <p:spPr bwMode="auto">
          <a:xfrm>
            <a:off x="1619250" y="2565400"/>
            <a:ext cx="2160588" cy="2735263"/>
          </a:xfrm>
          <a:custGeom>
            <a:avLst/>
            <a:gdLst>
              <a:gd name="T0" fmla="*/ 0 w 1361"/>
              <a:gd name="T1" fmla="*/ 0 h 1723"/>
              <a:gd name="T2" fmla="*/ 2147483646 w 1361"/>
              <a:gd name="T3" fmla="*/ 2147483646 h 1723"/>
              <a:gd name="T4" fmla="*/ 2147483646 w 1361"/>
              <a:gd name="T5" fmla="*/ 2147483646 h 1723"/>
              <a:gd name="T6" fmla="*/ 0 w 1361"/>
              <a:gd name="T7" fmla="*/ 2147483646 h 1723"/>
              <a:gd name="T8" fmla="*/ 0 w 1361"/>
              <a:gd name="T9" fmla="*/ 0 h 17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1"/>
              <a:gd name="T16" fmla="*/ 0 h 1723"/>
              <a:gd name="T17" fmla="*/ 1361 w 1361"/>
              <a:gd name="T18" fmla="*/ 1723 h 17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1" h="1723">
                <a:moveTo>
                  <a:pt x="0" y="0"/>
                </a:moveTo>
                <a:lnTo>
                  <a:pt x="1361" y="862"/>
                </a:lnTo>
                <a:lnTo>
                  <a:pt x="1361" y="1134"/>
                </a:lnTo>
                <a:lnTo>
                  <a:pt x="0" y="17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66" grpId="0" animBg="1"/>
      <p:bldP spid="219171" grpId="0" animBg="1"/>
      <p:bldP spid="219173" grpId="0" animBg="1"/>
      <p:bldP spid="21917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19CBC1-BAFF-4525-9705-5272BC092220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81075"/>
            <a:ext cx="7772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If Coase Theorem holds: market failure due to </a:t>
            </a:r>
            <a:r>
              <a:rPr lang="en-US" altLang="en-US" sz="2800" err="1"/>
              <a:t>ext’s</a:t>
            </a:r>
            <a:r>
              <a:rPr lang="en-US" altLang="en-US" sz="2800"/>
              <a:t> overcome </a:t>
            </a:r>
            <a:r>
              <a:rPr lang="en-US" altLang="en-US" sz="2800" i="1"/>
              <a:t>without</a:t>
            </a:r>
            <a:r>
              <a:rPr lang="en-US" altLang="en-US" sz="2800"/>
              <a:t> government intervention </a:t>
            </a:r>
            <a:br>
              <a:rPr lang="en-US" altLang="en-US" sz="2800"/>
            </a:br>
            <a:r>
              <a:rPr lang="en-US" altLang="en-US" sz="2800"/>
              <a:t>(apart from enforcing property rights)!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1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But: this requires low transaction cost</a:t>
            </a:r>
          </a:p>
          <a:p>
            <a:pPr marL="914400" lvl="1" indent="-514350" eaLnBrk="1" hangingPunct="1">
              <a:lnSpc>
                <a:spcPct val="90000"/>
              </a:lnSpc>
            </a:pPr>
            <a:r>
              <a:rPr lang="en-US" altLang="en-US" sz="2400"/>
              <a:t>Agreements should be easy to arrive at and to enforce</a:t>
            </a:r>
          </a:p>
          <a:p>
            <a:pPr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Few parties involved.</a:t>
            </a:r>
          </a:p>
          <a:p>
            <a:pPr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No asymmetric information (see lecture 3).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120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>
                <a:sym typeface="Wingdings" panose="05000000000000000000" pitchFamily="2" charset="2"/>
              </a:rPr>
              <a:t>This makes practical application limited</a:t>
            </a:r>
            <a:endParaRPr lang="en-US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2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When transaction cost (too) high: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No / limited negotiations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altLang="en-US" sz="2400"/>
              <a:t>Who owns property rights </a:t>
            </a:r>
            <a:r>
              <a:rPr lang="en-US" altLang="en-US" sz="2400" b="1">
                <a:solidFill>
                  <a:srgbClr val="FF0000"/>
                </a:solidFill>
              </a:rPr>
              <a:t>does</a:t>
            </a:r>
            <a:r>
              <a:rPr lang="en-US" altLang="en-US" sz="2400"/>
              <a:t> affect efficiency!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  <p:sp>
        <p:nvSpPr>
          <p:cNvPr id="48132" name="Rectangle 5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Coase Theorem</a:t>
            </a:r>
          </a:p>
        </p:txBody>
      </p:sp>
    </p:spTree>
    <p:extLst>
      <p:ext uri="{BB962C8B-B14F-4D97-AF65-F5344CB8AC3E}">
        <p14:creationId xmlns:p14="http://schemas.microsoft.com/office/powerpoint/2010/main" val="48398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7FB717-BCBC-41D7-BAB8-C7C6BC98E32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229600" cy="5256212"/>
          </a:xfrm>
        </p:spPr>
        <p:txBody>
          <a:bodyPr/>
          <a:lstStyle/>
          <a:p>
            <a:pPr marL="812800" indent="-812800" eaLnBrk="1" hangingPunct="1">
              <a:buFontTx/>
              <a:buNone/>
              <a:defRPr/>
            </a:pPr>
            <a:r>
              <a:rPr lang="en-US" sz="2800"/>
              <a:t>How to ensure that private parties choose socially optimal level of production?</a:t>
            </a:r>
            <a:br>
              <a:rPr lang="en-US" sz="2800"/>
            </a:br>
            <a:r>
              <a:rPr lang="en-US" sz="2800">
                <a:sym typeface="Wingdings" pitchFamily="2" charset="2"/>
              </a:rPr>
              <a:t> Let them </a:t>
            </a:r>
            <a:r>
              <a:rPr lang="en-US" sz="2800" err="1">
                <a:sym typeface="Wingdings" pitchFamily="2" charset="2"/>
              </a:rPr>
              <a:t>internalise</a:t>
            </a:r>
            <a:r>
              <a:rPr lang="en-US" sz="2800">
                <a:sym typeface="Wingdings" pitchFamily="2" charset="2"/>
              </a:rPr>
              <a:t> the externality </a:t>
            </a:r>
          </a:p>
          <a:p>
            <a:pPr marL="812800" indent="-812800" eaLnBrk="1" hangingPunct="1">
              <a:defRPr/>
            </a:pPr>
            <a:r>
              <a:rPr lang="en-US" sz="2800"/>
              <a:t>Through market:</a:t>
            </a:r>
          </a:p>
          <a:p>
            <a:pPr marL="1168400" lvl="1" indent="-711200" eaLnBrk="1" hangingPunct="1">
              <a:defRPr/>
            </a:pPr>
            <a:r>
              <a:rPr lang="en-US" sz="2400"/>
              <a:t>Merging</a:t>
            </a:r>
          </a:p>
          <a:p>
            <a:pPr marL="768350" indent="-711200" eaLnBrk="1" hangingPunct="1">
              <a:defRPr/>
            </a:pPr>
            <a:r>
              <a:rPr lang="en-US" sz="2800" err="1"/>
              <a:t>Coasian</a:t>
            </a:r>
            <a:r>
              <a:rPr lang="en-US" sz="2800"/>
              <a:t> bargaining by private parties</a:t>
            </a:r>
          </a:p>
          <a:p>
            <a:pPr marL="1168400" lvl="1" indent="-711200" eaLnBrk="1" hangingPunct="1">
              <a:defRPr/>
            </a:pPr>
            <a:r>
              <a:rPr lang="en-US" sz="2400"/>
              <a:t>Coase theorem</a:t>
            </a:r>
            <a:endParaRPr lang="en-US" sz="1200"/>
          </a:p>
          <a:p>
            <a:pPr marL="812800" indent="-812800" eaLnBrk="1" hangingPunct="1">
              <a:defRPr/>
            </a:pPr>
            <a:r>
              <a:rPr lang="en-US" sz="2800"/>
              <a:t>Through government intervention: </a:t>
            </a:r>
          </a:p>
          <a:p>
            <a:pPr marL="1168400" lvl="1" indent="-711200" eaLnBrk="1" hangingPunct="1">
              <a:defRPr/>
            </a:pPr>
            <a:r>
              <a:rPr lang="en-US" sz="2400"/>
              <a:t>Pigouvian taxes / subsidies</a:t>
            </a:r>
          </a:p>
          <a:p>
            <a:pPr marL="1168400" lvl="1" indent="-711200" eaLnBrk="1" hangingPunct="1">
              <a:defRPr/>
            </a:pPr>
            <a:r>
              <a:rPr lang="en-US" sz="2400"/>
              <a:t>Regulation</a:t>
            </a:r>
          </a:p>
          <a:p>
            <a:pPr marL="1168400" lvl="1" indent="-711200" eaLnBrk="1" hangingPunct="1">
              <a:defRPr/>
            </a:pPr>
            <a:r>
              <a:rPr lang="en-US" sz="2400"/>
              <a:t>Permit trade system (‘cap-and-trade’)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20725"/>
          </a:xfrm>
        </p:spPr>
        <p:txBody>
          <a:bodyPr/>
          <a:lstStyle/>
          <a:p>
            <a:pPr eaLnBrk="1" hangingPunct="1"/>
            <a:r>
              <a:rPr lang="en-US" altLang="en-US" sz="3600"/>
              <a:t>Overcoming market failure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6C56B7-815C-43EA-95A8-CA89235499A5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GB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en-US" sz="3600"/>
              <a:t>Pigouvian tax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5472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Externality arises because prices do not reflect all social cost and benefits. </a:t>
            </a: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ym typeface="Wingdings" panose="05000000000000000000" pitchFamily="2" charset="2"/>
              </a:rPr>
              <a:t>In example, for Pharma the price of pollution is 0</a:t>
            </a:r>
            <a:r>
              <a:rPr lang="en-US" altLang="en-US" sz="2400" dirty="0">
                <a:sym typeface="Wingdings" panose="05000000000000000000" pitchFamily="2" charset="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Solution: change prices faced by producer of externality.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400" b="1" dirty="0">
                <a:sym typeface="Wingdings" panose="05000000000000000000" pitchFamily="2" charset="2"/>
              </a:rPr>
              <a:t>Pigouvian tax / Pigouvian subsidy</a:t>
            </a:r>
            <a:endParaRPr lang="en-US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0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In case of a negative externality, a </a:t>
            </a:r>
            <a:r>
              <a:rPr lang="en-US" altLang="en-US" sz="2400" b="1" dirty="0">
                <a:sym typeface="Wingdings" panose="05000000000000000000" pitchFamily="2" charset="2"/>
              </a:rPr>
              <a:t>Pigouvian tax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is a tax on production / consumption equal to the marginal damage at the </a:t>
            </a:r>
            <a:r>
              <a:rPr lang="en-US" altLang="en-US" sz="2400" b="1" dirty="0">
                <a:sym typeface="Wingdings" panose="05000000000000000000" pitchFamily="2" charset="2"/>
              </a:rPr>
              <a:t>social efficient level of Q</a:t>
            </a:r>
            <a:r>
              <a:rPr lang="en-US" altLang="en-US" sz="2400" dirty="0">
                <a:sym typeface="Wingdings" panose="05000000000000000000" pitchFamily="2" charset="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Likewise, a Pigouvian subsidy</a:t>
            </a:r>
            <a:br>
              <a:rPr lang="en-US" altLang="en-US" sz="2400" dirty="0">
                <a:sym typeface="Wingdings" panose="05000000000000000000" pitchFamily="2" charset="2"/>
              </a:rPr>
            </a:br>
            <a:r>
              <a:rPr lang="en-US" altLang="en-US" sz="2400" dirty="0">
                <a:sym typeface="Wingdings" panose="05000000000000000000" pitchFamily="2" charset="2"/>
              </a:rPr>
              <a:t>is a subsidy for </a:t>
            </a:r>
            <a:r>
              <a:rPr lang="en-US" altLang="en-US" sz="2400" i="1" dirty="0">
                <a:sym typeface="Wingdings" panose="05000000000000000000" pitchFamily="2" charset="2"/>
              </a:rPr>
              <a:t>reduction </a:t>
            </a:r>
            <a:r>
              <a:rPr lang="en-US" altLang="en-US" sz="2400" dirty="0">
                <a:sym typeface="Wingdings" panose="05000000000000000000" pitchFamily="2" charset="2"/>
              </a:rPr>
              <a:t>in production / consumption equal to the marginal damage at the socially efficient Q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Similarly for positive externality: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Pigouvian subsidy for more consumption / production;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Pigouvian tax on a reduction in consumption / production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CEC7A-9011-4B9A-B8D4-B1580F90B19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GB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en-US" sz="3600"/>
              <a:t>Pigouvian tax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772400" cy="5472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Pigouvian tax in the example: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Facing tax </a:t>
            </a:r>
            <a:r>
              <a:rPr lang="en-US" altLang="en-US" sz="2400" i="1" dirty="0"/>
              <a:t>t,</a:t>
            </a:r>
            <a:r>
              <a:rPr lang="en-US" altLang="en-US" sz="2400" dirty="0"/>
              <a:t> Pharma sets output such that MB = MPC + </a:t>
            </a:r>
            <a:r>
              <a:rPr lang="en-US" altLang="en-US" sz="2400" i="1" dirty="0"/>
              <a:t>t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When </a:t>
            </a:r>
            <a:r>
              <a:rPr lang="en-US" altLang="en-US" sz="2400" i="1" dirty="0"/>
              <a:t>t</a:t>
            </a:r>
            <a:r>
              <a:rPr lang="en-US" altLang="en-US" sz="2400" dirty="0"/>
              <a:t> equals MD at Q</a:t>
            </a:r>
            <a:r>
              <a:rPr lang="en-US" altLang="en-US" sz="2400" baseline="30000" dirty="0"/>
              <a:t>* </a:t>
            </a:r>
            <a:r>
              <a:rPr lang="en-US" altLang="en-US" sz="2400" dirty="0"/>
              <a:t> , Pharma chooses Q such that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MB = MPC + MD(Q</a:t>
            </a:r>
            <a:r>
              <a:rPr lang="en-US" altLang="en-US" sz="2400" baseline="30000" dirty="0"/>
              <a:t>*</a:t>
            </a:r>
            <a:r>
              <a:rPr lang="en-US" altLang="en-US" sz="2400" dirty="0"/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which only holds at Q = Q</a:t>
            </a:r>
            <a:r>
              <a:rPr lang="en-US" altLang="en-US" sz="2400" baseline="30000" dirty="0"/>
              <a:t>* </a:t>
            </a:r>
            <a:r>
              <a:rPr lang="en-US" altLang="en-US" sz="2400" dirty="0"/>
              <a:t>, the social efficient level of Q!</a:t>
            </a:r>
            <a:r>
              <a:rPr lang="en-US" altLang="en-US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Tax revenue: t </a:t>
            </a:r>
            <a:r>
              <a:rPr lang="en-US" altLang="en-US" sz="2400" dirty="0"/>
              <a:t>Q</a:t>
            </a:r>
            <a:r>
              <a:rPr lang="en-US" altLang="en-US" sz="2400" baseline="30000" dirty="0"/>
              <a:t>*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Lost profits Pharma : </a:t>
            </a:r>
            <a:r>
              <a:rPr lang="en-US" altLang="en-US" sz="2800" dirty="0" err="1"/>
              <a:t>t</a:t>
            </a:r>
            <a:r>
              <a:rPr lang="en-US" altLang="en-US" sz="2400" dirty="0" err="1"/>
              <a:t>Q</a:t>
            </a:r>
            <a:r>
              <a:rPr lang="en-US" altLang="en-US" sz="2400" baseline="30000" dirty="0"/>
              <a:t>*</a:t>
            </a:r>
            <a:r>
              <a:rPr lang="en-US" altLang="en-US" sz="2800" dirty="0"/>
              <a:t> + area </a:t>
            </a:r>
            <a:r>
              <a:rPr lang="en-US" altLang="en-US" sz="2800" dirty="0" err="1"/>
              <a:t>cdg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Reduction in External Damage: </a:t>
            </a:r>
            <a:r>
              <a:rPr lang="en-US" altLang="en-US" sz="2800" dirty="0" err="1"/>
              <a:t>cdhg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Efficiency gain: area </a:t>
            </a:r>
            <a:r>
              <a:rPr lang="en-US" altLang="en-US" sz="2800" dirty="0" err="1"/>
              <a:t>dhg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7C8194-0BF1-4148-AE7E-DBB0BCFF2C0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GB" altLang="en-US" sz="1400"/>
          </a:p>
        </p:txBody>
      </p:sp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619250" y="3933825"/>
            <a:ext cx="2189163" cy="422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Pigouvian tax</a:t>
            </a: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78" name="Line 5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79" name="Text Box 6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54280" name="Text Box 7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54281" name="Line 8"/>
          <p:cNvSpPr>
            <a:spLocks noChangeShapeType="1"/>
          </p:cNvSpPr>
          <p:nvPr/>
        </p:nvSpPr>
        <p:spPr bwMode="auto">
          <a:xfrm>
            <a:off x="1614488" y="2584450"/>
            <a:ext cx="5338762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82" name="Text Box 9"/>
          <p:cNvSpPr txBox="1">
            <a:spLocks noChangeArrowheads="1"/>
          </p:cNvSpPr>
          <p:nvPr/>
        </p:nvSpPr>
        <p:spPr bwMode="auto">
          <a:xfrm>
            <a:off x="6861175" y="5426075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MB</a:t>
            </a:r>
          </a:p>
        </p:txBody>
      </p:sp>
      <p:sp>
        <p:nvSpPr>
          <p:cNvPr id="54283" name="Text Box 10"/>
          <p:cNvSpPr txBox="1">
            <a:spLocks noChangeArrowheads="1"/>
          </p:cNvSpPr>
          <p:nvPr/>
        </p:nvSpPr>
        <p:spPr bwMode="auto">
          <a:xfrm>
            <a:off x="1403350" y="5949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4284" name="Line 11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85" name="Text Box 12"/>
          <p:cNvSpPr txBox="1">
            <a:spLocks noChangeArrowheads="1"/>
          </p:cNvSpPr>
          <p:nvPr/>
        </p:nvSpPr>
        <p:spPr bwMode="auto">
          <a:xfrm>
            <a:off x="7872413" y="4445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54286" name="Line 13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87" name="Text Box 14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54288" name="Line 15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89" name="Text Box 16"/>
          <p:cNvSpPr txBox="1">
            <a:spLocks noChangeArrowheads="1"/>
          </p:cNvSpPr>
          <p:nvPr/>
        </p:nvSpPr>
        <p:spPr bwMode="auto">
          <a:xfrm>
            <a:off x="6804025" y="14843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54290" name="Line 17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91" name="Line 18"/>
          <p:cNvSpPr>
            <a:spLocks noChangeShapeType="1"/>
          </p:cNvSpPr>
          <p:nvPr/>
        </p:nvSpPr>
        <p:spPr bwMode="auto">
          <a:xfrm>
            <a:off x="3798888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292" name="Text Box 19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4293" name="Text Box 20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54294" name="Text Box 21"/>
          <p:cNvSpPr txBox="1">
            <a:spLocks noChangeArrowheads="1"/>
          </p:cNvSpPr>
          <p:nvPr/>
        </p:nvSpPr>
        <p:spPr bwMode="auto">
          <a:xfrm>
            <a:off x="3735388" y="42735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4295" name="Text Box 22"/>
          <p:cNvSpPr txBox="1">
            <a:spLocks noChangeArrowheads="1"/>
          </p:cNvSpPr>
          <p:nvPr/>
        </p:nvSpPr>
        <p:spPr bwMode="auto">
          <a:xfrm>
            <a:off x="3649663" y="3582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85367" name="Text Box 23"/>
          <p:cNvSpPr txBox="1">
            <a:spLocks noChangeArrowheads="1"/>
          </p:cNvSpPr>
          <p:nvPr/>
        </p:nvSpPr>
        <p:spPr bwMode="auto">
          <a:xfrm>
            <a:off x="7524750" y="1844675"/>
            <a:ext cx="134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(MPC + cd)</a:t>
            </a:r>
          </a:p>
        </p:txBody>
      </p:sp>
      <p:sp>
        <p:nvSpPr>
          <p:cNvPr id="185368" name="Text Box 24"/>
          <p:cNvSpPr txBox="1">
            <a:spLocks noChangeArrowheads="1"/>
          </p:cNvSpPr>
          <p:nvPr/>
        </p:nvSpPr>
        <p:spPr bwMode="auto">
          <a:xfrm>
            <a:off x="2498725" y="2354263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Pigouvian</a:t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</a:rPr>
              <a:t>tax revenues</a:t>
            </a:r>
          </a:p>
        </p:txBody>
      </p:sp>
      <p:sp>
        <p:nvSpPr>
          <p:cNvPr id="185369" name="Line 25"/>
          <p:cNvSpPr>
            <a:spLocks noChangeShapeType="1"/>
          </p:cNvSpPr>
          <p:nvPr/>
        </p:nvSpPr>
        <p:spPr bwMode="auto">
          <a:xfrm flipH="1">
            <a:off x="2613025" y="2928938"/>
            <a:ext cx="5381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5370" name="Line 26"/>
          <p:cNvSpPr>
            <a:spLocks noChangeShapeType="1"/>
          </p:cNvSpPr>
          <p:nvPr/>
        </p:nvSpPr>
        <p:spPr bwMode="auto">
          <a:xfrm flipV="1">
            <a:off x="1614488" y="2646363"/>
            <a:ext cx="6337300" cy="2649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4300" name="Text Box 29"/>
          <p:cNvSpPr txBox="1">
            <a:spLocks noChangeArrowheads="1"/>
          </p:cNvSpPr>
          <p:nvPr/>
        </p:nvSpPr>
        <p:spPr bwMode="auto">
          <a:xfrm>
            <a:off x="4067175" y="33575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4301" name="Text Box 30"/>
          <p:cNvSpPr txBox="1">
            <a:spLocks noChangeArrowheads="1"/>
          </p:cNvSpPr>
          <p:nvPr/>
        </p:nvSpPr>
        <p:spPr bwMode="auto">
          <a:xfrm>
            <a:off x="4140200" y="42211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54302" name="Line 31"/>
          <p:cNvSpPr>
            <a:spLocks noChangeShapeType="1"/>
          </p:cNvSpPr>
          <p:nvPr/>
        </p:nvSpPr>
        <p:spPr bwMode="auto">
          <a:xfrm flipH="1">
            <a:off x="1619250" y="5445125"/>
            <a:ext cx="216058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85376" name="AutoShape 32"/>
          <p:cNvSpPr>
            <a:spLocks/>
          </p:cNvSpPr>
          <p:nvPr/>
        </p:nvSpPr>
        <p:spPr bwMode="auto">
          <a:xfrm>
            <a:off x="3851275" y="5445125"/>
            <a:ext cx="215900" cy="504825"/>
          </a:xfrm>
          <a:prstGeom prst="rightBrace">
            <a:avLst>
              <a:gd name="adj1" fmla="val 1948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185377" name="AutoShape 33"/>
          <p:cNvSpPr>
            <a:spLocks noChangeArrowheads="1"/>
          </p:cNvSpPr>
          <p:nvPr/>
        </p:nvSpPr>
        <p:spPr bwMode="auto">
          <a:xfrm>
            <a:off x="5292725" y="3860800"/>
            <a:ext cx="2087563" cy="792163"/>
          </a:xfrm>
          <a:prstGeom prst="wedgeRoundRectCallout">
            <a:avLst>
              <a:gd name="adj1" fmla="val -105514"/>
              <a:gd name="adj2" fmla="val 175653"/>
              <a:gd name="adj3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MD in social optimum = cd</a:t>
            </a:r>
          </a:p>
        </p:txBody>
      </p:sp>
      <p:sp>
        <p:nvSpPr>
          <p:cNvPr id="185378" name="AutoShape 34"/>
          <p:cNvSpPr>
            <a:spLocks/>
          </p:cNvSpPr>
          <p:nvPr/>
        </p:nvSpPr>
        <p:spPr bwMode="auto">
          <a:xfrm rot="10800000">
            <a:off x="1258888" y="4868863"/>
            <a:ext cx="217487" cy="433387"/>
          </a:xfrm>
          <a:prstGeom prst="rightBrace">
            <a:avLst>
              <a:gd name="adj1" fmla="val 16606"/>
              <a:gd name="adj2" fmla="val 47486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185379" name="AutoShape 35"/>
          <p:cNvSpPr>
            <a:spLocks/>
          </p:cNvSpPr>
          <p:nvPr/>
        </p:nvSpPr>
        <p:spPr bwMode="auto">
          <a:xfrm>
            <a:off x="3924300" y="3933825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185380" name="AutoShape 36"/>
          <p:cNvSpPr>
            <a:spLocks noChangeArrowheads="1"/>
          </p:cNvSpPr>
          <p:nvPr/>
        </p:nvSpPr>
        <p:spPr bwMode="auto">
          <a:xfrm>
            <a:off x="395288" y="476250"/>
            <a:ext cx="2087562" cy="1152525"/>
          </a:xfrm>
          <a:prstGeom prst="wedgeRoundRectCallout">
            <a:avLst>
              <a:gd name="adj1" fmla="val -9620"/>
              <a:gd name="adj2" fmla="val 343662"/>
              <a:gd name="adj3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Pig. tax = cd, raises MPC to MPC + cd</a:t>
            </a:r>
          </a:p>
        </p:txBody>
      </p:sp>
      <p:sp>
        <p:nvSpPr>
          <p:cNvPr id="185381" name="Text Box 37"/>
          <p:cNvSpPr txBox="1">
            <a:spLocks noChangeArrowheads="1"/>
          </p:cNvSpPr>
          <p:nvPr/>
        </p:nvSpPr>
        <p:spPr bwMode="auto">
          <a:xfrm>
            <a:off x="179388" y="6308725"/>
            <a:ext cx="3600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With tax, Q* also privately optimal</a:t>
            </a:r>
          </a:p>
        </p:txBody>
      </p:sp>
      <p:sp>
        <p:nvSpPr>
          <p:cNvPr id="185382" name="Line 38"/>
          <p:cNvSpPr>
            <a:spLocks noChangeShapeType="1"/>
          </p:cNvSpPr>
          <p:nvPr/>
        </p:nvSpPr>
        <p:spPr bwMode="auto">
          <a:xfrm flipV="1">
            <a:off x="3132138" y="6165850"/>
            <a:ext cx="360362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18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85185E-6 L 0.01181 -0.225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" y="-1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85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8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17919E-6 L -0.00208 -0.058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29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20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nimBg="1"/>
      <p:bldP spid="185367" grpId="0"/>
      <p:bldP spid="185368" grpId="0"/>
      <p:bldP spid="185369" grpId="0" animBg="1"/>
      <p:bldP spid="185370" grpId="0" animBg="1"/>
      <p:bldP spid="185376" grpId="0" animBg="1"/>
      <p:bldP spid="185377" grpId="0" animBg="1"/>
      <p:bldP spid="185377" grpId="1" animBg="1"/>
      <p:bldP spid="185377" grpId="2" animBg="1"/>
      <p:bldP spid="185378" grpId="0" animBg="1"/>
      <p:bldP spid="185379" grpId="0" animBg="1"/>
      <p:bldP spid="185380" grpId="0" animBg="1"/>
      <p:bldP spid="185381" grpId="0"/>
      <p:bldP spid="18538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1EAC08-AB20-457E-A7F1-74F99678863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GB" altLang="en-US" sz="1400"/>
          </a:p>
        </p:txBody>
      </p:sp>
      <p:sp>
        <p:nvSpPr>
          <p:cNvPr id="190466" name="Rectangle 2"/>
          <p:cNvSpPr>
            <a:spLocks noChangeArrowheads="1"/>
          </p:cNvSpPr>
          <p:nvPr/>
        </p:nvSpPr>
        <p:spPr bwMode="auto">
          <a:xfrm>
            <a:off x="3803650" y="3967163"/>
            <a:ext cx="384175" cy="422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–"/>
            </a:pPr>
            <a:endParaRPr lang="en-US" altLang="en-US" sz="240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en-US" sz="3600"/>
              <a:t>Pigouvian Subsidy</a:t>
            </a:r>
          </a:p>
        </p:txBody>
      </p:sp>
      <p:sp>
        <p:nvSpPr>
          <p:cNvPr id="56325" name="Line 4"/>
          <p:cNvSpPr>
            <a:spLocks noChangeShapeType="1"/>
          </p:cNvSpPr>
          <p:nvPr/>
        </p:nvSpPr>
        <p:spPr bwMode="auto">
          <a:xfrm flipV="1">
            <a:off x="1614488" y="2046288"/>
            <a:ext cx="0" cy="391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26" name="Line 5"/>
          <p:cNvSpPr>
            <a:spLocks noChangeShapeType="1"/>
          </p:cNvSpPr>
          <p:nvPr/>
        </p:nvSpPr>
        <p:spPr bwMode="auto">
          <a:xfrm>
            <a:off x="1576388" y="5964238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27" name="Text Box 6"/>
          <p:cNvSpPr txBox="1">
            <a:spLocks noChangeArrowheads="1"/>
          </p:cNvSpPr>
          <p:nvPr/>
        </p:nvSpPr>
        <p:spPr bwMode="auto">
          <a:xfrm>
            <a:off x="7245350" y="60404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 per year</a:t>
            </a:r>
          </a:p>
        </p:txBody>
      </p:sp>
      <p:sp>
        <p:nvSpPr>
          <p:cNvPr id="56328" name="Text Box 7"/>
          <p:cNvSpPr txBox="1">
            <a:spLocks noChangeArrowheads="1"/>
          </p:cNvSpPr>
          <p:nvPr/>
        </p:nvSpPr>
        <p:spPr bwMode="auto">
          <a:xfrm>
            <a:off x="1292225" y="1931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56329" name="Line 8"/>
          <p:cNvSpPr>
            <a:spLocks noChangeShapeType="1"/>
          </p:cNvSpPr>
          <p:nvPr/>
        </p:nvSpPr>
        <p:spPr bwMode="auto">
          <a:xfrm>
            <a:off x="1614488" y="2584450"/>
            <a:ext cx="5338762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30" name="Text Box 9"/>
          <p:cNvSpPr txBox="1">
            <a:spLocks noChangeArrowheads="1"/>
          </p:cNvSpPr>
          <p:nvPr/>
        </p:nvSpPr>
        <p:spPr bwMode="auto">
          <a:xfrm>
            <a:off x="6861175" y="5426075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MB</a:t>
            </a:r>
          </a:p>
        </p:txBody>
      </p:sp>
      <p:sp>
        <p:nvSpPr>
          <p:cNvPr id="56331" name="Text Box 10"/>
          <p:cNvSpPr txBox="1">
            <a:spLocks noChangeArrowheads="1"/>
          </p:cNvSpPr>
          <p:nvPr/>
        </p:nvSpPr>
        <p:spPr bwMode="auto">
          <a:xfrm>
            <a:off x="1346200" y="58483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6332" name="Line 11"/>
          <p:cNvSpPr>
            <a:spLocks noChangeShapeType="1"/>
          </p:cNvSpPr>
          <p:nvPr/>
        </p:nvSpPr>
        <p:spPr bwMode="auto">
          <a:xfrm rot="331794" flipV="1">
            <a:off x="1652588" y="4351338"/>
            <a:ext cx="6107112" cy="188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33" name="Text Box 12"/>
          <p:cNvSpPr txBox="1">
            <a:spLocks noChangeArrowheads="1"/>
          </p:cNvSpPr>
          <p:nvPr/>
        </p:nvSpPr>
        <p:spPr bwMode="auto">
          <a:xfrm>
            <a:off x="7872413" y="4445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MD</a:t>
            </a:r>
          </a:p>
        </p:txBody>
      </p:sp>
      <p:sp>
        <p:nvSpPr>
          <p:cNvPr id="56334" name="Line 13"/>
          <p:cNvSpPr>
            <a:spLocks noChangeShapeType="1"/>
          </p:cNvSpPr>
          <p:nvPr/>
        </p:nvSpPr>
        <p:spPr bwMode="auto">
          <a:xfrm flipV="1">
            <a:off x="1614488" y="2641600"/>
            <a:ext cx="6337300" cy="264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35" name="Text Box 14"/>
          <p:cNvSpPr txBox="1">
            <a:spLocks noChangeArrowheads="1"/>
          </p:cNvSpPr>
          <p:nvPr/>
        </p:nvSpPr>
        <p:spPr bwMode="auto">
          <a:xfrm>
            <a:off x="7975600" y="239236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MPC</a:t>
            </a:r>
          </a:p>
        </p:txBody>
      </p:sp>
      <p:sp>
        <p:nvSpPr>
          <p:cNvPr id="56336" name="Line 15"/>
          <p:cNvSpPr>
            <a:spLocks noChangeShapeType="1"/>
          </p:cNvSpPr>
          <p:nvPr/>
        </p:nvSpPr>
        <p:spPr bwMode="auto">
          <a:xfrm flipV="1">
            <a:off x="1614488" y="1892300"/>
            <a:ext cx="5607050" cy="3379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37" name="Text Box 16"/>
          <p:cNvSpPr txBox="1">
            <a:spLocks noChangeArrowheads="1"/>
          </p:cNvSpPr>
          <p:nvPr/>
        </p:nvSpPr>
        <p:spPr bwMode="auto">
          <a:xfrm>
            <a:off x="7183438" y="1624013"/>
            <a:ext cx="207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MSC = MPC + MD</a:t>
            </a:r>
          </a:p>
        </p:txBody>
      </p:sp>
      <p:sp>
        <p:nvSpPr>
          <p:cNvPr id="56338" name="Line 17"/>
          <p:cNvSpPr>
            <a:spLocks noChangeShapeType="1"/>
          </p:cNvSpPr>
          <p:nvPr/>
        </p:nvSpPr>
        <p:spPr bwMode="auto">
          <a:xfrm>
            <a:off x="4187825" y="4235450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39" name="Line 18"/>
          <p:cNvSpPr>
            <a:spLocks noChangeShapeType="1"/>
          </p:cNvSpPr>
          <p:nvPr/>
        </p:nvSpPr>
        <p:spPr bwMode="auto">
          <a:xfrm>
            <a:off x="3798888" y="3967163"/>
            <a:ext cx="0" cy="1997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40" name="Text Box 19"/>
          <p:cNvSpPr txBox="1">
            <a:spLocks noChangeArrowheads="1"/>
          </p:cNvSpPr>
          <p:nvPr/>
        </p:nvSpPr>
        <p:spPr bwMode="auto">
          <a:xfrm>
            <a:off x="4057650" y="6002338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>
                <a:latin typeface="Arial" panose="020B0604020202020204" pitchFamily="34" charset="0"/>
              </a:rPr>
              <a:t>Q</a:t>
            </a:r>
            <a:r>
              <a:rPr lang="en-US" altLang="en-US" sz="1800" baseline="300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6341" name="Text Box 20"/>
          <p:cNvSpPr txBox="1">
            <a:spLocks noChangeArrowheads="1"/>
          </p:cNvSpPr>
          <p:nvPr/>
        </p:nvSpPr>
        <p:spPr bwMode="auto">
          <a:xfrm>
            <a:off x="3481388" y="600233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Q*</a:t>
            </a:r>
          </a:p>
        </p:txBody>
      </p:sp>
      <p:sp>
        <p:nvSpPr>
          <p:cNvPr id="56342" name="Text Box 21"/>
          <p:cNvSpPr txBox="1">
            <a:spLocks noChangeArrowheads="1"/>
          </p:cNvSpPr>
          <p:nvPr/>
        </p:nvSpPr>
        <p:spPr bwMode="auto">
          <a:xfrm>
            <a:off x="3735388" y="42735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6343" name="Text Box 22"/>
          <p:cNvSpPr txBox="1">
            <a:spLocks noChangeArrowheads="1"/>
          </p:cNvSpPr>
          <p:nvPr/>
        </p:nvSpPr>
        <p:spPr bwMode="auto">
          <a:xfrm>
            <a:off x="3649663" y="3582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90487" name="Text Box 23"/>
          <p:cNvSpPr txBox="1">
            <a:spLocks noChangeArrowheads="1"/>
          </p:cNvSpPr>
          <p:nvPr/>
        </p:nvSpPr>
        <p:spPr bwMode="auto">
          <a:xfrm>
            <a:off x="7872413" y="1947863"/>
            <a:ext cx="1346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(MPC + cd)</a:t>
            </a:r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 flipV="1">
            <a:off x="1614488" y="2646363"/>
            <a:ext cx="6337300" cy="2649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90489" name="Text Box 25"/>
          <p:cNvSpPr txBox="1">
            <a:spLocks noChangeArrowheads="1"/>
          </p:cNvSpPr>
          <p:nvPr/>
        </p:nvSpPr>
        <p:spPr bwMode="auto">
          <a:xfrm>
            <a:off x="1379538" y="3736975"/>
            <a:ext cx="234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90490" name="Text Box 26"/>
          <p:cNvSpPr txBox="1">
            <a:spLocks noChangeArrowheads="1"/>
          </p:cNvSpPr>
          <p:nvPr/>
        </p:nvSpPr>
        <p:spPr bwMode="auto">
          <a:xfrm>
            <a:off x="1384300" y="4214813"/>
            <a:ext cx="23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90491" name="Line 27"/>
          <p:cNvSpPr>
            <a:spLocks noChangeShapeType="1"/>
          </p:cNvSpPr>
          <p:nvPr/>
        </p:nvSpPr>
        <p:spPr bwMode="auto">
          <a:xfrm>
            <a:off x="1614488" y="3957638"/>
            <a:ext cx="2611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90492" name="Line 28"/>
          <p:cNvSpPr>
            <a:spLocks noChangeShapeType="1"/>
          </p:cNvSpPr>
          <p:nvPr/>
        </p:nvSpPr>
        <p:spPr bwMode="auto">
          <a:xfrm>
            <a:off x="1614488" y="4389438"/>
            <a:ext cx="2611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90493" name="Line 29"/>
          <p:cNvSpPr>
            <a:spLocks noChangeShapeType="1"/>
          </p:cNvSpPr>
          <p:nvPr/>
        </p:nvSpPr>
        <p:spPr bwMode="auto">
          <a:xfrm>
            <a:off x="4187825" y="4005263"/>
            <a:ext cx="9525" cy="384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56351" name="Text Box 34"/>
          <p:cNvSpPr txBox="1">
            <a:spLocks noChangeArrowheads="1"/>
          </p:cNvSpPr>
          <p:nvPr/>
        </p:nvSpPr>
        <p:spPr bwMode="auto">
          <a:xfrm>
            <a:off x="4187825" y="56562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0499" name="Text Box 35"/>
          <p:cNvSpPr txBox="1">
            <a:spLocks noChangeArrowheads="1"/>
          </p:cNvSpPr>
          <p:nvPr/>
        </p:nvSpPr>
        <p:spPr bwMode="auto">
          <a:xfrm>
            <a:off x="3343275" y="2622550"/>
            <a:ext cx="1651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Pigouvian</a:t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</a:rPr>
              <a:t>subsidy cost</a:t>
            </a:r>
          </a:p>
        </p:txBody>
      </p:sp>
      <p:sp>
        <p:nvSpPr>
          <p:cNvPr id="190500" name="Line 36"/>
          <p:cNvSpPr>
            <a:spLocks noChangeShapeType="1"/>
          </p:cNvSpPr>
          <p:nvPr/>
        </p:nvSpPr>
        <p:spPr bwMode="auto">
          <a:xfrm>
            <a:off x="3803650" y="3236913"/>
            <a:ext cx="192088" cy="998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17919E-6 L 0.00208 -0.064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0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32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000"/>
                                        <p:tgtEl>
                                          <p:spTgt spid="19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19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19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0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nimBg="1"/>
      <p:bldP spid="190487" grpId="0"/>
      <p:bldP spid="190488" grpId="0" animBg="1"/>
      <p:bldP spid="190489" grpId="0"/>
      <p:bldP spid="190490" grpId="0"/>
      <p:bldP spid="190491" grpId="0" animBg="1"/>
      <p:bldP spid="190492" grpId="0" animBg="1"/>
      <p:bldP spid="190493" grpId="0" animBg="1"/>
      <p:bldP spid="190499" grpId="0"/>
      <p:bldP spid="19050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C04B19-440A-47C1-A8AF-91590CBB3106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GB" altLang="en-US" sz="14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Pigouvian taxes and subsidies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/>
              <a:t>Tax versus subsidy:</a:t>
            </a:r>
          </a:p>
          <a:p>
            <a:pPr lvl="1" eaLnBrk="1" hangingPunct="1"/>
            <a:r>
              <a:rPr lang="en-US" altLang="en-US" sz="2400" dirty="0"/>
              <a:t>Both yield socially efficient level of Q.</a:t>
            </a:r>
          </a:p>
          <a:p>
            <a:pPr lvl="1" eaLnBrk="1" hangingPunct="1"/>
            <a:r>
              <a:rPr lang="en-US" altLang="en-US" sz="2400" dirty="0"/>
              <a:t>Both require that government has (full) information on all costs and benefits.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In practice, optimal level of tax / subsidy difficult but important question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 Lots of room for government failure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Main difference: distribution. </a:t>
            </a:r>
          </a:p>
          <a:p>
            <a:pPr eaLnBrk="1" hangingPunct="1">
              <a:buFontTx/>
              <a:buNone/>
            </a:pPr>
            <a:endParaRPr lang="en-US" alt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C04B19-440A-47C1-A8AF-91590CBB3106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4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Pigouvian taxes and subsidies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/>
              <a:t>Exercise continued:</a:t>
            </a:r>
          </a:p>
          <a:p>
            <a:pPr eaLnBrk="1" hangingPunct="1">
              <a:buFontTx/>
              <a:buNone/>
            </a:pPr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978966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FEA854-C2B3-4638-8F28-7A0820B04962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4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Regulation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lvl="1" eaLnBrk="1" hangingPunct="1"/>
            <a:r>
              <a:rPr lang="en-US" altLang="en-US" sz="2400"/>
              <a:t>Restrict or even forbid production / consumption</a:t>
            </a:r>
          </a:p>
          <a:p>
            <a:pPr lvl="1" eaLnBrk="1" hangingPunct="1"/>
            <a:r>
              <a:rPr lang="en-US" altLang="en-US" sz="2400"/>
              <a:t>Enforcing production standards (safety, environmental)</a:t>
            </a:r>
          </a:p>
          <a:p>
            <a:pPr lvl="1" eaLnBrk="1" hangingPunct="1"/>
            <a:r>
              <a:rPr lang="en-US" altLang="en-US" sz="2400"/>
              <a:t>Affect property rights / decision rights</a:t>
            </a:r>
          </a:p>
          <a:p>
            <a:pPr eaLnBrk="1" hangingPunct="1">
              <a:buFontTx/>
              <a:buNone/>
            </a:pPr>
            <a:endParaRPr lang="en-US" altLang="en-US" sz="900"/>
          </a:p>
          <a:p>
            <a:pPr eaLnBrk="1" hangingPunct="1">
              <a:buFontTx/>
              <a:buNone/>
            </a:pPr>
            <a:r>
              <a:rPr lang="en-US" altLang="en-US" sz="2400"/>
              <a:t>Requires much information</a:t>
            </a:r>
          </a:p>
          <a:p>
            <a:pPr eaLnBrk="1" hangingPunct="1"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Specialized regulators</a:t>
            </a:r>
          </a:p>
          <a:p>
            <a:pPr eaLnBrk="1" hangingPunct="1">
              <a:buFont typeface="Wingdings" panose="05000000000000000000" pitchFamily="2" charset="2"/>
              <a:buChar char="à"/>
            </a:pPr>
            <a:endParaRPr lang="en-US" altLang="en-US" sz="1000"/>
          </a:p>
          <a:p>
            <a:pPr eaLnBrk="1" hangingPunct="1">
              <a:buFontTx/>
              <a:buNone/>
            </a:pPr>
            <a:r>
              <a:rPr lang="en-US" altLang="en-US" sz="2400"/>
              <a:t>Standards give no incentive to improve beyond standard</a:t>
            </a:r>
          </a:p>
          <a:p>
            <a:pPr eaLnBrk="1" hangingPunct="1">
              <a:buFontTx/>
              <a:buNone/>
            </a:pPr>
            <a:r>
              <a:rPr lang="en-US" altLang="en-US" sz="2400">
                <a:sym typeface="Wingdings" panose="05000000000000000000" pitchFamily="2" charset="2"/>
              </a:rPr>
              <a:t></a:t>
            </a:r>
            <a:r>
              <a:rPr lang="en-US" altLang="en-US" sz="2400"/>
              <a:t>Car emission standards in the US versus high taxes on gasoline in Europe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FEA854-C2B3-4638-8F28-7A0820B04962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4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Cap and Trade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/>
              <a:t>Example: EU Emissions Trading System</a:t>
            </a:r>
          </a:p>
          <a:p>
            <a:pPr eaLnBrk="1" hangingPunct="1">
              <a:buFontTx/>
              <a:buNone/>
            </a:pPr>
            <a:endParaRPr lang="en-US" altLang="en-US" sz="1100"/>
          </a:p>
          <a:p>
            <a:pPr eaLnBrk="1" hangingPunct="1">
              <a:buFontTx/>
              <a:buNone/>
            </a:pPr>
            <a:r>
              <a:rPr lang="en-US" altLang="en-US" sz="2400"/>
              <a:t>Combination of regulation and Pigouvian tax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Impose maximum on total emission (‘cap’)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Give / sell emission permits to producers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Allow producers to trade permits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>
              <a:buFontTx/>
              <a:buNone/>
            </a:pPr>
            <a:r>
              <a:rPr lang="en-US" altLang="en-US" sz="2400"/>
              <a:t>Price of permit that arises on the market serves as (opportunity) cost of emission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r>
              <a:rPr lang="en-US" altLang="en-US" sz="2400"/>
              <a:t>Cap and trade versus emission tax: see book </a:t>
            </a:r>
            <a:r>
              <a:rPr lang="en-US" altLang="en-US" sz="2400" err="1"/>
              <a:t>ch.</a:t>
            </a:r>
            <a:r>
              <a:rPr lang="en-US" altLang="en-US" sz="2400"/>
              <a:t> 5 and exercise set 2</a:t>
            </a:r>
          </a:p>
        </p:txBody>
      </p:sp>
    </p:spTree>
    <p:extLst>
      <p:ext uri="{BB962C8B-B14F-4D97-AF65-F5344CB8AC3E}">
        <p14:creationId xmlns:p14="http://schemas.microsoft.com/office/powerpoint/2010/main" val="763061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96A11C-B4F0-460A-8450-D8115ECD227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400"/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68413"/>
            <a:ext cx="8062913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Firm 1 produces using input </a:t>
            </a:r>
            <a:r>
              <a:rPr lang="en-US" altLang="en-US" sz="2400" i="1"/>
              <a:t>K</a:t>
            </a:r>
            <a:r>
              <a:rPr lang="en-US" altLang="en-US" sz="2400"/>
              <a:t> ; Firm 2 produces using input </a:t>
            </a:r>
            <a:r>
              <a:rPr lang="en-US" altLang="en-US" sz="2400" i="1"/>
              <a:t>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Use of input </a:t>
            </a:r>
            <a:r>
              <a:rPr lang="en-US" altLang="en-US" sz="2400" i="1"/>
              <a:t>K</a:t>
            </a:r>
            <a:r>
              <a:rPr lang="en-US" altLang="en-US" sz="2400"/>
              <a:t> by firm 1 has negative effect on profit of firm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Profits: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Private choices: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Firm 1 maximises to </a:t>
            </a:r>
            <a:r>
              <a:rPr lang="en-US" altLang="en-US" sz="2400" i="1"/>
              <a:t>K</a:t>
            </a:r>
            <a:r>
              <a:rPr lang="en-US" altLang="en-US" sz="2400"/>
              <a:t>, giving first-order condition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Hence, 	   such that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Similarly, 		such that </a:t>
            </a:r>
          </a:p>
        </p:txBody>
      </p:sp>
      <p:graphicFrame>
        <p:nvGraphicFramePr>
          <p:cNvPr id="150536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79613" y="2276475"/>
          <a:ext cx="24225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9810" imgH="393529" progId="Equation.3">
                  <p:embed/>
                </p:oleObj>
              </mc:Choice>
              <mc:Fallback>
                <p:oleObj name="Equation" r:id="rId2" imgW="1129810" imgH="393529" progId="Equation.3">
                  <p:embed/>
                  <p:pic>
                    <p:nvPicPr>
                      <p:cNvPr id="150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276475"/>
                        <a:ext cx="24225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8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03800" y="2276475"/>
          <a:ext cx="30241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393529" progId="Equation.3">
                  <p:embed/>
                </p:oleObj>
              </mc:Choice>
              <mc:Fallback>
                <p:oleObj name="Equation" r:id="rId4" imgW="1459866" imgH="393529" progId="Equation.3">
                  <p:embed/>
                  <p:pic>
                    <p:nvPicPr>
                      <p:cNvPr id="1505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76475"/>
                        <a:ext cx="302418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1692275" y="4581525"/>
          <a:ext cx="1081088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252" imgH="431613" progId="Equation.3">
                  <p:embed/>
                </p:oleObj>
              </mc:Choice>
              <mc:Fallback>
                <p:oleObj name="Equation" r:id="rId6" imgW="571252" imgH="431613" progId="Equation.3">
                  <p:embed/>
                  <p:pic>
                    <p:nvPicPr>
                      <p:cNvPr id="1505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581525"/>
                        <a:ext cx="1081088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3059113" y="4149725"/>
          <a:ext cx="20161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058" imgH="215806" progId="Equation.3">
                  <p:embed/>
                </p:oleObj>
              </mc:Choice>
              <mc:Fallback>
                <p:oleObj name="Equation" r:id="rId8" imgW="787058" imgH="215806" progId="Equation.3">
                  <p:embed/>
                  <p:pic>
                    <p:nvPicPr>
                      <p:cNvPr id="150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149725"/>
                        <a:ext cx="201612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4165600" y="4508500"/>
          <a:ext cx="13017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08" imgH="469696" progId="Equation.3">
                  <p:embed/>
                </p:oleObj>
              </mc:Choice>
              <mc:Fallback>
                <p:oleObj name="Equation" r:id="rId10" imgW="672808" imgH="469696" progId="Equation.3">
                  <p:embed/>
                  <p:pic>
                    <p:nvPicPr>
                      <p:cNvPr id="15054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508500"/>
                        <a:ext cx="13017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Object 15"/>
          <p:cNvGraphicFramePr>
            <a:graphicFrameLocks noChangeAspect="1"/>
          </p:cNvGraphicFramePr>
          <p:nvPr/>
        </p:nvGraphicFramePr>
        <p:xfrm>
          <a:off x="2087563" y="5445125"/>
          <a:ext cx="10096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9" imgH="431613" progId="Equation.3">
                  <p:embed/>
                </p:oleObj>
              </mc:Choice>
              <mc:Fallback>
                <p:oleObj name="Equation" r:id="rId12" imgW="533169" imgH="431613" progId="Equation.3">
                  <p:embed/>
                  <p:pic>
                    <p:nvPicPr>
                      <p:cNvPr id="1505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445125"/>
                        <a:ext cx="100965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4" name="Object 16"/>
          <p:cNvGraphicFramePr>
            <a:graphicFrameLocks noChangeAspect="1"/>
          </p:cNvGraphicFramePr>
          <p:nvPr/>
        </p:nvGraphicFramePr>
        <p:xfrm>
          <a:off x="4932363" y="5300663"/>
          <a:ext cx="21859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29810" imgH="469696" progId="Equation.3">
                  <p:embed/>
                </p:oleObj>
              </mc:Choice>
              <mc:Fallback>
                <p:oleObj name="Equation" r:id="rId14" imgW="1129810" imgH="469696" progId="Equation.3">
                  <p:embed/>
                  <p:pic>
                    <p:nvPicPr>
                      <p:cNvPr id="1505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5300663"/>
                        <a:ext cx="21859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CAF1C8-D674-446F-8A3F-E0E911119C8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68413"/>
            <a:ext cx="8062913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/>
              <a:t>Note: Firm 1 does not take into account the cost of </a:t>
            </a:r>
            <a:r>
              <a:rPr lang="en-US" altLang="en-US" sz="2400" i="1"/>
              <a:t>K </a:t>
            </a:r>
            <a:r>
              <a:rPr lang="en-US" altLang="en-US" sz="2400"/>
              <a:t>to firm 2. 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Suppose the firms merge (note: this is a </a:t>
            </a:r>
            <a:r>
              <a:rPr lang="en-US" altLang="en-US" sz="2400" err="1"/>
              <a:t>Coasian</a:t>
            </a:r>
            <a:r>
              <a:rPr lang="en-US" altLang="en-US" sz="2400"/>
              <a:t> solution):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Total profits: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 sz="2400"/>
              <a:t>Assuming </a:t>
            </a:r>
            <a:r>
              <a:rPr lang="en-US" altLang="en-US" sz="2400" i="1">
                <a:cs typeface="Times New Roman" panose="02020603050405020304" pitchFamily="18" charset="0"/>
              </a:rPr>
              <a:t>α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1</a:t>
            </a:r>
            <a:r>
              <a:rPr lang="en-US" altLang="en-US" sz="2400" i="1">
                <a:cs typeface="Times New Roman" panose="02020603050405020304" pitchFamily="18" charset="0"/>
              </a:rPr>
              <a:t> &gt; ρ</a:t>
            </a:r>
            <a:r>
              <a:rPr lang="en-US" altLang="en-US" sz="2400">
                <a:cs typeface="Times New Roman" panose="02020603050405020304" pitchFamily="18" charset="0"/>
              </a:rPr>
              <a:t>, we get first-order conditions for </a:t>
            </a:r>
            <a:r>
              <a:rPr lang="en-US" altLang="en-US" sz="2400" i="1">
                <a:cs typeface="Times New Roman" panose="02020603050405020304" pitchFamily="18" charset="0"/>
              </a:rPr>
              <a:t>K</a:t>
            </a:r>
            <a:r>
              <a:rPr lang="en-US" altLang="en-US" sz="2400"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cs typeface="Times New Roman" panose="02020603050405020304" pitchFamily="18" charset="0"/>
              </a:rPr>
              <a:t>L</a:t>
            </a:r>
            <a:r>
              <a:rPr lang="en-US" altLang="en-US" sz="2400"/>
              <a:t>: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 sz="2400"/>
              <a:t>Which gives:		   	   and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graphicFrame>
        <p:nvGraphicFramePr>
          <p:cNvPr id="20173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05268790"/>
              </p:ext>
            </p:extLst>
          </p:nvPr>
        </p:nvGraphicFramePr>
        <p:xfrm>
          <a:off x="2738623" y="2502317"/>
          <a:ext cx="568801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900" imgH="393700" progId="Equation.3">
                  <p:embed/>
                </p:oleObj>
              </mc:Choice>
              <mc:Fallback>
                <p:oleObj name="Equation" r:id="rId2" imgW="2501900" imgH="393700" progId="Equation.3">
                  <p:embed/>
                  <p:pic>
                    <p:nvPicPr>
                      <p:cNvPr id="201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623" y="2502317"/>
                        <a:ext cx="568801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2484438" y="5373688"/>
          <a:ext cx="174466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753" imgH="431613" progId="Equation.3">
                  <p:embed/>
                </p:oleObj>
              </mc:Choice>
              <mc:Fallback>
                <p:oleObj name="Equation" r:id="rId4" imgW="799753" imgH="431613" progId="Equation.3">
                  <p:embed/>
                  <p:pic>
                    <p:nvPicPr>
                      <p:cNvPr id="2017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373688"/>
                        <a:ext cx="174466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2195513" y="4076700"/>
          <a:ext cx="30956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559" imgH="215806" progId="Equation.3">
                  <p:embed/>
                </p:oleObj>
              </mc:Choice>
              <mc:Fallback>
                <p:oleObj name="Equation" r:id="rId6" imgW="1015559" imgH="215806" progId="Equation.3">
                  <p:embed/>
                  <p:pic>
                    <p:nvPicPr>
                      <p:cNvPr id="2017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76700"/>
                        <a:ext cx="30956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7" name="Object 9"/>
          <p:cNvGraphicFramePr>
            <a:graphicFrameLocks noChangeAspect="1"/>
          </p:cNvGraphicFramePr>
          <p:nvPr/>
        </p:nvGraphicFramePr>
        <p:xfrm>
          <a:off x="5795963" y="5373688"/>
          <a:ext cx="11414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9" imgH="431613" progId="Equation.3">
                  <p:embed/>
                </p:oleObj>
              </mc:Choice>
              <mc:Fallback>
                <p:oleObj name="Equation" r:id="rId8" imgW="533169" imgH="431613" progId="Equation.3">
                  <p:embed/>
                  <p:pic>
                    <p:nvPicPr>
                      <p:cNvPr id="2017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373688"/>
                        <a:ext cx="11414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0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95513" y="4652963"/>
          <a:ext cx="19224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058" imgH="215806" progId="Equation.3">
                  <p:embed/>
                </p:oleObj>
              </mc:Choice>
              <mc:Fallback>
                <p:oleObj name="Equation" r:id="rId10" imgW="787058" imgH="215806" progId="Equation.3">
                  <p:embed/>
                  <p:pic>
                    <p:nvPicPr>
                      <p:cNvPr id="2017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652963"/>
                        <a:ext cx="19224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7A025F-8CF6-4FE5-9134-68173AA0446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4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68413"/>
            <a:ext cx="8062913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/>
              <a:t>Hence, after the merger, the cost of </a:t>
            </a:r>
            <a:r>
              <a:rPr lang="en-US" altLang="en-US" sz="2400" i="1" dirty="0"/>
              <a:t>K</a:t>
            </a:r>
            <a:r>
              <a:rPr lang="en-US" altLang="en-US" sz="2400" dirty="0"/>
              <a:t> to (former) firm 2 is taken into account: externality is </a:t>
            </a:r>
            <a:r>
              <a:rPr lang="en-US" altLang="en-US" sz="2400" dirty="0" err="1"/>
              <a:t>internalised</a:t>
            </a:r>
            <a:endParaRPr lang="en-US" altLang="en-US" sz="2400" dirty="0"/>
          </a:p>
          <a:p>
            <a:pPr eaLnBrk="1" hangingPunct="1">
              <a:buFontTx/>
              <a:buNone/>
            </a:pPr>
            <a:r>
              <a:rPr lang="en-US" altLang="en-US" sz="1000" dirty="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2400" dirty="0"/>
              <a:t> Does this yield more profit? Yes!</a:t>
            </a:r>
          </a:p>
          <a:p>
            <a:pPr eaLnBrk="1" hangingPunct="1">
              <a:buFontTx/>
              <a:buNone/>
            </a:pPr>
            <a:endParaRPr lang="en-US" altLang="en-US" sz="1000" dirty="0"/>
          </a:p>
          <a:p>
            <a:pPr eaLnBrk="1" hangingPunct="1">
              <a:buFontTx/>
              <a:buNone/>
            </a:pPr>
            <a:r>
              <a:rPr lang="en-US" altLang="en-US" sz="2400" dirty="0"/>
              <a:t>Total profit before merger: 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  <a:p>
            <a:pPr eaLnBrk="1" hangingPunct="1">
              <a:buFontTx/>
              <a:buNone/>
            </a:pPr>
            <a:r>
              <a:rPr lang="en-US" altLang="en-US" sz="2400" dirty="0"/>
              <a:t>Total profit after merger: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sz="2400" dirty="0"/>
              <a:t>As		   			      ,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  <a:p>
            <a:pPr eaLnBrk="1" hangingPunct="1">
              <a:buFontTx/>
              <a:buNone/>
            </a:pPr>
            <a:r>
              <a:rPr lang="en-US" altLang="en-US" sz="2400" dirty="0"/>
              <a:t>Profits are higher after the merger!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400" dirty="0"/>
              <a:t>Merger </a:t>
            </a:r>
            <a:r>
              <a:rPr lang="en-US" altLang="en-US" sz="2400" dirty="0" err="1"/>
              <a:t>maximises</a:t>
            </a:r>
            <a:r>
              <a:rPr lang="en-US" altLang="en-US" sz="2400" dirty="0"/>
              <a:t> total profits (and, hence, efficiency).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</p:txBody>
      </p:sp>
      <p:graphicFrame>
        <p:nvGraphicFramePr>
          <p:cNvPr id="202762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00563" y="2636838"/>
          <a:ext cx="388778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469900" progId="Equation.3">
                  <p:embed/>
                </p:oleObj>
              </mc:Choice>
              <mc:Fallback>
                <p:oleObj name="Equation" r:id="rId2" imgW="1879600" imgH="469900" progId="Equation.3">
                  <p:embed/>
                  <p:pic>
                    <p:nvPicPr>
                      <p:cNvPr id="2027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636838"/>
                        <a:ext cx="3887787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4" name="Object 12"/>
          <p:cNvGraphicFramePr>
            <a:graphicFrameLocks noChangeAspect="1"/>
          </p:cNvGraphicFramePr>
          <p:nvPr/>
        </p:nvGraphicFramePr>
        <p:xfrm>
          <a:off x="4500563" y="3644900"/>
          <a:ext cx="341471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1000" imgH="469900" progId="Equation.3">
                  <p:embed/>
                </p:oleObj>
              </mc:Choice>
              <mc:Fallback>
                <p:oleObj name="Equation" r:id="rId4" imgW="1651000" imgH="469900" progId="Equation.3">
                  <p:embed/>
                  <p:pic>
                    <p:nvPicPr>
                      <p:cNvPr id="2027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644900"/>
                        <a:ext cx="3414712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5" name="Object 13"/>
          <p:cNvGraphicFramePr>
            <a:graphicFrameLocks noChangeAspect="1"/>
          </p:cNvGraphicFramePr>
          <p:nvPr/>
        </p:nvGraphicFramePr>
        <p:xfrm>
          <a:off x="1403350" y="4652963"/>
          <a:ext cx="34147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1000" imgH="469900" progId="Equation.3">
                  <p:embed/>
                </p:oleObj>
              </mc:Choice>
              <mc:Fallback>
                <p:oleObj name="Equation" r:id="rId6" imgW="1651000" imgH="469900" progId="Equation.3">
                  <p:embed/>
                  <p:pic>
                    <p:nvPicPr>
                      <p:cNvPr id="2027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652963"/>
                        <a:ext cx="34147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5009F2-E947-4045-B5BB-A602437420C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7921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268413"/>
            <a:ext cx="8062912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Also possible with e.g. Pigouvian tax on </a:t>
            </a:r>
            <a:r>
              <a:rPr lang="en-US" altLang="en-US" sz="2400" i="1" dirty="0"/>
              <a:t>K</a:t>
            </a:r>
            <a:r>
              <a:rPr lang="en-US" altLang="en-US" sz="2400" dirty="0"/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Marginal external cost (before merger) = </a:t>
            </a:r>
            <a:r>
              <a:rPr lang="en-US" altLang="en-US" sz="2400" i="1" dirty="0">
                <a:cs typeface="Times New Roman" panose="02020603050405020304" pitchFamily="18" charset="0"/>
              </a:rPr>
              <a:t>ρ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(here: at every level of K. Generally, look at marginal external cost at socially efficient equilibrium!)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Hence, a unit tax </a:t>
            </a:r>
            <a:r>
              <a:rPr lang="en-US" altLang="en-US" sz="2400" i="1" dirty="0">
                <a:cs typeface="Times New Roman" panose="02020603050405020304" pitchFamily="18" charset="0"/>
              </a:rPr>
              <a:t>ρ</a:t>
            </a:r>
            <a:r>
              <a:rPr lang="en-US" altLang="en-US" sz="2400" dirty="0">
                <a:cs typeface="Times New Roman" panose="02020603050405020304" pitchFamily="18" charset="0"/>
              </a:rPr>
              <a:t> on </a:t>
            </a:r>
            <a:r>
              <a:rPr lang="en-US" altLang="en-US" sz="2400" i="1" dirty="0"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cs typeface="Times New Roman" panose="02020603050405020304" pitchFamily="18" charset="0"/>
              </a:rPr>
              <a:t> also gives the social efficient outcome: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Now, profit firm 1:  </a:t>
            </a:r>
            <a:endParaRPr lang="en-US" altLang="en-US" sz="2400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Implying that firm 1 chooses</a:t>
            </a:r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4716463" y="4454525"/>
          <a:ext cx="174466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431613" progId="Equation.3">
                  <p:embed/>
                </p:oleObj>
              </mc:Choice>
              <mc:Fallback>
                <p:oleObj name="Equation" r:id="rId2" imgW="799753" imgH="431613" progId="Equation.3">
                  <p:embed/>
                  <p:pic>
                    <p:nvPicPr>
                      <p:cNvPr id="203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454525"/>
                        <a:ext cx="174466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7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824288" y="3573463"/>
          <a:ext cx="32400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00" imgH="393700" progId="Equation.3">
                  <p:embed/>
                </p:oleObj>
              </mc:Choice>
              <mc:Fallback>
                <p:oleObj name="Equation" r:id="rId4" imgW="1485900" imgH="393700" progId="Equation.3">
                  <p:embed/>
                  <p:pic>
                    <p:nvPicPr>
                      <p:cNvPr id="2037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3573463"/>
                        <a:ext cx="32400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E844BF-AA9B-4B98-9549-6C10FFCFD16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Concluding remarks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marL="266700" indent="-177800" eaLnBrk="1" hangingPunct="1">
              <a:lnSpc>
                <a:spcPct val="80000"/>
              </a:lnSpc>
              <a:buFontTx/>
              <a:buNone/>
            </a:pPr>
            <a:r>
              <a:rPr lang="en-US" altLang="en-US" sz="2400"/>
              <a:t>Externalities arise when consumption or production has direct effect on utility of others</a:t>
            </a:r>
          </a:p>
          <a:p>
            <a:pPr marL="266700" indent="-1778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r>
              <a:rPr lang="en-US" altLang="en-US" sz="2400">
                <a:sym typeface="Wingdings" panose="05000000000000000000" pitchFamily="2" charset="2"/>
              </a:rPr>
              <a:t> Outside the market mechanism </a:t>
            </a:r>
          </a:p>
          <a:p>
            <a:pPr marL="266700" indent="-1778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endParaRPr lang="en-US" altLang="en-US" sz="1800"/>
          </a:p>
          <a:p>
            <a:pPr marL="266700" indent="-1778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Result: From a (social) efficiency perspective,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Too much consumption / production with neg. externality 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Too little consumption / production with pos. externality</a:t>
            </a:r>
          </a:p>
          <a:p>
            <a:pPr marL="266700" indent="-177800" eaLnBrk="1" hangingPunct="1">
              <a:lnSpc>
                <a:spcPct val="80000"/>
              </a:lnSpc>
              <a:buFontTx/>
              <a:buNone/>
            </a:pPr>
            <a:endParaRPr lang="en-US" altLang="en-US" sz="1600"/>
          </a:p>
          <a:p>
            <a:pPr marL="266700" indent="-177800" eaLnBrk="1" hangingPunct="1">
              <a:lnSpc>
                <a:spcPct val="80000"/>
              </a:lnSpc>
              <a:buFontTx/>
              <a:buNone/>
            </a:pPr>
            <a:r>
              <a:rPr lang="en-US" altLang="en-US" sz="2400"/>
              <a:t>How to improve: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Private bargaining (Coase Theorem)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Merging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Pigouvian tax or subsidy</a:t>
            </a:r>
          </a:p>
          <a:p>
            <a:pPr marL="266700" indent="-177800" eaLnBrk="1" hangingPunct="1">
              <a:lnSpc>
                <a:spcPct val="80000"/>
              </a:lnSpc>
            </a:pPr>
            <a:r>
              <a:rPr lang="en-US" altLang="en-US" sz="2400"/>
              <a:t>Regulate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C1EE4B-9BCD-47E6-A73A-740E2885EA9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40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en-US" sz="3600"/>
              <a:t>Looking ahead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208963" cy="4683125"/>
          </a:xfrm>
        </p:spPr>
        <p:txBody>
          <a:bodyPr/>
          <a:lstStyle/>
          <a:p>
            <a:pPr marL="533400" indent="-44450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Next lecture:</a:t>
            </a:r>
          </a:p>
          <a:p>
            <a:pPr marL="533400" indent="-444500" eaLnBrk="1" hangingPunct="1">
              <a:lnSpc>
                <a:spcPct val="80000"/>
              </a:lnSpc>
            </a:pPr>
            <a:r>
              <a:rPr lang="en-US" altLang="en-US" sz="2400" dirty="0"/>
              <a:t>Apply theory to education and ‘common pool problem’ 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r>
              <a:rPr lang="en-US" altLang="en-US" sz="2400" dirty="0">
                <a:sym typeface="Wingdings" panose="05000000000000000000" pitchFamily="2" charset="2"/>
              </a:rPr>
              <a:t>Your tuition fee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r>
              <a:rPr lang="en-US" altLang="en-US" sz="2400" dirty="0"/>
              <a:t>Global warming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r>
              <a:rPr lang="en-US" altLang="en-US" sz="2400" dirty="0"/>
              <a:t>‘Tragedy of the commons’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endParaRPr lang="en-US" altLang="en-US" sz="1000" dirty="0"/>
          </a:p>
          <a:p>
            <a:pPr marL="88900" indent="0" eaLnBrk="1" hangingPunct="1">
              <a:lnSpc>
                <a:spcPct val="80000"/>
              </a:lnSpc>
              <a:buNone/>
            </a:pPr>
            <a:endParaRPr lang="en-US" altLang="en-US" sz="2400" dirty="0"/>
          </a:p>
          <a:p>
            <a:pPr marL="533400" indent="-44450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/>
              <a:t>Next week: Asymmetric information </a:t>
            </a:r>
          </a:p>
          <a:p>
            <a:pPr marL="533400" indent="-444500" eaLnBrk="1" hangingPunct="1">
              <a:lnSpc>
                <a:spcPct val="80000"/>
              </a:lnSpc>
            </a:pPr>
            <a:r>
              <a:rPr lang="en-US" altLang="en-US" sz="2400" dirty="0"/>
              <a:t>Market failure in case of private information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r>
              <a:rPr lang="en-US" altLang="en-US" sz="2400" dirty="0">
                <a:sym typeface="Wingdings" panose="05000000000000000000" pitchFamily="2" charset="2"/>
              </a:rPr>
              <a:t>Adverse selection and moral hazard</a:t>
            </a:r>
          </a:p>
          <a:p>
            <a:pPr marL="533400" indent="-444500" eaLnBrk="1" hangingPunct="1">
              <a:lnSpc>
                <a:spcPct val="80000"/>
              </a:lnSpc>
              <a:buFont typeface="Wingdings" panose="05000000000000000000" pitchFamily="2" charset="2"/>
              <a:buChar char="à"/>
            </a:pPr>
            <a:endParaRPr lang="en-US" altLang="en-US" sz="1000" dirty="0">
              <a:sym typeface="Wingdings" panose="05000000000000000000" pitchFamily="2" charset="2"/>
            </a:endParaRPr>
          </a:p>
          <a:p>
            <a:pPr marL="533400" indent="-444500" eaLnBrk="1" hangingPunct="1">
              <a:lnSpc>
                <a:spcPct val="80000"/>
              </a:lnSpc>
            </a:pPr>
            <a:r>
              <a:rPr lang="en-US" altLang="en-US" sz="2400" dirty="0"/>
              <a:t>Application to (health) insurance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–"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–"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Slide master">
  <a:themeElements>
    <a:clrScheme name="Slide mas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lide master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Char char="§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Char char="§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6" charset="-128"/>
          </a:defRPr>
        </a:defPPr>
      </a:lstStyle>
    </a:lnDef>
  </a:objectDefaults>
  <a:extraClrSchemeLst>
    <a:extraClrScheme>
      <a:clrScheme name="Slide 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 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 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 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 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 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 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2803</Words>
  <Application>Microsoft Office PowerPoint</Application>
  <PresentationFormat>Diavoorstelling (4:3)</PresentationFormat>
  <Paragraphs>531</Paragraphs>
  <Slides>39</Slides>
  <Notes>11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39</vt:i4>
      </vt:variant>
    </vt:vector>
  </HeadingPairs>
  <TitlesOfParts>
    <vt:vector size="48" baseType="lpstr">
      <vt:lpstr>ＭＳ Ｐゴシック</vt:lpstr>
      <vt:lpstr>Arial</vt:lpstr>
      <vt:lpstr>Arial Black</vt:lpstr>
      <vt:lpstr>Cambria Math</vt:lpstr>
      <vt:lpstr>Times New Roman</vt:lpstr>
      <vt:lpstr>Wingdings</vt:lpstr>
      <vt:lpstr>Default Design</vt:lpstr>
      <vt:lpstr>3_Slide master</vt:lpstr>
      <vt:lpstr>Equation</vt:lpstr>
      <vt:lpstr>Toegepaste Micro-economie: Public economics</vt:lpstr>
      <vt:lpstr>Last week  </vt:lpstr>
      <vt:lpstr>Roadmap</vt:lpstr>
      <vt:lpstr>PowerPoint-presentatie</vt:lpstr>
      <vt:lpstr>Externalities</vt:lpstr>
      <vt:lpstr>Externalities</vt:lpstr>
      <vt:lpstr>PowerPoint-presentatie</vt:lpstr>
      <vt:lpstr>Externalities</vt:lpstr>
      <vt:lpstr>Market failure: Private and social optimum</vt:lpstr>
      <vt:lpstr>Market failure: Private and social optimum</vt:lpstr>
      <vt:lpstr>Market failure: Private and social optimum</vt:lpstr>
      <vt:lpstr>Market failure: Private and social optimum</vt:lpstr>
      <vt:lpstr>Market failure: Private and social optimum</vt:lpstr>
      <vt:lpstr>Market failure: Private and social optimum</vt:lpstr>
      <vt:lpstr>Market failure: Private and social optimum</vt:lpstr>
      <vt:lpstr>Market failure: Private and social optimum</vt:lpstr>
      <vt:lpstr>Coase Theorem</vt:lpstr>
      <vt:lpstr>Coase Theorem</vt:lpstr>
      <vt:lpstr>Coase Theorem</vt:lpstr>
      <vt:lpstr>Coase Theorem</vt:lpstr>
      <vt:lpstr>Coase Theorem</vt:lpstr>
      <vt:lpstr>Coase Theorem</vt:lpstr>
      <vt:lpstr>Coase Theorem: distribution</vt:lpstr>
      <vt:lpstr>Coase Theorem</vt:lpstr>
      <vt:lpstr>Overcoming market failure</vt:lpstr>
      <vt:lpstr>Pigouvian tax</vt:lpstr>
      <vt:lpstr>Pigouvian tax</vt:lpstr>
      <vt:lpstr>Pigouvian tax</vt:lpstr>
      <vt:lpstr>Pigouvian Subsidy</vt:lpstr>
      <vt:lpstr>Pigouvian taxes and subsidies</vt:lpstr>
      <vt:lpstr>Pigouvian taxes and subsidies</vt:lpstr>
      <vt:lpstr>Regulation</vt:lpstr>
      <vt:lpstr>Cap and Trade</vt:lpstr>
      <vt:lpstr>Example</vt:lpstr>
      <vt:lpstr>Example</vt:lpstr>
      <vt:lpstr>Example</vt:lpstr>
      <vt:lpstr>Example</vt:lpstr>
      <vt:lpstr>Concluding remarks</vt:lpstr>
      <vt:lpstr>Looking ahead</vt:lpstr>
    </vt:vector>
  </TitlesOfParts>
  <Company>FEW/EUR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Externalities</dc:title>
  <dc:creator>J. Delfgaauw</dc:creator>
  <cp:lastModifiedBy>Josse Delfgaauw</cp:lastModifiedBy>
  <cp:revision>1</cp:revision>
  <dcterms:created xsi:type="dcterms:W3CDTF">2004-01-22T16:18:21Z</dcterms:created>
  <dcterms:modified xsi:type="dcterms:W3CDTF">2026-09-03T15:09:22Z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2023-09-12T13:34:08Z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a5755b38-c0f4-4a9a-8f25-e0daf0a3c144</vt:lpwstr>
  </property>
  <property fmtid="{D5CDD505-2E9C-101B-9397-08002B2CF9AE}" pid="8" name="MSIP_Label_8772ba27-cab8-4042-a351-a31f6e4eacdc_ContentBits">
    <vt:lpwstr>0</vt:lpwstr>
  </property>
</Properties>
</file>